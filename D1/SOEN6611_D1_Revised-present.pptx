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5" roundtripDataSignature="AMtx7mgzdZ4QIM/CjV85qXSpQY3QIEhsw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5"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h22e45196e2026eb1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33" name="Google Shape;33;h22e45196e2026eb1_0_0: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 name="Google Shape;34;h22e45196e2026eb1_0_0: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 name="Google Shape;39;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0" name="Google Shape;40;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 name="Google Shape;65;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66" name="Google Shape;66;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 name="Google Shape;88;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89" name="Google Shape;89;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 name="Google Shape;111;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12" name="Google Shape;112;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7" name="Google Shape;137;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38" name="Google Shape;138;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1" name="Google Shape;181;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82" name="Google Shape;182;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5" name="Google Shape;225;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26" name="Google Shape;226;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6" name="Google Shape;256;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57" name="Google Shape;257;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5" name="Google Shape;315;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16" name="Google Shape;316;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4" name="Google Shape;344;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45" name="Google Shape;345;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1" name="Google Shape;371;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72" name="Google Shape;372;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8" name="Google Shape;398;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99" name="Google Shape;399;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6" name="Google Shape;446;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47" name="Google Shape;447;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0" name="Google Shape;490;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91" name="Google Shape;491;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0" name="Google Shape;510;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511" name="Google Shape;511;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1" name="Google Shape;531;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532" name="Google Shape;532;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2" name="Google Shape;552;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553" name="Google Shape;553;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3" name="Google Shape;573;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574" name="Google Shape;574;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h22e45196e2026eb1_0_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592" name="Google Shape;592;h22e45196e2026eb1_0_14: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3" name="Google Shape;593;h22e45196e2026eb1_0_14: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3"/>
          <p:cNvSpPr/>
          <p:nvPr/>
        </p:nvSpPr>
        <p:spPr>
          <a:xfrm>
            <a:off x="5791200" y="2209800"/>
            <a:ext cx="609600" cy="38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3"/>
          <p:cNvSpPr txBox="1"/>
          <p:nvPr>
            <p:ph type="title"/>
          </p:nvPr>
        </p:nvSpPr>
        <p:spPr>
          <a:xfrm>
            <a:off x="1219200" y="2590800"/>
            <a:ext cx="9753600" cy="990600"/>
          </a:xfrm>
          <a:prstGeom prst="rect">
            <a:avLst/>
          </a:prstGeom>
          <a:noFill/>
          <a:ln>
            <a:noFill/>
          </a:ln>
        </p:spPr>
        <p:txBody>
          <a:bodyPr anchorCtr="0" anchor="ctr"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
        <p:nvSpPr>
          <p:cNvPr id="14" name="Google Shape;14;p23"/>
          <p:cNvSpPr txBox="1"/>
          <p:nvPr>
            <p:ph idx="1" type="subTitle"/>
          </p:nvPr>
        </p:nvSpPr>
        <p:spPr>
          <a:xfrm>
            <a:off x="1828800" y="3771900"/>
            <a:ext cx="8534400" cy="762000"/>
          </a:xfrm>
          <a:prstGeom prst="rect">
            <a:avLst/>
          </a:prstGeom>
          <a:noFill/>
          <a:ln>
            <a:noFill/>
          </a:ln>
        </p:spPr>
        <p:txBody>
          <a:bodyPr anchorCtr="0" anchor="ctr" bIns="0" lIns="0" spcFirstLastPara="1" rIns="0" wrap="square" tIns="0">
            <a:normAutofit/>
          </a:bodyPr>
          <a:lstStyle>
            <a:lvl1pPr lvl="0" marR="0" rtl="0" algn="l">
              <a:lnSpc>
                <a:spcPct val="11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1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lvl="2" marR="0" rtl="0" algn="l">
              <a:lnSpc>
                <a:spcPct val="110000"/>
              </a:lnSpc>
              <a:spcBef>
                <a:spcPts val="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lvl="3"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15" name="Shape 15"/>
        <p:cNvGrpSpPr/>
        <p:nvPr/>
      </p:nvGrpSpPr>
      <p:grpSpPr>
        <a:xfrm>
          <a:off x="0" y="0"/>
          <a:ext cx="0" cy="0"/>
          <a:chOff x="0" y="0"/>
          <a:chExt cx="0" cy="0"/>
        </a:xfrm>
      </p:grpSpPr>
      <p:sp>
        <p:nvSpPr>
          <p:cNvPr id="16" name="Google Shape;16;p24"/>
          <p:cNvSpPr/>
          <p:nvPr/>
        </p:nvSpPr>
        <p:spPr>
          <a:xfrm>
            <a:off x="5791200" y="2476500"/>
            <a:ext cx="609600" cy="38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4"/>
          <p:cNvSpPr txBox="1"/>
          <p:nvPr>
            <p:ph type="title"/>
          </p:nvPr>
        </p:nvSpPr>
        <p:spPr>
          <a:xfrm>
            <a:off x="1219200" y="2857500"/>
            <a:ext cx="9753600" cy="1143000"/>
          </a:xfrm>
          <a:prstGeom prst="rect">
            <a:avLst/>
          </a:prstGeom>
          <a:noFill/>
          <a:ln>
            <a:noFill/>
          </a:ln>
        </p:spPr>
        <p:txBody>
          <a:bodyPr anchorCtr="0" anchor="ctr"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18" name="Shape 18"/>
        <p:cNvGrpSpPr/>
        <p:nvPr/>
      </p:nvGrpSpPr>
      <p:grpSpPr>
        <a:xfrm>
          <a:off x="0" y="0"/>
          <a:ext cx="0" cy="0"/>
          <a:chOff x="0" y="0"/>
          <a:chExt cx="0" cy="0"/>
        </a:xfrm>
      </p:grpSpPr>
      <p:sp>
        <p:nvSpPr>
          <p:cNvPr id="19" name="Google Shape;19;p25"/>
          <p:cNvSpPr/>
          <p:nvPr/>
        </p:nvSpPr>
        <p:spPr>
          <a:xfrm>
            <a:off x="685800" y="1524000"/>
            <a:ext cx="609600" cy="38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5"/>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
        <p:nvSpPr>
          <p:cNvPr id="21" name="Google Shape;21;p25"/>
          <p:cNvSpPr txBox="1"/>
          <p:nvPr>
            <p:ph idx="1" type="body"/>
          </p:nvPr>
        </p:nvSpPr>
        <p:spPr>
          <a:xfrm>
            <a:off x="685800" y="1905000"/>
            <a:ext cx="10820400" cy="4267200"/>
          </a:xfrm>
          <a:prstGeom prst="rect">
            <a:avLst/>
          </a:prstGeom>
          <a:noFill/>
          <a:ln>
            <a:noFill/>
          </a:ln>
        </p:spPr>
        <p:txBody>
          <a:bodyPr anchorCtr="0" anchor="t" bIns="0" lIns="0" spcFirstLastPara="1" rIns="0" wrap="square" tIns="0">
            <a:normAutofit/>
          </a:bodyPr>
          <a:lstStyle>
            <a:lvl1pPr indent="-406400" lvl="0" marL="457200" marR="0" rtl="0" algn="l">
              <a:lnSpc>
                <a:spcPct val="11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110000"/>
              </a:lnSpc>
              <a:spcBef>
                <a:spcPts val="12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110000"/>
              </a:lnSpc>
              <a:spcBef>
                <a:spcPts val="12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110000"/>
              </a:lnSpc>
              <a:spcBef>
                <a:spcPts val="1200"/>
              </a:spcBef>
              <a:spcAft>
                <a:spcPts val="120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
  <p:cSld name="Title and Two Column">
    <p:spTree>
      <p:nvGrpSpPr>
        <p:cNvPr id="22" name="Shape 22"/>
        <p:cNvGrpSpPr/>
        <p:nvPr/>
      </p:nvGrpSpPr>
      <p:grpSpPr>
        <a:xfrm>
          <a:off x="0" y="0"/>
          <a:ext cx="0" cy="0"/>
          <a:chOff x="0" y="0"/>
          <a:chExt cx="0" cy="0"/>
        </a:xfrm>
      </p:grpSpPr>
      <p:sp>
        <p:nvSpPr>
          <p:cNvPr id="23" name="Google Shape;23;p26"/>
          <p:cNvSpPr/>
          <p:nvPr/>
        </p:nvSpPr>
        <p:spPr>
          <a:xfrm>
            <a:off x="685800" y="1524000"/>
            <a:ext cx="609600" cy="38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6"/>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
        <p:nvSpPr>
          <p:cNvPr id="25" name="Google Shape;25;p26"/>
          <p:cNvSpPr txBox="1"/>
          <p:nvPr>
            <p:ph idx="1" type="body"/>
          </p:nvPr>
        </p:nvSpPr>
        <p:spPr>
          <a:xfrm>
            <a:off x="685800" y="1905000"/>
            <a:ext cx="5029200" cy="4267200"/>
          </a:xfrm>
          <a:prstGeom prst="rect">
            <a:avLst/>
          </a:prstGeom>
          <a:noFill/>
          <a:ln>
            <a:noFill/>
          </a:ln>
        </p:spPr>
        <p:txBody>
          <a:bodyPr anchorCtr="0" anchor="t" bIns="0" lIns="0" spcFirstLastPara="1" rIns="0" wrap="square" tIns="0">
            <a:normAutofit/>
          </a:bodyPr>
          <a:lstStyle>
            <a:lvl1pPr indent="-406400" lvl="0" marL="457200" marR="0" rtl="0" algn="l">
              <a:lnSpc>
                <a:spcPct val="11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110000"/>
              </a:lnSpc>
              <a:spcBef>
                <a:spcPts val="12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110000"/>
              </a:lnSpc>
              <a:spcBef>
                <a:spcPts val="12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110000"/>
              </a:lnSpc>
              <a:spcBef>
                <a:spcPts val="1200"/>
              </a:spcBef>
              <a:spcAft>
                <a:spcPts val="120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6" name="Google Shape;26;p26"/>
          <p:cNvSpPr txBox="1"/>
          <p:nvPr>
            <p:ph idx="2" type="body"/>
          </p:nvPr>
        </p:nvSpPr>
        <p:spPr>
          <a:xfrm>
            <a:off x="6477000" y="1905000"/>
            <a:ext cx="5029200" cy="4267200"/>
          </a:xfrm>
          <a:prstGeom prst="rect">
            <a:avLst/>
          </a:prstGeom>
          <a:noFill/>
          <a:ln>
            <a:noFill/>
          </a:ln>
        </p:spPr>
        <p:txBody>
          <a:bodyPr anchorCtr="0" anchor="t" bIns="0" lIns="0" spcFirstLastPara="1" rIns="0" wrap="square" tIns="0">
            <a:normAutofit/>
          </a:bodyPr>
          <a:lstStyle>
            <a:lvl1pPr indent="-406400" lvl="0" marL="457200" marR="0" rtl="0" algn="l">
              <a:lnSpc>
                <a:spcPct val="11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110000"/>
              </a:lnSpc>
              <a:spcBef>
                <a:spcPts val="12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110000"/>
              </a:lnSpc>
              <a:spcBef>
                <a:spcPts val="12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110000"/>
              </a:lnSpc>
              <a:spcBef>
                <a:spcPts val="1200"/>
              </a:spcBef>
              <a:spcAft>
                <a:spcPts val="120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One Column">
  <p:cSld name="Title and One Column">
    <p:spTree>
      <p:nvGrpSpPr>
        <p:cNvPr id="27" name="Shape 27"/>
        <p:cNvGrpSpPr/>
        <p:nvPr/>
      </p:nvGrpSpPr>
      <p:grpSpPr>
        <a:xfrm>
          <a:off x="0" y="0"/>
          <a:ext cx="0" cy="0"/>
          <a:chOff x="0" y="0"/>
          <a:chExt cx="0" cy="0"/>
        </a:xfrm>
      </p:grpSpPr>
      <p:sp>
        <p:nvSpPr>
          <p:cNvPr id="28" name="Google Shape;28;p27"/>
          <p:cNvSpPr/>
          <p:nvPr/>
        </p:nvSpPr>
        <p:spPr>
          <a:xfrm>
            <a:off x="685800" y="1524000"/>
            <a:ext cx="609600" cy="38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7"/>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
        <p:nvSpPr>
          <p:cNvPr id="30" name="Google Shape;30;p27"/>
          <p:cNvSpPr txBox="1"/>
          <p:nvPr>
            <p:ph idx="1" type="body"/>
          </p:nvPr>
        </p:nvSpPr>
        <p:spPr>
          <a:xfrm>
            <a:off x="685800" y="1905000"/>
            <a:ext cx="5029200" cy="4267200"/>
          </a:xfrm>
          <a:prstGeom prst="rect">
            <a:avLst/>
          </a:prstGeom>
          <a:noFill/>
          <a:ln>
            <a:noFill/>
          </a:ln>
        </p:spPr>
        <p:txBody>
          <a:bodyPr anchorCtr="0" anchor="t" bIns="0" lIns="0" spcFirstLastPara="1" rIns="0" wrap="square" tIns="0">
            <a:normAutofit/>
          </a:bodyPr>
          <a:lstStyle>
            <a:lvl1pPr indent="-406400" lvl="0" marL="457200" marR="0" rtl="0" algn="l">
              <a:lnSpc>
                <a:spcPct val="11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110000"/>
              </a:lnSpc>
              <a:spcBef>
                <a:spcPts val="12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110000"/>
              </a:lnSpc>
              <a:spcBef>
                <a:spcPts val="12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110000"/>
              </a:lnSpc>
              <a:spcBef>
                <a:spcPts val="1200"/>
              </a:spcBef>
              <a:spcAft>
                <a:spcPts val="120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 name="Shape 35"/>
        <p:cNvGrpSpPr/>
        <p:nvPr/>
      </p:nvGrpSpPr>
      <p:grpSpPr>
        <a:xfrm>
          <a:off x="0" y="0"/>
          <a:ext cx="0" cy="0"/>
          <a:chOff x="0" y="0"/>
          <a:chExt cx="0" cy="0"/>
        </a:xfrm>
      </p:grpSpPr>
      <p:pic>
        <p:nvPicPr>
          <p:cNvPr descr="Beautify this slide" id="36" name="Google Shape;36;h22e45196e2026eb1_0_0"/>
          <p:cNvPicPr preferRelativeResize="0"/>
          <p:nvPr/>
        </p:nvPicPr>
        <p:blipFill>
          <a:blip r:embed="rId3">
            <a:alphaModFix/>
          </a:blip>
          <a:stretch>
            <a:fillRect/>
          </a:stretch>
        </p:blipFill>
        <p:spPr>
          <a:xfrm>
            <a:off x="-47625" y="0"/>
            <a:ext cx="12287250" cy="685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 name="Shape 41"/>
        <p:cNvGrpSpPr/>
        <p:nvPr/>
      </p:nvGrpSpPr>
      <p:grpSpPr>
        <a:xfrm>
          <a:off x="0" y="0"/>
          <a:ext cx="0" cy="0"/>
          <a:chOff x="0" y="0"/>
          <a:chExt cx="0" cy="0"/>
        </a:xfrm>
      </p:grpSpPr>
      <p:sp>
        <p:nvSpPr>
          <p:cNvPr id="42" name="Google Shape;42;p2"/>
          <p:cNvSpPr/>
          <p:nvPr/>
        </p:nvSpPr>
        <p:spPr>
          <a:xfrm>
            <a:off x="0" y="0"/>
            <a:ext cx="12192000"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0" y="0"/>
            <a:ext cx="12192000" cy="1066800"/>
          </a:xfrm>
          <a:prstGeom prst="rect">
            <a:avLst/>
          </a:prstGeom>
          <a:solidFill>
            <a:srgbClr val="8B12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14350" y="228600"/>
            <a:ext cx="11049000" cy="5905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1" lang="en-US" sz="2550">
                <a:solidFill>
                  <a:srgbClr val="FFFFFF"/>
                </a:solidFill>
                <a:latin typeface="Arial"/>
                <a:ea typeface="Arial"/>
                <a:cs typeface="Arial"/>
                <a:sym typeface="Arial"/>
              </a:rPr>
              <a:t>D1 scope and requirement map</a:t>
            </a:r>
            <a:endParaRPr/>
          </a:p>
        </p:txBody>
      </p:sp>
      <p:sp>
        <p:nvSpPr>
          <p:cNvPr id="45" name="Google Shape;45;p2"/>
          <p:cNvSpPr/>
          <p:nvPr/>
        </p:nvSpPr>
        <p:spPr>
          <a:xfrm>
            <a:off x="0" y="6629400"/>
            <a:ext cx="12192000" cy="228600"/>
          </a:xfrm>
          <a:prstGeom prst="rect">
            <a:avLst/>
          </a:prstGeom>
          <a:solidFill>
            <a:srgbClr val="6710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419100" y="6638925"/>
            <a:ext cx="8953500" cy="19050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900">
                <a:solidFill>
                  <a:srgbClr val="FFFFFF"/>
                </a:solidFill>
                <a:latin typeface="Arial"/>
                <a:ea typeface="Arial"/>
                <a:cs typeface="Arial"/>
                <a:sym typeface="Arial"/>
              </a:rPr>
              <a:t>SOEN 6611 • SECTION D • FALL 2026</a:t>
            </a:r>
            <a:endParaRPr/>
          </a:p>
        </p:txBody>
      </p:sp>
      <p:sp>
        <p:nvSpPr>
          <p:cNvPr id="47" name="Google Shape;47;p2"/>
          <p:cNvSpPr/>
          <p:nvPr/>
        </p:nvSpPr>
        <p:spPr>
          <a:xfrm>
            <a:off x="11334750" y="6638925"/>
            <a:ext cx="457200" cy="190500"/>
          </a:xfrm>
          <a:prstGeom prst="rect">
            <a:avLst/>
          </a:prstGeom>
          <a:noFill/>
          <a:ln>
            <a:noFill/>
          </a:ln>
        </p:spPr>
        <p:txBody>
          <a:bodyPr anchorCtr="0" anchor="ctr" bIns="19050" lIns="19050" spcFirstLastPara="1" rIns="19050" wrap="square" tIns="19050">
            <a:normAutofit/>
          </a:bodyPr>
          <a:lstStyle/>
          <a:p>
            <a:pPr indent="0" lvl="0" marL="0" marR="0" rtl="0" algn="r">
              <a:spcBef>
                <a:spcPts val="0"/>
              </a:spcBef>
              <a:spcAft>
                <a:spcPts val="0"/>
              </a:spcAft>
              <a:buNone/>
            </a:pPr>
            <a:r>
              <a:rPr b="1" lang="en-US" sz="900">
                <a:solidFill>
                  <a:srgbClr val="FFFFFF"/>
                </a:solidFill>
                <a:latin typeface="Arial"/>
                <a:ea typeface="Arial"/>
                <a:cs typeface="Arial"/>
                <a:sym typeface="Arial"/>
              </a:rPr>
              <a:t>02</a:t>
            </a:r>
            <a:endParaRPr/>
          </a:p>
        </p:txBody>
      </p:sp>
      <p:sp>
        <p:nvSpPr>
          <p:cNvPr id="48" name="Google Shape;48;p2"/>
          <p:cNvSpPr/>
          <p:nvPr/>
        </p:nvSpPr>
        <p:spPr>
          <a:xfrm>
            <a:off x="609600" y="1352550"/>
            <a:ext cx="10858500" cy="32385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725">
                <a:solidFill>
                  <a:srgbClr val="19334E"/>
                </a:solidFill>
                <a:latin typeface="Arial"/>
                <a:ea typeface="Arial"/>
                <a:cs typeface="Arial"/>
                <a:sym typeface="Arial"/>
              </a:rPr>
              <a:t>Three required problems</a:t>
            </a:r>
            <a:endParaRPr/>
          </a:p>
        </p:txBody>
      </p:sp>
      <p:sp>
        <p:nvSpPr>
          <p:cNvPr id="49" name="Google Shape;49;p2"/>
          <p:cNvSpPr/>
          <p:nvPr/>
        </p:nvSpPr>
        <p:spPr>
          <a:xfrm>
            <a:off x="571500" y="1847850"/>
            <a:ext cx="3429000" cy="1543050"/>
          </a:xfrm>
          <a:prstGeom prst="rect">
            <a:avLst/>
          </a:prstGeom>
          <a:solidFill>
            <a:srgbClr val="F4F6F8"/>
          </a:solidFill>
          <a:ln cap="flat" cmpd="sng" w="114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714375" y="1952625"/>
            <a:ext cx="3143250" cy="2571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275">
                <a:solidFill>
                  <a:srgbClr val="8B1239"/>
                </a:solidFill>
                <a:latin typeface="Arial"/>
                <a:ea typeface="Arial"/>
                <a:cs typeface="Arial"/>
                <a:sym typeface="Arial"/>
              </a:rPr>
              <a:t>Problem 1 • 20 marks</a:t>
            </a:r>
            <a:endParaRPr/>
          </a:p>
        </p:txBody>
      </p:sp>
      <p:sp>
        <p:nvSpPr>
          <p:cNvPr id="51" name="Google Shape;51;p2"/>
          <p:cNvSpPr/>
          <p:nvPr/>
        </p:nvSpPr>
        <p:spPr>
          <a:xfrm>
            <a:off x="714375" y="2257425"/>
            <a:ext cx="3143250" cy="106680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350">
                <a:solidFill>
                  <a:srgbClr val="202833"/>
                </a:solidFill>
                <a:latin typeface="Arial"/>
                <a:ea typeface="Arial"/>
                <a:cs typeface="Arial"/>
                <a:sym typeface="Arial"/>
              </a:rPr>
              <a:t>Select a 21st-century ABM for Canada, describe it briefly, and list assumptions.</a:t>
            </a:r>
            <a:endParaRPr/>
          </a:p>
        </p:txBody>
      </p:sp>
      <p:sp>
        <p:nvSpPr>
          <p:cNvPr id="52" name="Google Shape;52;p2"/>
          <p:cNvSpPr/>
          <p:nvPr/>
        </p:nvSpPr>
        <p:spPr>
          <a:xfrm>
            <a:off x="4381500" y="1847850"/>
            <a:ext cx="3429000" cy="1543050"/>
          </a:xfrm>
          <a:prstGeom prst="rect">
            <a:avLst/>
          </a:prstGeom>
          <a:solidFill>
            <a:srgbClr val="F4F6F8"/>
          </a:solidFill>
          <a:ln cap="flat" cmpd="sng" w="114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a:off x="4524375" y="1952625"/>
            <a:ext cx="3143250" cy="2571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275">
                <a:solidFill>
                  <a:srgbClr val="8B1239"/>
                </a:solidFill>
                <a:latin typeface="Arial"/>
                <a:ea typeface="Arial"/>
                <a:cs typeface="Arial"/>
                <a:sym typeface="Arial"/>
              </a:rPr>
              <a:t>Problem 2 • 20 marks</a:t>
            </a:r>
            <a:endParaRPr/>
          </a:p>
        </p:txBody>
      </p:sp>
      <p:sp>
        <p:nvSpPr>
          <p:cNvPr id="54" name="Google Shape;54;p2"/>
          <p:cNvSpPr/>
          <p:nvPr/>
        </p:nvSpPr>
        <p:spPr>
          <a:xfrm>
            <a:off x="4524375" y="2257425"/>
            <a:ext cx="3143250" cy="106680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350">
                <a:solidFill>
                  <a:srgbClr val="202833"/>
                </a:solidFill>
                <a:latin typeface="Arial"/>
                <a:ea typeface="Arial"/>
                <a:cs typeface="Arial"/>
                <a:sym typeface="Arial"/>
              </a:rPr>
              <a:t>Present one SMART GQM goal, six questions for N = 3, and explain whether metrics answer them.</a:t>
            </a:r>
            <a:endParaRPr/>
          </a:p>
        </p:txBody>
      </p:sp>
      <p:sp>
        <p:nvSpPr>
          <p:cNvPr id="55" name="Google Shape;55;p2"/>
          <p:cNvSpPr/>
          <p:nvPr/>
        </p:nvSpPr>
        <p:spPr>
          <a:xfrm>
            <a:off x="8191500" y="1847850"/>
            <a:ext cx="3429000" cy="1543050"/>
          </a:xfrm>
          <a:prstGeom prst="rect">
            <a:avLst/>
          </a:prstGeom>
          <a:solidFill>
            <a:srgbClr val="F4F6F8"/>
          </a:solidFill>
          <a:ln cap="flat" cmpd="sng" w="114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a:off x="8334375" y="1952625"/>
            <a:ext cx="3143250" cy="2571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275">
                <a:solidFill>
                  <a:srgbClr val="8B1239"/>
                </a:solidFill>
                <a:latin typeface="Arial"/>
                <a:ea typeface="Arial"/>
                <a:cs typeface="Arial"/>
                <a:sym typeface="Arial"/>
              </a:rPr>
              <a:t>Problem 3 • 40 marks</a:t>
            </a:r>
            <a:endParaRPr/>
          </a:p>
        </p:txBody>
      </p:sp>
      <p:sp>
        <p:nvSpPr>
          <p:cNvPr id="57" name="Google Shape;57;p2"/>
          <p:cNvSpPr/>
          <p:nvPr/>
        </p:nvSpPr>
        <p:spPr>
          <a:xfrm>
            <a:off x="8334375" y="2257425"/>
            <a:ext cx="3143250" cy="106680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350">
                <a:solidFill>
                  <a:srgbClr val="202833"/>
                </a:solidFill>
                <a:latin typeface="Arial"/>
                <a:ea typeface="Arial"/>
                <a:cs typeface="Arial"/>
                <a:sym typeface="Arial"/>
              </a:rPr>
              <a:t>Provide a graphical and textual use-case model, including actor and use-case definitions.</a:t>
            </a:r>
            <a:endParaRPr/>
          </a:p>
        </p:txBody>
      </p:sp>
      <p:sp>
        <p:nvSpPr>
          <p:cNvPr id="58" name="Google Shape;58;p2"/>
          <p:cNvSpPr/>
          <p:nvPr/>
        </p:nvSpPr>
        <p:spPr>
          <a:xfrm>
            <a:off x="609600" y="3752850"/>
            <a:ext cx="10858500" cy="32385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725">
                <a:solidFill>
                  <a:srgbClr val="19334E"/>
                </a:solidFill>
                <a:latin typeface="Arial"/>
                <a:ea typeface="Arial"/>
                <a:cs typeface="Arial"/>
                <a:sym typeface="Arial"/>
              </a:rPr>
              <a:t>Chosen system boundary</a:t>
            </a:r>
            <a:endParaRPr/>
          </a:p>
        </p:txBody>
      </p:sp>
      <p:sp>
        <p:nvSpPr>
          <p:cNvPr id="59" name="Google Shape;59;p2"/>
          <p:cNvSpPr/>
          <p:nvPr/>
        </p:nvSpPr>
        <p:spPr>
          <a:xfrm>
            <a:off x="685800" y="4171950"/>
            <a:ext cx="10477500" cy="36195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425">
                <a:solidFill>
                  <a:srgbClr val="202833"/>
                </a:solidFill>
                <a:latin typeface="Arial"/>
                <a:ea typeface="Arial"/>
                <a:cs typeface="Arial"/>
                <a:sym typeface="Arial"/>
              </a:rPr>
              <a:t>•  One fictional, bank-owned indoor ABM scenario in Greater Montréal.</a:t>
            </a:r>
            <a:endParaRPr/>
          </a:p>
        </p:txBody>
      </p:sp>
      <p:sp>
        <p:nvSpPr>
          <p:cNvPr id="60" name="Google Shape;60;p2"/>
          <p:cNvSpPr/>
          <p:nvPr/>
        </p:nvSpPr>
        <p:spPr>
          <a:xfrm>
            <a:off x="685800" y="4591050"/>
            <a:ext cx="10477500" cy="41910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425">
                <a:solidFill>
                  <a:srgbClr val="202833"/>
                </a:solidFill>
                <a:latin typeface="Arial"/>
                <a:ea typeface="Arial"/>
                <a:cs typeface="Arial"/>
                <a:sym typeface="Arial"/>
              </a:rPr>
              <a:t>•  CAD-only self-service simulator with card-and-PIN style flow; no live banking or payment network.</a:t>
            </a:r>
            <a:endParaRPr/>
          </a:p>
        </p:txBody>
      </p:sp>
      <p:sp>
        <p:nvSpPr>
          <p:cNvPr id="61" name="Google Shape;61;p2"/>
          <p:cNvSpPr/>
          <p:nvPr/>
        </p:nvSpPr>
        <p:spPr>
          <a:xfrm>
            <a:off x="685800" y="5048250"/>
            <a:ext cx="10477500" cy="36195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425">
                <a:solidFill>
                  <a:srgbClr val="202833"/>
                </a:solidFill>
                <a:latin typeface="Arial"/>
                <a:ea typeface="Arial"/>
                <a:cs typeface="Arial"/>
                <a:sym typeface="Arial"/>
              </a:rPr>
              <a:t>•  Cardholder, simulated cash dispenser, and simulated receipt printer are the defined actors.</a:t>
            </a:r>
            <a:endParaRPr/>
          </a:p>
        </p:txBody>
      </p:sp>
      <p:sp>
        <p:nvSpPr>
          <p:cNvPr id="62" name="Google Shape;62;p2"/>
          <p:cNvSpPr/>
          <p:nvPr/>
        </p:nvSpPr>
        <p:spPr>
          <a:xfrm>
            <a:off x="552450" y="6257925"/>
            <a:ext cx="11049000" cy="2857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975">
                <a:solidFill>
                  <a:srgbClr val="596573"/>
                </a:solidFill>
                <a:latin typeface="Arial"/>
                <a:ea typeface="Arial"/>
                <a:cs typeface="Arial"/>
                <a:sym typeface="Arial"/>
              </a:rPr>
              <a:t>Every team member should prepare and understand the full presentation. Attendance and audio/video requirements apply during the Zoom presentation.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3"/>
          <p:cNvSpPr/>
          <p:nvPr/>
        </p:nvSpPr>
        <p:spPr>
          <a:xfrm>
            <a:off x="0" y="0"/>
            <a:ext cx="12192000"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0" y="0"/>
            <a:ext cx="12192000" cy="1066800"/>
          </a:xfrm>
          <a:prstGeom prst="rect">
            <a:avLst/>
          </a:prstGeom>
          <a:solidFill>
            <a:srgbClr val="8B12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514350" y="228600"/>
            <a:ext cx="11049000" cy="5905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1" lang="en-US" sz="2550">
                <a:solidFill>
                  <a:srgbClr val="FFFFFF"/>
                </a:solidFill>
                <a:latin typeface="Arial"/>
                <a:ea typeface="Arial"/>
                <a:cs typeface="Arial"/>
                <a:sym typeface="Arial"/>
              </a:rPr>
              <a:t>Problem 1 • selected ABM</a:t>
            </a:r>
            <a:endParaRPr/>
          </a:p>
        </p:txBody>
      </p:sp>
      <p:sp>
        <p:nvSpPr>
          <p:cNvPr id="71" name="Google Shape;71;p3"/>
          <p:cNvSpPr/>
          <p:nvPr/>
        </p:nvSpPr>
        <p:spPr>
          <a:xfrm>
            <a:off x="0" y="6629400"/>
            <a:ext cx="12192000" cy="228600"/>
          </a:xfrm>
          <a:prstGeom prst="rect">
            <a:avLst/>
          </a:prstGeom>
          <a:solidFill>
            <a:srgbClr val="6710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3"/>
          <p:cNvSpPr/>
          <p:nvPr/>
        </p:nvSpPr>
        <p:spPr>
          <a:xfrm>
            <a:off x="419100" y="6638925"/>
            <a:ext cx="8953500" cy="19050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900">
                <a:solidFill>
                  <a:srgbClr val="FFFFFF"/>
                </a:solidFill>
                <a:latin typeface="Arial"/>
                <a:ea typeface="Arial"/>
                <a:cs typeface="Arial"/>
                <a:sym typeface="Arial"/>
              </a:rPr>
              <a:t>SOEN 6611 • SECTION D • FALL 2026</a:t>
            </a:r>
            <a:endParaRPr/>
          </a:p>
        </p:txBody>
      </p:sp>
      <p:sp>
        <p:nvSpPr>
          <p:cNvPr id="73" name="Google Shape;73;p3"/>
          <p:cNvSpPr/>
          <p:nvPr/>
        </p:nvSpPr>
        <p:spPr>
          <a:xfrm>
            <a:off x="11334750" y="6638925"/>
            <a:ext cx="457200" cy="190500"/>
          </a:xfrm>
          <a:prstGeom prst="rect">
            <a:avLst/>
          </a:prstGeom>
          <a:noFill/>
          <a:ln>
            <a:noFill/>
          </a:ln>
        </p:spPr>
        <p:txBody>
          <a:bodyPr anchorCtr="0" anchor="ctr" bIns="19050" lIns="19050" spcFirstLastPara="1" rIns="19050" wrap="square" tIns="19050">
            <a:normAutofit/>
          </a:bodyPr>
          <a:lstStyle/>
          <a:p>
            <a:pPr indent="0" lvl="0" marL="0" marR="0" rtl="0" algn="r">
              <a:spcBef>
                <a:spcPts val="0"/>
              </a:spcBef>
              <a:spcAft>
                <a:spcPts val="0"/>
              </a:spcAft>
              <a:buNone/>
            </a:pPr>
            <a:r>
              <a:rPr b="1" lang="en-US" sz="900">
                <a:solidFill>
                  <a:srgbClr val="FFFFFF"/>
                </a:solidFill>
                <a:latin typeface="Arial"/>
                <a:ea typeface="Arial"/>
                <a:cs typeface="Arial"/>
                <a:sym typeface="Arial"/>
              </a:rPr>
              <a:t>03</a:t>
            </a:r>
            <a:endParaRPr/>
          </a:p>
        </p:txBody>
      </p:sp>
      <p:sp>
        <p:nvSpPr>
          <p:cNvPr id="74" name="Google Shape;74;p3"/>
          <p:cNvSpPr/>
          <p:nvPr/>
        </p:nvSpPr>
        <p:spPr>
          <a:xfrm>
            <a:off x="609600" y="1381125"/>
            <a:ext cx="6191250" cy="47625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2250">
                <a:solidFill>
                  <a:srgbClr val="19334E"/>
                </a:solidFill>
                <a:latin typeface="Arial"/>
                <a:ea typeface="Arial"/>
                <a:cs typeface="Arial"/>
                <a:sym typeface="Arial"/>
              </a:rPr>
              <a:t>iBank Montréal ABM</a:t>
            </a:r>
            <a:endParaRPr/>
          </a:p>
        </p:txBody>
      </p:sp>
      <p:sp>
        <p:nvSpPr>
          <p:cNvPr id="75" name="Google Shape;75;p3"/>
          <p:cNvSpPr/>
          <p:nvPr/>
        </p:nvSpPr>
        <p:spPr>
          <a:xfrm>
            <a:off x="609600" y="1971675"/>
            <a:ext cx="6762750" cy="142875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725">
                <a:solidFill>
                  <a:srgbClr val="202833"/>
                </a:solidFill>
                <a:latin typeface="Arial"/>
                <a:ea typeface="Arial"/>
                <a:cs typeface="Arial"/>
                <a:sym typeface="Arial"/>
              </a:rPr>
              <a:t>A fictional bank-owned indoor kiosk for retail cardholders in Greater Montréal. It supports CAD cash withdrawals, deposits, balance inquiries, transfers between the customer’s own accounts, PIN changes, and short transaction histories.</a:t>
            </a:r>
            <a:endParaRPr/>
          </a:p>
        </p:txBody>
      </p:sp>
      <p:sp>
        <p:nvSpPr>
          <p:cNvPr id="76" name="Google Shape;76;p3"/>
          <p:cNvSpPr/>
          <p:nvPr/>
        </p:nvSpPr>
        <p:spPr>
          <a:xfrm>
            <a:off x="7762875" y="1495425"/>
            <a:ext cx="3829050" cy="1952625"/>
          </a:xfrm>
          <a:prstGeom prst="rect">
            <a:avLst/>
          </a:prstGeom>
          <a:solidFill>
            <a:srgbClr val="FAF2F5"/>
          </a:solidFill>
          <a:ln cap="flat" cmpd="sng" w="114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
          <p:cNvSpPr/>
          <p:nvPr/>
        </p:nvSpPr>
        <p:spPr>
          <a:xfrm>
            <a:off x="7905750" y="1600200"/>
            <a:ext cx="3543300" cy="2571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275">
                <a:solidFill>
                  <a:srgbClr val="8B1239"/>
                </a:solidFill>
                <a:latin typeface="Arial"/>
                <a:ea typeface="Arial"/>
                <a:cs typeface="Arial"/>
                <a:sym typeface="Arial"/>
              </a:rPr>
              <a:t>Canadian transaction flow</a:t>
            </a:r>
            <a:endParaRPr/>
          </a:p>
        </p:txBody>
      </p:sp>
      <p:sp>
        <p:nvSpPr>
          <p:cNvPr id="78" name="Google Shape;78;p3"/>
          <p:cNvSpPr/>
          <p:nvPr/>
        </p:nvSpPr>
        <p:spPr>
          <a:xfrm>
            <a:off x="7905750" y="1905000"/>
            <a:ext cx="3543300" cy="14763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275">
                <a:solidFill>
                  <a:srgbClr val="202833"/>
                </a:solidFill>
                <a:latin typeface="Arial"/>
                <a:ea typeface="Arial"/>
                <a:cs typeface="Arial"/>
                <a:sym typeface="Arial"/>
              </a:rPr>
              <a:t>The interface follows a familiar card-and-PIN ABM sequence. The prototype simulates the card credential and banking service; it does not connect to Interac or move real funds. [1, 5]</a:t>
            </a:r>
            <a:endParaRPr/>
          </a:p>
        </p:txBody>
      </p:sp>
      <p:sp>
        <p:nvSpPr>
          <p:cNvPr id="79" name="Google Shape;79;p3"/>
          <p:cNvSpPr/>
          <p:nvPr/>
        </p:nvSpPr>
        <p:spPr>
          <a:xfrm>
            <a:off x="609600" y="3762375"/>
            <a:ext cx="4953000" cy="1381125"/>
          </a:xfrm>
          <a:prstGeom prst="rect">
            <a:avLst/>
          </a:prstGeom>
          <a:solidFill>
            <a:srgbClr val="F4F6F8"/>
          </a:solidFill>
          <a:ln cap="flat" cmpd="sng" w="114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752475" y="3867150"/>
            <a:ext cx="4667250" cy="2571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275">
                <a:solidFill>
                  <a:srgbClr val="8B1239"/>
                </a:solidFill>
                <a:latin typeface="Arial"/>
                <a:ea typeface="Arial"/>
                <a:cs typeface="Arial"/>
                <a:sym typeface="Arial"/>
              </a:rPr>
              <a:t>User-facing design</a:t>
            </a:r>
            <a:endParaRPr/>
          </a:p>
        </p:txBody>
      </p:sp>
      <p:sp>
        <p:nvSpPr>
          <p:cNvPr id="81" name="Google Shape;81;p3"/>
          <p:cNvSpPr/>
          <p:nvPr/>
        </p:nvSpPr>
        <p:spPr>
          <a:xfrm>
            <a:off x="752475" y="4171950"/>
            <a:ext cx="4667250" cy="9048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350">
                <a:solidFill>
                  <a:srgbClr val="202833"/>
                </a:solidFill>
                <a:latin typeface="Arial"/>
                <a:ea typeface="Arial"/>
                <a:cs typeface="Arial"/>
                <a:sym typeface="Arial"/>
              </a:rPr>
              <a:t>CAD only • English and French interface • large text and high contrast • masked account details • optional simulated receipt</a:t>
            </a:r>
            <a:endParaRPr/>
          </a:p>
        </p:txBody>
      </p:sp>
      <p:sp>
        <p:nvSpPr>
          <p:cNvPr id="82" name="Google Shape;82;p3"/>
          <p:cNvSpPr/>
          <p:nvPr/>
        </p:nvSpPr>
        <p:spPr>
          <a:xfrm>
            <a:off x="5867400" y="3762375"/>
            <a:ext cx="5724525" cy="1381125"/>
          </a:xfrm>
          <a:prstGeom prst="rect">
            <a:avLst/>
          </a:prstGeom>
          <a:solidFill>
            <a:srgbClr val="F4F6F8"/>
          </a:solidFill>
          <a:ln cap="flat" cmpd="sng" w="114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3"/>
          <p:cNvSpPr/>
          <p:nvPr/>
        </p:nvSpPr>
        <p:spPr>
          <a:xfrm>
            <a:off x="6010275" y="3867150"/>
            <a:ext cx="5438775" cy="2571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275">
                <a:solidFill>
                  <a:srgbClr val="8B1239"/>
                </a:solidFill>
                <a:latin typeface="Arial"/>
                <a:ea typeface="Arial"/>
                <a:cs typeface="Arial"/>
                <a:sym typeface="Arial"/>
              </a:rPr>
              <a:t>Product boundary</a:t>
            </a:r>
            <a:endParaRPr/>
          </a:p>
        </p:txBody>
      </p:sp>
      <p:sp>
        <p:nvSpPr>
          <p:cNvPr id="84" name="Google Shape;84;p3"/>
          <p:cNvSpPr/>
          <p:nvPr/>
        </p:nvSpPr>
        <p:spPr>
          <a:xfrm>
            <a:off x="6010275" y="4171950"/>
            <a:ext cx="5438775" cy="9048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275">
                <a:solidFill>
                  <a:srgbClr val="202833"/>
                </a:solidFill>
                <a:latin typeface="Arial"/>
                <a:ea typeface="Arial"/>
                <a:cs typeface="Arial"/>
                <a:sym typeface="Arial"/>
              </a:rPr>
              <a:t>One fictional institution and branch. Software-simulated account records, cash dispenser, and receipt printer. The deck makes no claim that the prototype is ready for production or legally certified.</a:t>
            </a:r>
            <a:endParaRPr/>
          </a:p>
        </p:txBody>
      </p:sp>
      <p:sp>
        <p:nvSpPr>
          <p:cNvPr id="85" name="Google Shape;85;p3"/>
          <p:cNvSpPr/>
          <p:nvPr/>
        </p:nvSpPr>
        <p:spPr>
          <a:xfrm>
            <a:off x="552450" y="6257925"/>
            <a:ext cx="11049000" cy="2857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975">
                <a:solidFill>
                  <a:srgbClr val="596573"/>
                </a:solidFill>
                <a:latin typeface="Arial"/>
                <a:ea typeface="Arial"/>
                <a:cs typeface="Arial"/>
                <a:sym typeface="Arial"/>
              </a:rPr>
              <a:t>ABM behavior is a course scenario. Interac is used as a reference for the Canadian card-and-PIN interaction pattern, not as a live integration.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4"/>
          <p:cNvSpPr/>
          <p:nvPr/>
        </p:nvSpPr>
        <p:spPr>
          <a:xfrm>
            <a:off x="0" y="0"/>
            <a:ext cx="12192000"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4"/>
          <p:cNvSpPr/>
          <p:nvPr/>
        </p:nvSpPr>
        <p:spPr>
          <a:xfrm>
            <a:off x="0" y="0"/>
            <a:ext cx="12192000" cy="1066800"/>
          </a:xfrm>
          <a:prstGeom prst="rect">
            <a:avLst/>
          </a:prstGeom>
          <a:solidFill>
            <a:srgbClr val="8B12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4"/>
          <p:cNvSpPr/>
          <p:nvPr/>
        </p:nvSpPr>
        <p:spPr>
          <a:xfrm>
            <a:off x="514350" y="228600"/>
            <a:ext cx="11049000" cy="5905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1" lang="en-US" sz="2550">
                <a:solidFill>
                  <a:srgbClr val="FFFFFF"/>
                </a:solidFill>
                <a:latin typeface="Arial"/>
                <a:ea typeface="Arial"/>
                <a:cs typeface="Arial"/>
                <a:sym typeface="Arial"/>
              </a:rPr>
              <a:t>Problem 1 • assumptions and Canadian context</a:t>
            </a:r>
            <a:endParaRPr/>
          </a:p>
        </p:txBody>
      </p:sp>
      <p:sp>
        <p:nvSpPr>
          <p:cNvPr id="94" name="Google Shape;94;p4"/>
          <p:cNvSpPr/>
          <p:nvPr/>
        </p:nvSpPr>
        <p:spPr>
          <a:xfrm>
            <a:off x="0" y="6629400"/>
            <a:ext cx="12192000" cy="228600"/>
          </a:xfrm>
          <a:prstGeom prst="rect">
            <a:avLst/>
          </a:prstGeom>
          <a:solidFill>
            <a:srgbClr val="6710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4"/>
          <p:cNvSpPr/>
          <p:nvPr/>
        </p:nvSpPr>
        <p:spPr>
          <a:xfrm>
            <a:off x="419100" y="6638925"/>
            <a:ext cx="8953500" cy="19050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900">
                <a:solidFill>
                  <a:srgbClr val="FFFFFF"/>
                </a:solidFill>
                <a:latin typeface="Arial"/>
                <a:ea typeface="Arial"/>
                <a:cs typeface="Arial"/>
                <a:sym typeface="Arial"/>
              </a:rPr>
              <a:t>SOEN 6611 • SECTION D • FALL 2026</a:t>
            </a:r>
            <a:endParaRPr/>
          </a:p>
        </p:txBody>
      </p:sp>
      <p:sp>
        <p:nvSpPr>
          <p:cNvPr id="96" name="Google Shape;96;p4"/>
          <p:cNvSpPr/>
          <p:nvPr/>
        </p:nvSpPr>
        <p:spPr>
          <a:xfrm>
            <a:off x="11334750" y="6638925"/>
            <a:ext cx="457200" cy="190500"/>
          </a:xfrm>
          <a:prstGeom prst="rect">
            <a:avLst/>
          </a:prstGeom>
          <a:noFill/>
          <a:ln>
            <a:noFill/>
          </a:ln>
        </p:spPr>
        <p:txBody>
          <a:bodyPr anchorCtr="0" anchor="ctr" bIns="19050" lIns="19050" spcFirstLastPara="1" rIns="19050" wrap="square" tIns="19050">
            <a:normAutofit/>
          </a:bodyPr>
          <a:lstStyle/>
          <a:p>
            <a:pPr indent="0" lvl="0" marL="0" marR="0" rtl="0" algn="r">
              <a:spcBef>
                <a:spcPts val="0"/>
              </a:spcBef>
              <a:spcAft>
                <a:spcPts val="0"/>
              </a:spcAft>
              <a:buNone/>
            </a:pPr>
            <a:r>
              <a:rPr b="1" lang="en-US" sz="900">
                <a:solidFill>
                  <a:srgbClr val="FFFFFF"/>
                </a:solidFill>
                <a:latin typeface="Arial"/>
                <a:ea typeface="Arial"/>
                <a:cs typeface="Arial"/>
                <a:sym typeface="Arial"/>
              </a:rPr>
              <a:t>04</a:t>
            </a:r>
            <a:endParaRPr/>
          </a:p>
        </p:txBody>
      </p:sp>
      <p:sp>
        <p:nvSpPr>
          <p:cNvPr id="97" name="Google Shape;97;p4"/>
          <p:cNvSpPr/>
          <p:nvPr/>
        </p:nvSpPr>
        <p:spPr>
          <a:xfrm>
            <a:off x="609600" y="1352550"/>
            <a:ext cx="10858500" cy="32385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725">
                <a:solidFill>
                  <a:srgbClr val="19334E"/>
                </a:solidFill>
                <a:latin typeface="Arial"/>
                <a:ea typeface="Arial"/>
                <a:cs typeface="Arial"/>
                <a:sym typeface="Arial"/>
              </a:rPr>
              <a:t>Explicit assumptions</a:t>
            </a:r>
            <a:endParaRPr/>
          </a:p>
        </p:txBody>
      </p:sp>
      <p:sp>
        <p:nvSpPr>
          <p:cNvPr id="98" name="Google Shape;98;p4"/>
          <p:cNvSpPr/>
          <p:nvPr/>
        </p:nvSpPr>
        <p:spPr>
          <a:xfrm>
            <a:off x="704850" y="1752600"/>
            <a:ext cx="10620375" cy="41910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313">
                <a:solidFill>
                  <a:srgbClr val="202833"/>
                </a:solidFill>
                <a:latin typeface="Arial"/>
                <a:ea typeface="Arial"/>
                <a:cs typeface="Arial"/>
                <a:sym typeface="Arial"/>
              </a:rPr>
              <a:t>•  The course prototype uses local simulated accounts and transaction records only.</a:t>
            </a:r>
            <a:endParaRPr/>
          </a:p>
        </p:txBody>
      </p:sp>
      <p:sp>
        <p:nvSpPr>
          <p:cNvPr id="99" name="Google Shape;99;p4"/>
          <p:cNvSpPr/>
          <p:nvPr/>
        </p:nvSpPr>
        <p:spPr>
          <a:xfrm>
            <a:off x="704850" y="2209800"/>
            <a:ext cx="10620375" cy="41910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313">
                <a:solidFill>
                  <a:srgbClr val="202833"/>
                </a:solidFill>
                <a:latin typeface="Arial"/>
                <a:ea typeface="Arial"/>
                <a:cs typeface="Arial"/>
                <a:sym typeface="Arial"/>
              </a:rPr>
              <a:t>•  The simulated card identifier uses a four-digit test PIN. No physical reader or real customer/payment-card data is used.</a:t>
            </a:r>
            <a:endParaRPr/>
          </a:p>
        </p:txBody>
      </p:sp>
      <p:sp>
        <p:nvSpPr>
          <p:cNvPr id="100" name="Google Shape;100;p4"/>
          <p:cNvSpPr/>
          <p:nvPr/>
        </p:nvSpPr>
        <p:spPr>
          <a:xfrm>
            <a:off x="704850" y="2667000"/>
            <a:ext cx="10620375" cy="41910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313">
                <a:solidFill>
                  <a:srgbClr val="202833"/>
                </a:solidFill>
                <a:latin typeface="Arial"/>
                <a:ea typeface="Arial"/>
                <a:cs typeface="Arial"/>
                <a:sym typeface="Arial"/>
              </a:rPr>
              <a:t>•  A session locks after three consecutive incorrect PIN attempts. This is a project rule, not a stated industry standard.</a:t>
            </a:r>
            <a:endParaRPr/>
          </a:p>
        </p:txBody>
      </p:sp>
      <p:sp>
        <p:nvSpPr>
          <p:cNvPr id="101" name="Google Shape;101;p4"/>
          <p:cNvSpPr/>
          <p:nvPr/>
        </p:nvSpPr>
        <p:spPr>
          <a:xfrm>
            <a:off x="704850" y="3124200"/>
            <a:ext cx="10620375" cy="41910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313">
                <a:solidFill>
                  <a:srgbClr val="202833"/>
                </a:solidFill>
                <a:latin typeface="Arial"/>
                <a:ea typeface="Arial"/>
                <a:cs typeface="Arial"/>
                <a:sym typeface="Arial"/>
              </a:rPr>
              <a:t>•  The team sets a $1,000 daily withdrawal cap and CAD $20 dispense unit for test scenarios; both are project assumptions, not legal limits.</a:t>
            </a:r>
            <a:endParaRPr/>
          </a:p>
        </p:txBody>
      </p:sp>
      <p:sp>
        <p:nvSpPr>
          <p:cNvPr id="102" name="Google Shape;102;p4"/>
          <p:cNvSpPr/>
          <p:nvPr/>
        </p:nvSpPr>
        <p:spPr>
          <a:xfrm>
            <a:off x="704850" y="3581400"/>
            <a:ext cx="10620375" cy="41910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313">
                <a:solidFill>
                  <a:srgbClr val="202833"/>
                </a:solidFill>
                <a:latin typeface="Arial"/>
                <a:ea typeface="Arial"/>
                <a:cs typeface="Arial"/>
                <a:sym typeface="Arial"/>
              </a:rPr>
              <a:t>•  All amounts are CAD. Transfers are limited to the cardholder’s own simulated accounts.</a:t>
            </a:r>
            <a:endParaRPr/>
          </a:p>
        </p:txBody>
      </p:sp>
      <p:sp>
        <p:nvSpPr>
          <p:cNvPr id="103" name="Google Shape;103;p4"/>
          <p:cNvSpPr/>
          <p:nvPr/>
        </p:nvSpPr>
        <p:spPr>
          <a:xfrm>
            <a:off x="704850" y="4038600"/>
            <a:ext cx="10620375" cy="41910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313">
                <a:solidFill>
                  <a:srgbClr val="202833"/>
                </a:solidFill>
                <a:latin typeface="Arial"/>
                <a:ea typeface="Arial"/>
                <a:cs typeface="Arial"/>
                <a:sym typeface="Arial"/>
              </a:rPr>
              <a:t>•  EN/FR selection is included for the Montréal scenario. Interface language support does not by itself establish legal compliance.</a:t>
            </a:r>
            <a:endParaRPr/>
          </a:p>
        </p:txBody>
      </p:sp>
      <p:sp>
        <p:nvSpPr>
          <p:cNvPr id="104" name="Google Shape;104;p4"/>
          <p:cNvSpPr/>
          <p:nvPr/>
        </p:nvSpPr>
        <p:spPr>
          <a:xfrm>
            <a:off x="704850" y="4495800"/>
            <a:ext cx="10620375" cy="41910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313">
                <a:solidFill>
                  <a:srgbClr val="202833"/>
                </a:solidFill>
                <a:latin typeface="Arial"/>
                <a:ea typeface="Arial"/>
                <a:cs typeface="Arial"/>
                <a:sym typeface="Arial"/>
              </a:rPr>
              <a:t>•  Account references are masked on screens and receipts as a privacy-conscious design choice, not as a claim about an exact statutory rule.</a:t>
            </a:r>
            <a:endParaRPr/>
          </a:p>
        </p:txBody>
      </p:sp>
      <p:sp>
        <p:nvSpPr>
          <p:cNvPr id="105" name="Google Shape;105;p4"/>
          <p:cNvSpPr/>
          <p:nvPr/>
        </p:nvSpPr>
        <p:spPr>
          <a:xfrm>
            <a:off x="590550" y="5048250"/>
            <a:ext cx="11001375" cy="914400"/>
          </a:xfrm>
          <a:prstGeom prst="rect">
            <a:avLst/>
          </a:prstGeom>
          <a:solidFill>
            <a:srgbClr val="FAF2F5"/>
          </a:solidFill>
          <a:ln cap="flat" cmpd="sng" w="95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4"/>
          <p:cNvSpPr/>
          <p:nvPr/>
        </p:nvSpPr>
        <p:spPr>
          <a:xfrm>
            <a:off x="742950" y="5181600"/>
            <a:ext cx="2571750" cy="24765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275">
                <a:solidFill>
                  <a:srgbClr val="8B1239"/>
                </a:solidFill>
                <a:latin typeface="Arial"/>
                <a:ea typeface="Arial"/>
                <a:cs typeface="Arial"/>
                <a:sym typeface="Arial"/>
              </a:rPr>
              <a:t>Canadian design context</a:t>
            </a:r>
            <a:endParaRPr/>
          </a:p>
        </p:txBody>
      </p:sp>
      <p:sp>
        <p:nvSpPr>
          <p:cNvPr id="107" name="Google Shape;107;p4"/>
          <p:cNvSpPr/>
          <p:nvPr/>
        </p:nvSpPr>
        <p:spPr>
          <a:xfrm>
            <a:off x="742950" y="5457825"/>
            <a:ext cx="10648950" cy="45720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118">
                <a:solidFill>
                  <a:srgbClr val="202833"/>
                </a:solidFill>
                <a:latin typeface="Arial"/>
                <a:ea typeface="Arial"/>
                <a:cs typeface="Arial"/>
                <a:sym typeface="Arial"/>
              </a:rPr>
              <a:t>PIPEDA Principle 7 calls for safeguards appropriate to personal-information sensitivity. Québec’s Charter identifies French as the official language. CSA/ASC B651.2:25 is a current accessibility-design reference for self-service devices including ABMs. Applicability to a real operator depends on its facts and governing rules. [2–4]</a:t>
            </a:r>
            <a:endParaRPr/>
          </a:p>
        </p:txBody>
      </p:sp>
      <p:sp>
        <p:nvSpPr>
          <p:cNvPr id="108" name="Google Shape;108;p4"/>
          <p:cNvSpPr/>
          <p:nvPr/>
        </p:nvSpPr>
        <p:spPr>
          <a:xfrm>
            <a:off x="552450" y="6257925"/>
            <a:ext cx="11049000" cy="2857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975">
                <a:solidFill>
                  <a:srgbClr val="596573"/>
                </a:solidFill>
                <a:latin typeface="Arial"/>
                <a:ea typeface="Arial"/>
                <a:cs typeface="Arial"/>
                <a:sym typeface="Arial"/>
              </a:rPr>
              <a:t>The prototype adopts privacy and accessibility goals for design discussion; it does not claim compliance with a law, standard, or payment-industry certification.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5"/>
          <p:cNvSpPr/>
          <p:nvPr/>
        </p:nvSpPr>
        <p:spPr>
          <a:xfrm>
            <a:off x="0" y="0"/>
            <a:ext cx="12192000"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5"/>
          <p:cNvSpPr/>
          <p:nvPr/>
        </p:nvSpPr>
        <p:spPr>
          <a:xfrm>
            <a:off x="0" y="0"/>
            <a:ext cx="12192000" cy="1066800"/>
          </a:xfrm>
          <a:prstGeom prst="rect">
            <a:avLst/>
          </a:prstGeom>
          <a:solidFill>
            <a:srgbClr val="8B12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5"/>
          <p:cNvSpPr/>
          <p:nvPr/>
        </p:nvSpPr>
        <p:spPr>
          <a:xfrm>
            <a:off x="514350" y="228600"/>
            <a:ext cx="11049000" cy="5905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1" lang="en-US" sz="2550">
                <a:solidFill>
                  <a:srgbClr val="FFFFFF"/>
                </a:solidFill>
                <a:latin typeface="Arial"/>
                <a:ea typeface="Arial"/>
                <a:cs typeface="Arial"/>
                <a:sym typeface="Arial"/>
              </a:rPr>
              <a:t>Problem 2 • SMART GQM goal</a:t>
            </a:r>
            <a:endParaRPr/>
          </a:p>
        </p:txBody>
      </p:sp>
      <p:sp>
        <p:nvSpPr>
          <p:cNvPr id="117" name="Google Shape;117;p5"/>
          <p:cNvSpPr/>
          <p:nvPr/>
        </p:nvSpPr>
        <p:spPr>
          <a:xfrm>
            <a:off x="0" y="6629400"/>
            <a:ext cx="12192000" cy="228600"/>
          </a:xfrm>
          <a:prstGeom prst="rect">
            <a:avLst/>
          </a:prstGeom>
          <a:solidFill>
            <a:srgbClr val="6710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5"/>
          <p:cNvSpPr/>
          <p:nvPr/>
        </p:nvSpPr>
        <p:spPr>
          <a:xfrm>
            <a:off x="419100" y="6638925"/>
            <a:ext cx="8953500" cy="19050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900">
                <a:solidFill>
                  <a:srgbClr val="FFFFFF"/>
                </a:solidFill>
                <a:latin typeface="Arial"/>
                <a:ea typeface="Arial"/>
                <a:cs typeface="Arial"/>
                <a:sym typeface="Arial"/>
              </a:rPr>
              <a:t>SOEN 6611 • SECTION D • FALL 2026</a:t>
            </a:r>
            <a:endParaRPr/>
          </a:p>
        </p:txBody>
      </p:sp>
      <p:sp>
        <p:nvSpPr>
          <p:cNvPr id="119" name="Google Shape;119;p5"/>
          <p:cNvSpPr/>
          <p:nvPr/>
        </p:nvSpPr>
        <p:spPr>
          <a:xfrm>
            <a:off x="11334750" y="6638925"/>
            <a:ext cx="457200" cy="190500"/>
          </a:xfrm>
          <a:prstGeom prst="rect">
            <a:avLst/>
          </a:prstGeom>
          <a:noFill/>
          <a:ln>
            <a:noFill/>
          </a:ln>
        </p:spPr>
        <p:txBody>
          <a:bodyPr anchorCtr="0" anchor="ctr" bIns="19050" lIns="19050" spcFirstLastPara="1" rIns="19050" wrap="square" tIns="19050">
            <a:normAutofit/>
          </a:bodyPr>
          <a:lstStyle/>
          <a:p>
            <a:pPr indent="0" lvl="0" marL="0" marR="0" rtl="0" algn="r">
              <a:spcBef>
                <a:spcPts val="0"/>
              </a:spcBef>
              <a:spcAft>
                <a:spcPts val="0"/>
              </a:spcAft>
              <a:buNone/>
            </a:pPr>
            <a:r>
              <a:rPr b="1" lang="en-US" sz="900">
                <a:solidFill>
                  <a:srgbClr val="FFFFFF"/>
                </a:solidFill>
                <a:latin typeface="Arial"/>
                <a:ea typeface="Arial"/>
                <a:cs typeface="Arial"/>
                <a:sym typeface="Arial"/>
              </a:rPr>
              <a:t>05</a:t>
            </a:r>
            <a:endParaRPr/>
          </a:p>
        </p:txBody>
      </p:sp>
      <p:sp>
        <p:nvSpPr>
          <p:cNvPr id="120" name="Google Shape;120;p5"/>
          <p:cNvSpPr/>
          <p:nvPr/>
        </p:nvSpPr>
        <p:spPr>
          <a:xfrm>
            <a:off x="571500" y="1381125"/>
            <a:ext cx="11049000" cy="1352550"/>
          </a:xfrm>
          <a:prstGeom prst="rect">
            <a:avLst/>
          </a:prstGeom>
          <a:solidFill>
            <a:srgbClr val="193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5"/>
          <p:cNvSpPr/>
          <p:nvPr/>
        </p:nvSpPr>
        <p:spPr>
          <a:xfrm>
            <a:off x="781050" y="1552575"/>
            <a:ext cx="904875" cy="26670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275">
                <a:solidFill>
                  <a:srgbClr val="DDEEF2"/>
                </a:solidFill>
                <a:latin typeface="Arial"/>
                <a:ea typeface="Arial"/>
                <a:cs typeface="Arial"/>
                <a:sym typeface="Arial"/>
              </a:rPr>
              <a:t>GOAL</a:t>
            </a:r>
            <a:endParaRPr/>
          </a:p>
        </p:txBody>
      </p:sp>
      <p:sp>
        <p:nvSpPr>
          <p:cNvPr id="122" name="Google Shape;122;p5"/>
          <p:cNvSpPr/>
          <p:nvPr/>
        </p:nvSpPr>
        <p:spPr>
          <a:xfrm>
            <a:off x="781050" y="1828800"/>
            <a:ext cx="10477500" cy="87630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375">
                <a:solidFill>
                  <a:srgbClr val="FFFFFF"/>
                </a:solidFill>
                <a:latin typeface="Arial"/>
                <a:ea typeface="Arial"/>
                <a:cs typeface="Arial"/>
                <a:sym typeface="Arial"/>
              </a:rPr>
              <a:t>By D2 completion in Fall 2026, evaluate CAD withdrawals in the iBank simulator across a predeclared suite of valid and invalid scenarios. Use D2 test logs and simulator state to measure six outcomes. Meet these team criteria: ≥95% valid completion, median response ≤3.0 s, 100% correct invalid-request rejection, zero post-lockout withdrawals, zero balance/cash mismatches, and 100% accurate requested receipts.</a:t>
            </a:r>
            <a:endParaRPr/>
          </a:p>
        </p:txBody>
      </p:sp>
      <p:sp>
        <p:nvSpPr>
          <p:cNvPr id="123" name="Google Shape;123;p5"/>
          <p:cNvSpPr/>
          <p:nvPr/>
        </p:nvSpPr>
        <p:spPr>
          <a:xfrm>
            <a:off x="609600" y="1352550"/>
            <a:ext cx="10858500" cy="32385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725">
                <a:solidFill>
                  <a:srgbClr val="19334E"/>
                </a:solidFill>
                <a:latin typeface="Arial"/>
                <a:ea typeface="Arial"/>
                <a:cs typeface="Arial"/>
                <a:sym typeface="Arial"/>
              </a:rPr>
              <a:t>How the goal meets SMART</a:t>
            </a:r>
            <a:endParaRPr/>
          </a:p>
        </p:txBody>
      </p:sp>
      <p:sp>
        <p:nvSpPr>
          <p:cNvPr id="124" name="Google Shape;124;p5"/>
          <p:cNvSpPr/>
          <p:nvPr/>
        </p:nvSpPr>
        <p:spPr>
          <a:xfrm>
            <a:off x="742950" y="3457575"/>
            <a:ext cx="1619250" cy="28575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350">
                <a:solidFill>
                  <a:srgbClr val="8B1239"/>
                </a:solidFill>
                <a:latin typeface="Arial"/>
                <a:ea typeface="Arial"/>
                <a:cs typeface="Arial"/>
                <a:sym typeface="Arial"/>
              </a:rPr>
              <a:t>Specific</a:t>
            </a:r>
            <a:endParaRPr/>
          </a:p>
        </p:txBody>
      </p:sp>
      <p:sp>
        <p:nvSpPr>
          <p:cNvPr id="125" name="Google Shape;125;p5"/>
          <p:cNvSpPr/>
          <p:nvPr/>
        </p:nvSpPr>
        <p:spPr>
          <a:xfrm>
            <a:off x="2476500" y="3457575"/>
            <a:ext cx="8667750" cy="32385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350">
                <a:solidFill>
                  <a:srgbClr val="202833"/>
                </a:solidFill>
                <a:latin typeface="Arial"/>
                <a:ea typeface="Arial"/>
                <a:cs typeface="Arial"/>
                <a:sym typeface="Arial"/>
              </a:rPr>
              <a:t>CAD withdrawal flow in the iBank simulator</a:t>
            </a:r>
            <a:endParaRPr/>
          </a:p>
        </p:txBody>
      </p:sp>
      <p:sp>
        <p:nvSpPr>
          <p:cNvPr id="126" name="Google Shape;126;p5"/>
          <p:cNvSpPr/>
          <p:nvPr/>
        </p:nvSpPr>
        <p:spPr>
          <a:xfrm>
            <a:off x="742950" y="3943350"/>
            <a:ext cx="1619250" cy="28575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350">
                <a:solidFill>
                  <a:srgbClr val="8B1239"/>
                </a:solidFill>
                <a:latin typeface="Arial"/>
                <a:ea typeface="Arial"/>
                <a:cs typeface="Arial"/>
                <a:sym typeface="Arial"/>
              </a:rPr>
              <a:t>Measurable</a:t>
            </a:r>
            <a:endParaRPr/>
          </a:p>
        </p:txBody>
      </p:sp>
      <p:sp>
        <p:nvSpPr>
          <p:cNvPr id="127" name="Google Shape;127;p5"/>
          <p:cNvSpPr/>
          <p:nvPr/>
        </p:nvSpPr>
        <p:spPr>
          <a:xfrm>
            <a:off x="2476500" y="3943350"/>
            <a:ext cx="8667750" cy="32385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350">
                <a:solidFill>
                  <a:srgbClr val="202833"/>
                </a:solidFill>
                <a:latin typeface="Arial"/>
                <a:ea typeface="Arial"/>
                <a:cs typeface="Arial"/>
                <a:sym typeface="Arial"/>
              </a:rPr>
              <a:t>Six defined measures with explicit acceptance criteria</a:t>
            </a:r>
            <a:endParaRPr/>
          </a:p>
        </p:txBody>
      </p:sp>
      <p:sp>
        <p:nvSpPr>
          <p:cNvPr id="128" name="Google Shape;128;p5"/>
          <p:cNvSpPr/>
          <p:nvPr/>
        </p:nvSpPr>
        <p:spPr>
          <a:xfrm>
            <a:off x="742950" y="4429125"/>
            <a:ext cx="1619250" cy="28575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350">
                <a:solidFill>
                  <a:srgbClr val="8B1239"/>
                </a:solidFill>
                <a:latin typeface="Arial"/>
                <a:ea typeface="Arial"/>
                <a:cs typeface="Arial"/>
                <a:sym typeface="Arial"/>
              </a:rPr>
              <a:t>Achievable</a:t>
            </a:r>
            <a:endParaRPr/>
          </a:p>
        </p:txBody>
      </p:sp>
      <p:sp>
        <p:nvSpPr>
          <p:cNvPr id="129" name="Google Shape;129;p5"/>
          <p:cNvSpPr/>
          <p:nvPr/>
        </p:nvSpPr>
        <p:spPr>
          <a:xfrm>
            <a:off x="2476500" y="4429125"/>
            <a:ext cx="8667750" cy="32385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350">
                <a:solidFill>
                  <a:srgbClr val="202833"/>
                </a:solidFill>
                <a:latin typeface="Arial"/>
                <a:ea typeface="Arial"/>
                <a:cs typeface="Arial"/>
                <a:sym typeface="Arial"/>
              </a:rPr>
              <a:t>Uses test scenarios and simulator data available in D2</a:t>
            </a:r>
            <a:endParaRPr/>
          </a:p>
        </p:txBody>
      </p:sp>
      <p:sp>
        <p:nvSpPr>
          <p:cNvPr id="130" name="Google Shape;130;p5"/>
          <p:cNvSpPr/>
          <p:nvPr/>
        </p:nvSpPr>
        <p:spPr>
          <a:xfrm>
            <a:off x="742950" y="4914900"/>
            <a:ext cx="1619250" cy="28575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350">
                <a:solidFill>
                  <a:srgbClr val="8B1239"/>
                </a:solidFill>
                <a:latin typeface="Arial"/>
                <a:ea typeface="Arial"/>
                <a:cs typeface="Arial"/>
                <a:sym typeface="Arial"/>
              </a:rPr>
              <a:t>Relevant</a:t>
            </a:r>
            <a:endParaRPr/>
          </a:p>
        </p:txBody>
      </p:sp>
      <p:sp>
        <p:nvSpPr>
          <p:cNvPr id="131" name="Google Shape;131;p5"/>
          <p:cNvSpPr/>
          <p:nvPr/>
        </p:nvSpPr>
        <p:spPr>
          <a:xfrm>
            <a:off x="2476500" y="4914900"/>
            <a:ext cx="8667750" cy="32385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350">
                <a:solidFill>
                  <a:srgbClr val="202833"/>
                </a:solidFill>
                <a:latin typeface="Arial"/>
                <a:ea typeface="Arial"/>
                <a:cs typeface="Arial"/>
                <a:sym typeface="Arial"/>
              </a:rPr>
              <a:t>Assesses a central ABM transaction and its safety checks</a:t>
            </a:r>
            <a:endParaRPr/>
          </a:p>
        </p:txBody>
      </p:sp>
      <p:sp>
        <p:nvSpPr>
          <p:cNvPr id="132" name="Google Shape;132;p5"/>
          <p:cNvSpPr/>
          <p:nvPr/>
        </p:nvSpPr>
        <p:spPr>
          <a:xfrm>
            <a:off x="742950" y="5400675"/>
            <a:ext cx="1619250" cy="28575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350">
                <a:solidFill>
                  <a:srgbClr val="8B1239"/>
                </a:solidFill>
                <a:latin typeface="Arial"/>
                <a:ea typeface="Arial"/>
                <a:cs typeface="Arial"/>
                <a:sym typeface="Arial"/>
              </a:rPr>
              <a:t>Time-bound</a:t>
            </a:r>
            <a:endParaRPr/>
          </a:p>
        </p:txBody>
      </p:sp>
      <p:sp>
        <p:nvSpPr>
          <p:cNvPr id="133" name="Google Shape;133;p5"/>
          <p:cNvSpPr/>
          <p:nvPr/>
        </p:nvSpPr>
        <p:spPr>
          <a:xfrm>
            <a:off x="2476500" y="5400675"/>
            <a:ext cx="8667750" cy="32385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350">
                <a:solidFill>
                  <a:srgbClr val="202833"/>
                </a:solidFill>
                <a:latin typeface="Arial"/>
                <a:ea typeface="Arial"/>
                <a:cs typeface="Arial"/>
                <a:sym typeface="Arial"/>
              </a:rPr>
              <a:t>Complete and report by D2 completion in Fall 2026</a:t>
            </a:r>
            <a:endParaRPr/>
          </a:p>
        </p:txBody>
      </p:sp>
      <p:sp>
        <p:nvSpPr>
          <p:cNvPr id="134" name="Google Shape;134;p5"/>
          <p:cNvSpPr/>
          <p:nvPr/>
        </p:nvSpPr>
        <p:spPr>
          <a:xfrm>
            <a:off x="552450" y="6257925"/>
            <a:ext cx="11049000" cy="2857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975">
                <a:solidFill>
                  <a:srgbClr val="596573"/>
                </a:solidFill>
                <a:latin typeface="Arial"/>
                <a:ea typeface="Arial"/>
                <a:cs typeface="Arial"/>
                <a:sym typeface="Arial"/>
              </a:rPr>
              <a:t>The numerical thresholds below are proposed team acceptance criteria for this course simulator, not industry or regulatory benchmarks. Confirm them as a group before implementation.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6"/>
          <p:cNvSpPr/>
          <p:nvPr/>
        </p:nvSpPr>
        <p:spPr>
          <a:xfrm>
            <a:off x="0" y="0"/>
            <a:ext cx="12192000"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6"/>
          <p:cNvSpPr/>
          <p:nvPr/>
        </p:nvSpPr>
        <p:spPr>
          <a:xfrm>
            <a:off x="0" y="0"/>
            <a:ext cx="12192000" cy="1066800"/>
          </a:xfrm>
          <a:prstGeom prst="rect">
            <a:avLst/>
          </a:prstGeom>
          <a:solidFill>
            <a:srgbClr val="8B12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6"/>
          <p:cNvSpPr/>
          <p:nvPr/>
        </p:nvSpPr>
        <p:spPr>
          <a:xfrm>
            <a:off x="514350" y="228600"/>
            <a:ext cx="11049000" cy="5905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1" lang="en-US" sz="2550">
                <a:solidFill>
                  <a:srgbClr val="FFFFFF"/>
                </a:solidFill>
                <a:latin typeface="Arial"/>
                <a:ea typeface="Arial"/>
                <a:cs typeface="Arial"/>
                <a:sym typeface="Arial"/>
              </a:rPr>
              <a:t>Problem 2 • questions and metrics (1 of 2)</a:t>
            </a:r>
            <a:endParaRPr/>
          </a:p>
        </p:txBody>
      </p:sp>
      <p:sp>
        <p:nvSpPr>
          <p:cNvPr id="143" name="Google Shape;143;p6"/>
          <p:cNvSpPr/>
          <p:nvPr/>
        </p:nvSpPr>
        <p:spPr>
          <a:xfrm>
            <a:off x="0" y="6629400"/>
            <a:ext cx="12192000" cy="228600"/>
          </a:xfrm>
          <a:prstGeom prst="rect">
            <a:avLst/>
          </a:prstGeom>
          <a:solidFill>
            <a:srgbClr val="6710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6"/>
          <p:cNvSpPr/>
          <p:nvPr/>
        </p:nvSpPr>
        <p:spPr>
          <a:xfrm>
            <a:off x="419100" y="6638925"/>
            <a:ext cx="8953500" cy="19050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900">
                <a:solidFill>
                  <a:srgbClr val="FFFFFF"/>
                </a:solidFill>
                <a:latin typeface="Arial"/>
                <a:ea typeface="Arial"/>
                <a:cs typeface="Arial"/>
                <a:sym typeface="Arial"/>
              </a:rPr>
              <a:t>SOEN 6611 • SECTION D • FALL 2026</a:t>
            </a:r>
            <a:endParaRPr/>
          </a:p>
        </p:txBody>
      </p:sp>
      <p:sp>
        <p:nvSpPr>
          <p:cNvPr id="145" name="Google Shape;145;p6"/>
          <p:cNvSpPr/>
          <p:nvPr/>
        </p:nvSpPr>
        <p:spPr>
          <a:xfrm>
            <a:off x="11334750" y="6638925"/>
            <a:ext cx="457200" cy="190500"/>
          </a:xfrm>
          <a:prstGeom prst="rect">
            <a:avLst/>
          </a:prstGeom>
          <a:noFill/>
          <a:ln>
            <a:noFill/>
          </a:ln>
        </p:spPr>
        <p:txBody>
          <a:bodyPr anchorCtr="0" anchor="ctr" bIns="19050" lIns="19050" spcFirstLastPara="1" rIns="19050" wrap="square" tIns="19050">
            <a:normAutofit/>
          </a:bodyPr>
          <a:lstStyle/>
          <a:p>
            <a:pPr indent="0" lvl="0" marL="0" marR="0" rtl="0" algn="r">
              <a:spcBef>
                <a:spcPts val="0"/>
              </a:spcBef>
              <a:spcAft>
                <a:spcPts val="0"/>
              </a:spcAft>
              <a:buNone/>
            </a:pPr>
            <a:r>
              <a:rPr b="1" lang="en-US" sz="900">
                <a:solidFill>
                  <a:srgbClr val="FFFFFF"/>
                </a:solidFill>
                <a:latin typeface="Arial"/>
                <a:ea typeface="Arial"/>
                <a:cs typeface="Arial"/>
                <a:sym typeface="Arial"/>
              </a:rPr>
              <a:t>06</a:t>
            </a:r>
            <a:endParaRPr/>
          </a:p>
        </p:txBody>
      </p:sp>
      <p:sp>
        <p:nvSpPr>
          <p:cNvPr id="146" name="Google Shape;146;p6"/>
          <p:cNvSpPr/>
          <p:nvPr/>
        </p:nvSpPr>
        <p:spPr>
          <a:xfrm>
            <a:off x="571500" y="1743075"/>
            <a:ext cx="2857500" cy="419100"/>
          </a:xfrm>
          <a:prstGeom prst="rect">
            <a:avLst/>
          </a:prstGeom>
          <a:solidFill>
            <a:srgbClr val="19334E"/>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6"/>
          <p:cNvSpPr/>
          <p:nvPr/>
        </p:nvSpPr>
        <p:spPr>
          <a:xfrm>
            <a:off x="647700" y="1781175"/>
            <a:ext cx="2705100" cy="34290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1" lang="en-US" sz="1163">
                <a:solidFill>
                  <a:srgbClr val="FFFFFF"/>
                </a:solidFill>
                <a:latin typeface="Arial"/>
                <a:ea typeface="Arial"/>
                <a:cs typeface="Arial"/>
                <a:sym typeface="Arial"/>
              </a:rPr>
              <a:t>Question</a:t>
            </a:r>
            <a:endParaRPr/>
          </a:p>
        </p:txBody>
      </p:sp>
      <p:sp>
        <p:nvSpPr>
          <p:cNvPr id="148" name="Google Shape;148;p6"/>
          <p:cNvSpPr/>
          <p:nvPr/>
        </p:nvSpPr>
        <p:spPr>
          <a:xfrm>
            <a:off x="3429000" y="1743075"/>
            <a:ext cx="3829050" cy="419100"/>
          </a:xfrm>
          <a:prstGeom prst="rect">
            <a:avLst/>
          </a:prstGeom>
          <a:solidFill>
            <a:srgbClr val="19334E"/>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6"/>
          <p:cNvSpPr/>
          <p:nvPr/>
        </p:nvSpPr>
        <p:spPr>
          <a:xfrm>
            <a:off x="3505200" y="1781175"/>
            <a:ext cx="3676650" cy="34290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1" lang="en-US" sz="1163">
                <a:solidFill>
                  <a:srgbClr val="FFFFFF"/>
                </a:solidFill>
                <a:latin typeface="Arial"/>
                <a:ea typeface="Arial"/>
                <a:cs typeface="Arial"/>
                <a:sym typeface="Arial"/>
              </a:rPr>
              <a:t>Metric • unit • calculation</a:t>
            </a:r>
            <a:endParaRPr/>
          </a:p>
        </p:txBody>
      </p:sp>
      <p:sp>
        <p:nvSpPr>
          <p:cNvPr id="150" name="Google Shape;150;p6"/>
          <p:cNvSpPr/>
          <p:nvPr/>
        </p:nvSpPr>
        <p:spPr>
          <a:xfrm>
            <a:off x="7258050" y="1743075"/>
            <a:ext cx="1905000" cy="419100"/>
          </a:xfrm>
          <a:prstGeom prst="rect">
            <a:avLst/>
          </a:prstGeom>
          <a:solidFill>
            <a:srgbClr val="19334E"/>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6"/>
          <p:cNvSpPr/>
          <p:nvPr/>
        </p:nvSpPr>
        <p:spPr>
          <a:xfrm>
            <a:off x="7334250" y="1781175"/>
            <a:ext cx="1752600" cy="34290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1" lang="en-US" sz="1163">
                <a:solidFill>
                  <a:srgbClr val="FFFFFF"/>
                </a:solidFill>
                <a:latin typeface="Arial"/>
                <a:ea typeface="Arial"/>
                <a:cs typeface="Arial"/>
                <a:sym typeface="Arial"/>
              </a:rPr>
              <a:t>Data source</a:t>
            </a:r>
            <a:endParaRPr/>
          </a:p>
        </p:txBody>
      </p:sp>
      <p:sp>
        <p:nvSpPr>
          <p:cNvPr id="152" name="Google Shape;152;p6"/>
          <p:cNvSpPr/>
          <p:nvPr/>
        </p:nvSpPr>
        <p:spPr>
          <a:xfrm>
            <a:off x="9163050" y="1743075"/>
            <a:ext cx="2457450" cy="419100"/>
          </a:xfrm>
          <a:prstGeom prst="rect">
            <a:avLst/>
          </a:prstGeom>
          <a:solidFill>
            <a:srgbClr val="19334E"/>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6"/>
          <p:cNvSpPr/>
          <p:nvPr/>
        </p:nvSpPr>
        <p:spPr>
          <a:xfrm>
            <a:off x="9239250" y="1781175"/>
            <a:ext cx="2305050" cy="34290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1" lang="en-US" sz="1163">
                <a:solidFill>
                  <a:srgbClr val="FFFFFF"/>
                </a:solidFill>
                <a:latin typeface="Arial"/>
                <a:ea typeface="Arial"/>
                <a:cs typeface="Arial"/>
                <a:sym typeface="Arial"/>
              </a:rPr>
              <a:t>Interpretation / target</a:t>
            </a:r>
            <a:endParaRPr/>
          </a:p>
        </p:txBody>
      </p:sp>
      <p:sp>
        <p:nvSpPr>
          <p:cNvPr id="154" name="Google Shape;154;p6"/>
          <p:cNvSpPr/>
          <p:nvPr/>
        </p:nvSpPr>
        <p:spPr>
          <a:xfrm>
            <a:off x="571500" y="2162175"/>
            <a:ext cx="2857500" cy="1304925"/>
          </a:xfrm>
          <a:prstGeom prst="rect">
            <a:avLst/>
          </a:prstGeom>
          <a:solidFill>
            <a:srgbClr val="F4F6F8"/>
          </a:solidFill>
          <a:ln cap="flat" cmpd="sng" w="95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6"/>
          <p:cNvSpPr/>
          <p:nvPr/>
        </p:nvSpPr>
        <p:spPr>
          <a:xfrm>
            <a:off x="657225" y="2247900"/>
            <a:ext cx="2686050" cy="11334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163">
                <a:solidFill>
                  <a:srgbClr val="19334E"/>
                </a:solidFill>
                <a:latin typeface="Arial"/>
                <a:ea typeface="Arial"/>
                <a:cs typeface="Arial"/>
                <a:sym typeface="Arial"/>
              </a:rPr>
              <a:t>Q1 • What proportion of valid CAD withdrawal scenarios complete with the expected result?</a:t>
            </a:r>
            <a:endParaRPr/>
          </a:p>
        </p:txBody>
      </p:sp>
      <p:sp>
        <p:nvSpPr>
          <p:cNvPr id="156" name="Google Shape;156;p6"/>
          <p:cNvSpPr/>
          <p:nvPr/>
        </p:nvSpPr>
        <p:spPr>
          <a:xfrm>
            <a:off x="3429000" y="2162175"/>
            <a:ext cx="3829050" cy="1304925"/>
          </a:xfrm>
          <a:prstGeom prst="rect">
            <a:avLst/>
          </a:prstGeom>
          <a:solidFill>
            <a:srgbClr val="F4F6F8"/>
          </a:solidFill>
          <a:ln cap="flat" cmpd="sng" w="95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6"/>
          <p:cNvSpPr/>
          <p:nvPr/>
        </p:nvSpPr>
        <p:spPr>
          <a:xfrm>
            <a:off x="3514725" y="2247900"/>
            <a:ext cx="3657600" cy="11334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088">
                <a:solidFill>
                  <a:srgbClr val="202833"/>
                </a:solidFill>
                <a:latin typeface="Arial"/>
                <a:ea typeface="Arial"/>
                <a:cs typeface="Arial"/>
                <a:sym typeface="Arial"/>
              </a:rPr>
              <a:t>M1 • Valid-completion rate (%) = correct successful valid withdrawals ÷ all valid attempts × 100. It measures valid-flow success.</a:t>
            </a:r>
            <a:endParaRPr/>
          </a:p>
        </p:txBody>
      </p:sp>
      <p:sp>
        <p:nvSpPr>
          <p:cNvPr id="158" name="Google Shape;158;p6"/>
          <p:cNvSpPr/>
          <p:nvPr/>
        </p:nvSpPr>
        <p:spPr>
          <a:xfrm>
            <a:off x="7258050" y="2162175"/>
            <a:ext cx="1905000" cy="1304925"/>
          </a:xfrm>
          <a:prstGeom prst="rect">
            <a:avLst/>
          </a:prstGeom>
          <a:solidFill>
            <a:srgbClr val="F4F6F8"/>
          </a:solidFill>
          <a:ln cap="flat" cmpd="sng" w="95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6"/>
          <p:cNvSpPr/>
          <p:nvPr/>
        </p:nvSpPr>
        <p:spPr>
          <a:xfrm>
            <a:off x="7343775" y="2247900"/>
            <a:ext cx="1733550" cy="11334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088">
                <a:solidFill>
                  <a:srgbClr val="202833"/>
                </a:solidFill>
                <a:latin typeface="Arial"/>
                <a:ea typeface="Arial"/>
                <a:cs typeface="Arial"/>
                <a:sym typeface="Arial"/>
              </a:rPr>
              <a:t>Predeclared scenario list and D2 transaction/test log: inputs, expected result, actual result.</a:t>
            </a:r>
            <a:endParaRPr/>
          </a:p>
        </p:txBody>
      </p:sp>
      <p:sp>
        <p:nvSpPr>
          <p:cNvPr id="160" name="Google Shape;160;p6"/>
          <p:cNvSpPr/>
          <p:nvPr/>
        </p:nvSpPr>
        <p:spPr>
          <a:xfrm>
            <a:off x="9163050" y="2162175"/>
            <a:ext cx="2457450" cy="1304925"/>
          </a:xfrm>
          <a:prstGeom prst="rect">
            <a:avLst/>
          </a:prstGeom>
          <a:solidFill>
            <a:srgbClr val="F4F6F8"/>
          </a:solidFill>
          <a:ln cap="flat" cmpd="sng" w="95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6"/>
          <p:cNvSpPr/>
          <p:nvPr/>
        </p:nvSpPr>
        <p:spPr>
          <a:xfrm>
            <a:off x="9248775" y="2247900"/>
            <a:ext cx="2286000" cy="11334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088">
                <a:solidFill>
                  <a:srgbClr val="202833"/>
                </a:solidFill>
                <a:latin typeface="Arial"/>
                <a:ea typeface="Arial"/>
                <a:cs typeface="Arial"/>
                <a:sym typeface="Arial"/>
              </a:rPr>
              <a:t>≥95% of valid scenarios.</a:t>
            </a:r>
            <a:endParaRPr/>
          </a:p>
        </p:txBody>
      </p:sp>
      <p:sp>
        <p:nvSpPr>
          <p:cNvPr id="162" name="Google Shape;162;p6"/>
          <p:cNvSpPr/>
          <p:nvPr/>
        </p:nvSpPr>
        <p:spPr>
          <a:xfrm>
            <a:off x="571500" y="3467100"/>
            <a:ext cx="2857500" cy="1304925"/>
          </a:xfrm>
          <a:prstGeom prst="rect">
            <a:avLst/>
          </a:prstGeom>
          <a:solidFill>
            <a:srgbClr val="FFFFFF"/>
          </a:solidFill>
          <a:ln cap="flat" cmpd="sng" w="95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6"/>
          <p:cNvSpPr/>
          <p:nvPr/>
        </p:nvSpPr>
        <p:spPr>
          <a:xfrm>
            <a:off x="657225" y="3552825"/>
            <a:ext cx="2686050" cy="11334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163">
                <a:solidFill>
                  <a:srgbClr val="19334E"/>
                </a:solidFill>
                <a:latin typeface="Arial"/>
                <a:ea typeface="Arial"/>
                <a:cs typeface="Arial"/>
                <a:sym typeface="Arial"/>
              </a:rPr>
              <a:t>Q2 • How quickly does iBank return a withdrawal result?</a:t>
            </a:r>
            <a:endParaRPr/>
          </a:p>
        </p:txBody>
      </p:sp>
      <p:sp>
        <p:nvSpPr>
          <p:cNvPr id="164" name="Google Shape;164;p6"/>
          <p:cNvSpPr/>
          <p:nvPr/>
        </p:nvSpPr>
        <p:spPr>
          <a:xfrm>
            <a:off x="3429000" y="3467100"/>
            <a:ext cx="3829050" cy="1304925"/>
          </a:xfrm>
          <a:prstGeom prst="rect">
            <a:avLst/>
          </a:prstGeom>
          <a:solidFill>
            <a:srgbClr val="FFFFFF"/>
          </a:solidFill>
          <a:ln cap="flat" cmpd="sng" w="95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6"/>
          <p:cNvSpPr/>
          <p:nvPr/>
        </p:nvSpPr>
        <p:spPr>
          <a:xfrm>
            <a:off x="3514725" y="3552825"/>
            <a:ext cx="3657600" cy="11334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088">
                <a:solidFill>
                  <a:srgbClr val="202833"/>
                </a:solidFill>
                <a:latin typeface="Arial"/>
                <a:ea typeface="Arial"/>
                <a:cs typeface="Arial"/>
                <a:sym typeface="Arial"/>
              </a:rPr>
              <a:t>M2 • Median response time (seconds) from submit to displayed result. It measures response speed in the test suite.</a:t>
            </a:r>
            <a:endParaRPr/>
          </a:p>
        </p:txBody>
      </p:sp>
      <p:sp>
        <p:nvSpPr>
          <p:cNvPr id="166" name="Google Shape;166;p6"/>
          <p:cNvSpPr/>
          <p:nvPr/>
        </p:nvSpPr>
        <p:spPr>
          <a:xfrm>
            <a:off x="7258050" y="3467100"/>
            <a:ext cx="1905000" cy="1304925"/>
          </a:xfrm>
          <a:prstGeom prst="rect">
            <a:avLst/>
          </a:prstGeom>
          <a:solidFill>
            <a:srgbClr val="FFFFFF"/>
          </a:solidFill>
          <a:ln cap="flat" cmpd="sng" w="95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6"/>
          <p:cNvSpPr/>
          <p:nvPr/>
        </p:nvSpPr>
        <p:spPr>
          <a:xfrm>
            <a:off x="7343775" y="3552825"/>
            <a:ext cx="1733550" cy="11334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088">
                <a:solidFill>
                  <a:srgbClr val="202833"/>
                </a:solidFill>
                <a:latin typeface="Arial"/>
                <a:ea typeface="Arial"/>
                <a:cs typeface="Arial"/>
                <a:sym typeface="Arial"/>
              </a:rPr>
              <a:t>Timestamped D2 test log or instrumented simulator; record each execution.</a:t>
            </a:r>
            <a:endParaRPr/>
          </a:p>
        </p:txBody>
      </p:sp>
      <p:sp>
        <p:nvSpPr>
          <p:cNvPr id="168" name="Google Shape;168;p6"/>
          <p:cNvSpPr/>
          <p:nvPr/>
        </p:nvSpPr>
        <p:spPr>
          <a:xfrm>
            <a:off x="9163050" y="3467100"/>
            <a:ext cx="2457450" cy="1304925"/>
          </a:xfrm>
          <a:prstGeom prst="rect">
            <a:avLst/>
          </a:prstGeom>
          <a:solidFill>
            <a:srgbClr val="FFFFFF"/>
          </a:solidFill>
          <a:ln cap="flat" cmpd="sng" w="95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6"/>
          <p:cNvSpPr/>
          <p:nvPr/>
        </p:nvSpPr>
        <p:spPr>
          <a:xfrm>
            <a:off x="9248775" y="3552825"/>
            <a:ext cx="2286000" cy="11334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088">
                <a:solidFill>
                  <a:srgbClr val="202833"/>
                </a:solidFill>
                <a:latin typeface="Arial"/>
                <a:ea typeface="Arial"/>
                <a:cs typeface="Arial"/>
                <a:sym typeface="Arial"/>
              </a:rPr>
              <a:t>Median ≤3.0 seconds.</a:t>
            </a:r>
            <a:endParaRPr/>
          </a:p>
        </p:txBody>
      </p:sp>
      <p:sp>
        <p:nvSpPr>
          <p:cNvPr id="170" name="Google Shape;170;p6"/>
          <p:cNvSpPr/>
          <p:nvPr/>
        </p:nvSpPr>
        <p:spPr>
          <a:xfrm>
            <a:off x="571500" y="4772025"/>
            <a:ext cx="2857500" cy="1304925"/>
          </a:xfrm>
          <a:prstGeom prst="rect">
            <a:avLst/>
          </a:prstGeom>
          <a:solidFill>
            <a:srgbClr val="F4F6F8"/>
          </a:solidFill>
          <a:ln cap="flat" cmpd="sng" w="95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6"/>
          <p:cNvSpPr/>
          <p:nvPr/>
        </p:nvSpPr>
        <p:spPr>
          <a:xfrm>
            <a:off x="657225" y="4857750"/>
            <a:ext cx="2686050" cy="11334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163">
                <a:solidFill>
                  <a:srgbClr val="19334E"/>
                </a:solidFill>
                <a:latin typeface="Arial"/>
                <a:ea typeface="Arial"/>
                <a:cs typeface="Arial"/>
                <a:sym typeface="Arial"/>
              </a:rPr>
              <a:t>Q3 • How often are invalid requests rejected with the expected helpful message?</a:t>
            </a:r>
            <a:endParaRPr/>
          </a:p>
        </p:txBody>
      </p:sp>
      <p:sp>
        <p:nvSpPr>
          <p:cNvPr id="172" name="Google Shape;172;p6"/>
          <p:cNvSpPr/>
          <p:nvPr/>
        </p:nvSpPr>
        <p:spPr>
          <a:xfrm>
            <a:off x="3429000" y="4772025"/>
            <a:ext cx="3829050" cy="1304925"/>
          </a:xfrm>
          <a:prstGeom prst="rect">
            <a:avLst/>
          </a:prstGeom>
          <a:solidFill>
            <a:srgbClr val="F4F6F8"/>
          </a:solidFill>
          <a:ln cap="flat" cmpd="sng" w="95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6"/>
          <p:cNvSpPr/>
          <p:nvPr/>
        </p:nvSpPr>
        <p:spPr>
          <a:xfrm>
            <a:off x="3514725" y="4857750"/>
            <a:ext cx="3657600" cy="11334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088">
                <a:solidFill>
                  <a:srgbClr val="202833"/>
                </a:solidFill>
                <a:latin typeface="Arial"/>
                <a:ea typeface="Arial"/>
                <a:cs typeface="Arial"/>
                <a:sym typeface="Arial"/>
              </a:rPr>
              <a:t>M3 • Correct-rejection rate (%) = invalid scenarios with expected rejection and message ÷ all invalid scenarios × 100. It measures exception handling.</a:t>
            </a:r>
            <a:endParaRPr/>
          </a:p>
        </p:txBody>
      </p:sp>
      <p:sp>
        <p:nvSpPr>
          <p:cNvPr id="174" name="Google Shape;174;p6"/>
          <p:cNvSpPr/>
          <p:nvPr/>
        </p:nvSpPr>
        <p:spPr>
          <a:xfrm>
            <a:off x="7258050" y="4772025"/>
            <a:ext cx="1905000" cy="1304925"/>
          </a:xfrm>
          <a:prstGeom prst="rect">
            <a:avLst/>
          </a:prstGeom>
          <a:solidFill>
            <a:srgbClr val="F4F6F8"/>
          </a:solidFill>
          <a:ln cap="flat" cmpd="sng" w="95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6"/>
          <p:cNvSpPr/>
          <p:nvPr/>
        </p:nvSpPr>
        <p:spPr>
          <a:xfrm>
            <a:off x="7343775" y="4857750"/>
            <a:ext cx="1733550" cy="11334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088">
                <a:solidFill>
                  <a:srgbClr val="202833"/>
                </a:solidFill>
                <a:latin typeface="Arial"/>
                <a:ea typeface="Arial"/>
                <a:cs typeface="Arial"/>
                <a:sym typeface="Arial"/>
              </a:rPr>
              <a:t>Expected/actual outcomes and message fields in the D2 test log.</a:t>
            </a:r>
            <a:endParaRPr/>
          </a:p>
        </p:txBody>
      </p:sp>
      <p:sp>
        <p:nvSpPr>
          <p:cNvPr id="176" name="Google Shape;176;p6"/>
          <p:cNvSpPr/>
          <p:nvPr/>
        </p:nvSpPr>
        <p:spPr>
          <a:xfrm>
            <a:off x="9163050" y="4772025"/>
            <a:ext cx="2457450" cy="1304925"/>
          </a:xfrm>
          <a:prstGeom prst="rect">
            <a:avLst/>
          </a:prstGeom>
          <a:solidFill>
            <a:srgbClr val="F4F6F8"/>
          </a:solidFill>
          <a:ln cap="flat" cmpd="sng" w="95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6"/>
          <p:cNvSpPr/>
          <p:nvPr/>
        </p:nvSpPr>
        <p:spPr>
          <a:xfrm>
            <a:off x="9248775" y="4857750"/>
            <a:ext cx="2286000" cy="11334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088">
                <a:solidFill>
                  <a:srgbClr val="202833"/>
                </a:solidFill>
                <a:latin typeface="Arial"/>
                <a:ea typeface="Arial"/>
                <a:cs typeface="Arial"/>
                <a:sym typeface="Arial"/>
              </a:rPr>
              <a:t>100% of predeclared invalid scenarios.</a:t>
            </a:r>
            <a:endParaRPr/>
          </a:p>
        </p:txBody>
      </p:sp>
      <p:sp>
        <p:nvSpPr>
          <p:cNvPr id="178" name="Google Shape;178;p6"/>
          <p:cNvSpPr/>
          <p:nvPr/>
        </p:nvSpPr>
        <p:spPr>
          <a:xfrm>
            <a:off x="552450" y="6257925"/>
            <a:ext cx="11049000" cy="2857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975">
                <a:solidFill>
                  <a:srgbClr val="596573"/>
                </a:solidFill>
                <a:latin typeface="Arial"/>
                <a:ea typeface="Arial"/>
                <a:cs typeface="Arial"/>
                <a:sym typeface="Arial"/>
              </a:rPr>
              <a:t>Target population: the finite, predeclared suite of simulated scenarios, not real customers. Use the same test log and state records as the data source.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7"/>
          <p:cNvSpPr/>
          <p:nvPr/>
        </p:nvSpPr>
        <p:spPr>
          <a:xfrm>
            <a:off x="0" y="0"/>
            <a:ext cx="12192000"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7"/>
          <p:cNvSpPr/>
          <p:nvPr/>
        </p:nvSpPr>
        <p:spPr>
          <a:xfrm>
            <a:off x="0" y="0"/>
            <a:ext cx="12192000" cy="1066800"/>
          </a:xfrm>
          <a:prstGeom prst="rect">
            <a:avLst/>
          </a:prstGeom>
          <a:solidFill>
            <a:srgbClr val="8B12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7"/>
          <p:cNvSpPr/>
          <p:nvPr/>
        </p:nvSpPr>
        <p:spPr>
          <a:xfrm>
            <a:off x="514350" y="228600"/>
            <a:ext cx="11049000" cy="5905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1" lang="en-US" sz="2550">
                <a:solidFill>
                  <a:srgbClr val="FFFFFF"/>
                </a:solidFill>
                <a:latin typeface="Arial"/>
                <a:ea typeface="Arial"/>
                <a:cs typeface="Arial"/>
                <a:sym typeface="Arial"/>
              </a:rPr>
              <a:t>Problem 2 • questions and metrics (2 of 2)</a:t>
            </a:r>
            <a:endParaRPr/>
          </a:p>
        </p:txBody>
      </p:sp>
      <p:sp>
        <p:nvSpPr>
          <p:cNvPr id="187" name="Google Shape;187;p7"/>
          <p:cNvSpPr/>
          <p:nvPr/>
        </p:nvSpPr>
        <p:spPr>
          <a:xfrm>
            <a:off x="0" y="6629400"/>
            <a:ext cx="12192000" cy="228600"/>
          </a:xfrm>
          <a:prstGeom prst="rect">
            <a:avLst/>
          </a:prstGeom>
          <a:solidFill>
            <a:srgbClr val="6710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7"/>
          <p:cNvSpPr/>
          <p:nvPr/>
        </p:nvSpPr>
        <p:spPr>
          <a:xfrm>
            <a:off x="419100" y="6638925"/>
            <a:ext cx="8953500" cy="19050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900">
                <a:solidFill>
                  <a:srgbClr val="FFFFFF"/>
                </a:solidFill>
                <a:latin typeface="Arial"/>
                <a:ea typeface="Arial"/>
                <a:cs typeface="Arial"/>
                <a:sym typeface="Arial"/>
              </a:rPr>
              <a:t>SOEN 6611 • SECTION D • FALL 2026</a:t>
            </a:r>
            <a:endParaRPr/>
          </a:p>
        </p:txBody>
      </p:sp>
      <p:sp>
        <p:nvSpPr>
          <p:cNvPr id="189" name="Google Shape;189;p7"/>
          <p:cNvSpPr/>
          <p:nvPr/>
        </p:nvSpPr>
        <p:spPr>
          <a:xfrm>
            <a:off x="11334750" y="6638925"/>
            <a:ext cx="457200" cy="190500"/>
          </a:xfrm>
          <a:prstGeom prst="rect">
            <a:avLst/>
          </a:prstGeom>
          <a:noFill/>
          <a:ln>
            <a:noFill/>
          </a:ln>
        </p:spPr>
        <p:txBody>
          <a:bodyPr anchorCtr="0" anchor="ctr" bIns="19050" lIns="19050" spcFirstLastPara="1" rIns="19050" wrap="square" tIns="19050">
            <a:normAutofit/>
          </a:bodyPr>
          <a:lstStyle/>
          <a:p>
            <a:pPr indent="0" lvl="0" marL="0" marR="0" rtl="0" algn="r">
              <a:spcBef>
                <a:spcPts val="0"/>
              </a:spcBef>
              <a:spcAft>
                <a:spcPts val="0"/>
              </a:spcAft>
              <a:buNone/>
            </a:pPr>
            <a:r>
              <a:rPr b="1" lang="en-US" sz="900">
                <a:solidFill>
                  <a:srgbClr val="FFFFFF"/>
                </a:solidFill>
                <a:latin typeface="Arial"/>
                <a:ea typeface="Arial"/>
                <a:cs typeface="Arial"/>
                <a:sym typeface="Arial"/>
              </a:rPr>
              <a:t>07</a:t>
            </a:r>
            <a:endParaRPr/>
          </a:p>
        </p:txBody>
      </p:sp>
      <p:sp>
        <p:nvSpPr>
          <p:cNvPr id="190" name="Google Shape;190;p7"/>
          <p:cNvSpPr/>
          <p:nvPr/>
        </p:nvSpPr>
        <p:spPr>
          <a:xfrm>
            <a:off x="571500" y="1743075"/>
            <a:ext cx="2857500" cy="419100"/>
          </a:xfrm>
          <a:prstGeom prst="rect">
            <a:avLst/>
          </a:prstGeom>
          <a:solidFill>
            <a:srgbClr val="19334E"/>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7"/>
          <p:cNvSpPr/>
          <p:nvPr/>
        </p:nvSpPr>
        <p:spPr>
          <a:xfrm>
            <a:off x="647700" y="1781175"/>
            <a:ext cx="2705100" cy="34290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1" lang="en-US" sz="1163">
                <a:solidFill>
                  <a:srgbClr val="FFFFFF"/>
                </a:solidFill>
                <a:latin typeface="Arial"/>
                <a:ea typeface="Arial"/>
                <a:cs typeface="Arial"/>
                <a:sym typeface="Arial"/>
              </a:rPr>
              <a:t>Question</a:t>
            </a:r>
            <a:endParaRPr/>
          </a:p>
        </p:txBody>
      </p:sp>
      <p:sp>
        <p:nvSpPr>
          <p:cNvPr id="192" name="Google Shape;192;p7"/>
          <p:cNvSpPr/>
          <p:nvPr/>
        </p:nvSpPr>
        <p:spPr>
          <a:xfrm>
            <a:off x="3429000" y="1743075"/>
            <a:ext cx="3829050" cy="419100"/>
          </a:xfrm>
          <a:prstGeom prst="rect">
            <a:avLst/>
          </a:prstGeom>
          <a:solidFill>
            <a:srgbClr val="19334E"/>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7"/>
          <p:cNvSpPr/>
          <p:nvPr/>
        </p:nvSpPr>
        <p:spPr>
          <a:xfrm>
            <a:off x="3505200" y="1781175"/>
            <a:ext cx="3676650" cy="34290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1" lang="en-US" sz="1163">
                <a:solidFill>
                  <a:srgbClr val="FFFFFF"/>
                </a:solidFill>
                <a:latin typeface="Arial"/>
                <a:ea typeface="Arial"/>
                <a:cs typeface="Arial"/>
                <a:sym typeface="Arial"/>
              </a:rPr>
              <a:t>Metric • unit • calculation</a:t>
            </a:r>
            <a:endParaRPr/>
          </a:p>
        </p:txBody>
      </p:sp>
      <p:sp>
        <p:nvSpPr>
          <p:cNvPr id="194" name="Google Shape;194;p7"/>
          <p:cNvSpPr/>
          <p:nvPr/>
        </p:nvSpPr>
        <p:spPr>
          <a:xfrm>
            <a:off x="7258050" y="1743075"/>
            <a:ext cx="1905000" cy="419100"/>
          </a:xfrm>
          <a:prstGeom prst="rect">
            <a:avLst/>
          </a:prstGeom>
          <a:solidFill>
            <a:srgbClr val="19334E"/>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7"/>
          <p:cNvSpPr/>
          <p:nvPr/>
        </p:nvSpPr>
        <p:spPr>
          <a:xfrm>
            <a:off x="7334250" y="1781175"/>
            <a:ext cx="1752600" cy="34290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1" lang="en-US" sz="1163">
                <a:solidFill>
                  <a:srgbClr val="FFFFFF"/>
                </a:solidFill>
                <a:latin typeface="Arial"/>
                <a:ea typeface="Arial"/>
                <a:cs typeface="Arial"/>
                <a:sym typeface="Arial"/>
              </a:rPr>
              <a:t>Data source</a:t>
            </a:r>
            <a:endParaRPr/>
          </a:p>
        </p:txBody>
      </p:sp>
      <p:sp>
        <p:nvSpPr>
          <p:cNvPr id="196" name="Google Shape;196;p7"/>
          <p:cNvSpPr/>
          <p:nvPr/>
        </p:nvSpPr>
        <p:spPr>
          <a:xfrm>
            <a:off x="9163050" y="1743075"/>
            <a:ext cx="2457450" cy="419100"/>
          </a:xfrm>
          <a:prstGeom prst="rect">
            <a:avLst/>
          </a:prstGeom>
          <a:solidFill>
            <a:srgbClr val="19334E"/>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7"/>
          <p:cNvSpPr/>
          <p:nvPr/>
        </p:nvSpPr>
        <p:spPr>
          <a:xfrm>
            <a:off x="9239250" y="1781175"/>
            <a:ext cx="2305050" cy="34290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1" lang="en-US" sz="1163">
                <a:solidFill>
                  <a:srgbClr val="FFFFFF"/>
                </a:solidFill>
                <a:latin typeface="Arial"/>
                <a:ea typeface="Arial"/>
                <a:cs typeface="Arial"/>
                <a:sym typeface="Arial"/>
              </a:rPr>
              <a:t>Interpretation / target</a:t>
            </a:r>
            <a:endParaRPr/>
          </a:p>
        </p:txBody>
      </p:sp>
      <p:sp>
        <p:nvSpPr>
          <p:cNvPr id="198" name="Google Shape;198;p7"/>
          <p:cNvSpPr/>
          <p:nvPr/>
        </p:nvSpPr>
        <p:spPr>
          <a:xfrm>
            <a:off x="571500" y="2162175"/>
            <a:ext cx="2857500" cy="1304925"/>
          </a:xfrm>
          <a:prstGeom prst="rect">
            <a:avLst/>
          </a:prstGeom>
          <a:solidFill>
            <a:srgbClr val="F4F6F8"/>
          </a:solidFill>
          <a:ln cap="flat" cmpd="sng" w="95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7"/>
          <p:cNvSpPr/>
          <p:nvPr/>
        </p:nvSpPr>
        <p:spPr>
          <a:xfrm>
            <a:off x="657225" y="2247900"/>
            <a:ext cx="2686050" cy="11334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163">
                <a:solidFill>
                  <a:srgbClr val="19334E"/>
                </a:solidFill>
                <a:latin typeface="Arial"/>
                <a:ea typeface="Arial"/>
                <a:cs typeface="Arial"/>
                <a:sym typeface="Arial"/>
              </a:rPr>
              <a:t>Q4 • Can a withdrawal succeed after the three-failed-PIN lockout rule activates?</a:t>
            </a:r>
            <a:endParaRPr/>
          </a:p>
        </p:txBody>
      </p:sp>
      <p:sp>
        <p:nvSpPr>
          <p:cNvPr id="200" name="Google Shape;200;p7"/>
          <p:cNvSpPr/>
          <p:nvPr/>
        </p:nvSpPr>
        <p:spPr>
          <a:xfrm>
            <a:off x="3429000" y="2162175"/>
            <a:ext cx="3829050" cy="1304925"/>
          </a:xfrm>
          <a:prstGeom prst="rect">
            <a:avLst/>
          </a:prstGeom>
          <a:solidFill>
            <a:srgbClr val="F4F6F8"/>
          </a:solidFill>
          <a:ln cap="flat" cmpd="sng" w="95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7"/>
          <p:cNvSpPr/>
          <p:nvPr/>
        </p:nvSpPr>
        <p:spPr>
          <a:xfrm>
            <a:off x="3514725" y="2247900"/>
            <a:ext cx="3657600" cy="11334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088">
                <a:solidFill>
                  <a:srgbClr val="202833"/>
                </a:solidFill>
                <a:latin typeface="Arial"/>
                <a:ea typeface="Arial"/>
                <a:cs typeface="Arial"/>
                <a:sym typeface="Arial"/>
              </a:rPr>
              <a:t>M4 • Successful withdrawals after lockout (count). It directly tests whether the locked session blocks withdrawal.</a:t>
            </a:r>
            <a:endParaRPr/>
          </a:p>
        </p:txBody>
      </p:sp>
      <p:sp>
        <p:nvSpPr>
          <p:cNvPr id="202" name="Google Shape;202;p7"/>
          <p:cNvSpPr/>
          <p:nvPr/>
        </p:nvSpPr>
        <p:spPr>
          <a:xfrm>
            <a:off x="7258050" y="2162175"/>
            <a:ext cx="1905000" cy="1304925"/>
          </a:xfrm>
          <a:prstGeom prst="rect">
            <a:avLst/>
          </a:prstGeom>
          <a:solidFill>
            <a:srgbClr val="F4F6F8"/>
          </a:solidFill>
          <a:ln cap="flat" cmpd="sng" w="95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7"/>
          <p:cNvSpPr/>
          <p:nvPr/>
        </p:nvSpPr>
        <p:spPr>
          <a:xfrm>
            <a:off x="7343775" y="2247900"/>
            <a:ext cx="1733550" cy="11334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088">
                <a:solidFill>
                  <a:srgbClr val="202833"/>
                </a:solidFill>
                <a:latin typeface="Arial"/>
                <a:ea typeface="Arial"/>
                <a:cs typeface="Arial"/>
                <a:sym typeface="Arial"/>
              </a:rPr>
              <a:t>Lockout scenarios and transaction/test log; inspect the simulator’s session state.</a:t>
            </a:r>
            <a:endParaRPr/>
          </a:p>
        </p:txBody>
      </p:sp>
      <p:sp>
        <p:nvSpPr>
          <p:cNvPr id="204" name="Google Shape;204;p7"/>
          <p:cNvSpPr/>
          <p:nvPr/>
        </p:nvSpPr>
        <p:spPr>
          <a:xfrm>
            <a:off x="9163050" y="2162175"/>
            <a:ext cx="2457450" cy="1304925"/>
          </a:xfrm>
          <a:prstGeom prst="rect">
            <a:avLst/>
          </a:prstGeom>
          <a:solidFill>
            <a:srgbClr val="F4F6F8"/>
          </a:solidFill>
          <a:ln cap="flat" cmpd="sng" w="95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7"/>
          <p:cNvSpPr/>
          <p:nvPr/>
        </p:nvSpPr>
        <p:spPr>
          <a:xfrm>
            <a:off x="9248775" y="2247900"/>
            <a:ext cx="2286000" cy="11334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088">
                <a:solidFill>
                  <a:srgbClr val="202833"/>
                </a:solidFill>
                <a:latin typeface="Arial"/>
                <a:ea typeface="Arial"/>
                <a:cs typeface="Arial"/>
                <a:sym typeface="Arial"/>
              </a:rPr>
              <a:t>0 successful withdrawals after lockout.</a:t>
            </a:r>
            <a:endParaRPr/>
          </a:p>
        </p:txBody>
      </p:sp>
      <p:sp>
        <p:nvSpPr>
          <p:cNvPr id="206" name="Google Shape;206;p7"/>
          <p:cNvSpPr/>
          <p:nvPr/>
        </p:nvSpPr>
        <p:spPr>
          <a:xfrm>
            <a:off x="571500" y="3467100"/>
            <a:ext cx="2857500" cy="1304925"/>
          </a:xfrm>
          <a:prstGeom prst="rect">
            <a:avLst/>
          </a:prstGeom>
          <a:solidFill>
            <a:srgbClr val="FFFFFF"/>
          </a:solidFill>
          <a:ln cap="flat" cmpd="sng" w="95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7"/>
          <p:cNvSpPr/>
          <p:nvPr/>
        </p:nvSpPr>
        <p:spPr>
          <a:xfrm>
            <a:off x="657225" y="3552825"/>
            <a:ext cx="2686050" cy="11334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163">
                <a:solidFill>
                  <a:srgbClr val="19334E"/>
                </a:solidFill>
                <a:latin typeface="Arial"/>
                <a:ea typeface="Arial"/>
                <a:cs typeface="Arial"/>
                <a:sym typeface="Arial"/>
              </a:rPr>
              <a:t>Q5 • Do simulated account and cash balances match expected values after each attempt?</a:t>
            </a:r>
            <a:endParaRPr/>
          </a:p>
        </p:txBody>
      </p:sp>
      <p:sp>
        <p:nvSpPr>
          <p:cNvPr id="208" name="Google Shape;208;p7"/>
          <p:cNvSpPr/>
          <p:nvPr/>
        </p:nvSpPr>
        <p:spPr>
          <a:xfrm>
            <a:off x="3429000" y="3467100"/>
            <a:ext cx="3829050" cy="1304925"/>
          </a:xfrm>
          <a:prstGeom prst="rect">
            <a:avLst/>
          </a:prstGeom>
          <a:solidFill>
            <a:srgbClr val="FFFFFF"/>
          </a:solidFill>
          <a:ln cap="flat" cmpd="sng" w="95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7"/>
          <p:cNvSpPr/>
          <p:nvPr/>
        </p:nvSpPr>
        <p:spPr>
          <a:xfrm>
            <a:off x="3514725" y="3552825"/>
            <a:ext cx="3657600" cy="11334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088">
                <a:solidFill>
                  <a:srgbClr val="202833"/>
                </a:solidFill>
                <a:latin typeface="Arial"/>
                <a:ea typeface="Arial"/>
                <a:cs typeface="Arial"/>
                <a:sym typeface="Arial"/>
              </a:rPr>
              <a:t>M5 • Balance/cash mismatches (count) = observed account or cassette values that differ from expected values.</a:t>
            </a:r>
            <a:endParaRPr/>
          </a:p>
        </p:txBody>
      </p:sp>
      <p:sp>
        <p:nvSpPr>
          <p:cNvPr id="210" name="Google Shape;210;p7"/>
          <p:cNvSpPr/>
          <p:nvPr/>
        </p:nvSpPr>
        <p:spPr>
          <a:xfrm>
            <a:off x="7258050" y="3467100"/>
            <a:ext cx="1905000" cy="1304925"/>
          </a:xfrm>
          <a:prstGeom prst="rect">
            <a:avLst/>
          </a:prstGeom>
          <a:solidFill>
            <a:srgbClr val="FFFFFF"/>
          </a:solidFill>
          <a:ln cap="flat" cmpd="sng" w="95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7"/>
          <p:cNvSpPr/>
          <p:nvPr/>
        </p:nvSpPr>
        <p:spPr>
          <a:xfrm>
            <a:off x="7343775" y="3552825"/>
            <a:ext cx="1733550" cy="11334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088">
                <a:solidFill>
                  <a:srgbClr val="202833"/>
                </a:solidFill>
                <a:latin typeface="Arial"/>
                <a:ea typeface="Arial"/>
                <a:cs typeface="Arial"/>
                <a:sym typeface="Arial"/>
              </a:rPr>
              <a:t>Simulator state before and after each test plus expected scenario values.</a:t>
            </a:r>
            <a:endParaRPr/>
          </a:p>
        </p:txBody>
      </p:sp>
      <p:sp>
        <p:nvSpPr>
          <p:cNvPr id="212" name="Google Shape;212;p7"/>
          <p:cNvSpPr/>
          <p:nvPr/>
        </p:nvSpPr>
        <p:spPr>
          <a:xfrm>
            <a:off x="9163050" y="3467100"/>
            <a:ext cx="2457450" cy="1304925"/>
          </a:xfrm>
          <a:prstGeom prst="rect">
            <a:avLst/>
          </a:prstGeom>
          <a:solidFill>
            <a:srgbClr val="FFFFFF"/>
          </a:solidFill>
          <a:ln cap="flat" cmpd="sng" w="95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7"/>
          <p:cNvSpPr/>
          <p:nvPr/>
        </p:nvSpPr>
        <p:spPr>
          <a:xfrm>
            <a:off x="9248775" y="3552825"/>
            <a:ext cx="2286000" cy="11334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088">
                <a:solidFill>
                  <a:srgbClr val="202833"/>
                </a:solidFill>
                <a:latin typeface="Arial"/>
                <a:ea typeface="Arial"/>
                <a:cs typeface="Arial"/>
                <a:sym typeface="Arial"/>
              </a:rPr>
              <a:t>0 mismatches across the suite.</a:t>
            </a:r>
            <a:endParaRPr/>
          </a:p>
        </p:txBody>
      </p:sp>
      <p:sp>
        <p:nvSpPr>
          <p:cNvPr id="214" name="Google Shape;214;p7"/>
          <p:cNvSpPr/>
          <p:nvPr/>
        </p:nvSpPr>
        <p:spPr>
          <a:xfrm>
            <a:off x="571500" y="4772025"/>
            <a:ext cx="2857500" cy="1304925"/>
          </a:xfrm>
          <a:prstGeom prst="rect">
            <a:avLst/>
          </a:prstGeom>
          <a:solidFill>
            <a:srgbClr val="F4F6F8"/>
          </a:solidFill>
          <a:ln cap="flat" cmpd="sng" w="95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7"/>
          <p:cNvSpPr/>
          <p:nvPr/>
        </p:nvSpPr>
        <p:spPr>
          <a:xfrm>
            <a:off x="657225" y="4857750"/>
            <a:ext cx="2686050" cy="11334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163">
                <a:solidFill>
                  <a:srgbClr val="19334E"/>
                </a:solidFill>
                <a:latin typeface="Arial"/>
                <a:ea typeface="Arial"/>
                <a:cs typeface="Arial"/>
                <a:sym typeface="Arial"/>
              </a:rPr>
              <a:t>Q6 • When requested, does a receipt match the completed withdrawal?</a:t>
            </a:r>
            <a:endParaRPr/>
          </a:p>
        </p:txBody>
      </p:sp>
      <p:sp>
        <p:nvSpPr>
          <p:cNvPr id="216" name="Google Shape;216;p7"/>
          <p:cNvSpPr/>
          <p:nvPr/>
        </p:nvSpPr>
        <p:spPr>
          <a:xfrm>
            <a:off x="3429000" y="4772025"/>
            <a:ext cx="3829050" cy="1304925"/>
          </a:xfrm>
          <a:prstGeom prst="rect">
            <a:avLst/>
          </a:prstGeom>
          <a:solidFill>
            <a:srgbClr val="F4F6F8"/>
          </a:solidFill>
          <a:ln cap="flat" cmpd="sng" w="95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7"/>
          <p:cNvSpPr/>
          <p:nvPr/>
        </p:nvSpPr>
        <p:spPr>
          <a:xfrm>
            <a:off x="3514725" y="4857750"/>
            <a:ext cx="3657600" cy="11334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088">
                <a:solidFill>
                  <a:srgbClr val="202833"/>
                </a:solidFill>
                <a:latin typeface="Arial"/>
                <a:ea typeface="Arial"/>
                <a:cs typeface="Arial"/>
                <a:sym typeface="Arial"/>
              </a:rPr>
              <a:t>M6 • Receipt accuracy (%) = requested receipts with correct amount, time, masked account reference, and result ÷ receipts requested × 100.</a:t>
            </a:r>
            <a:endParaRPr/>
          </a:p>
        </p:txBody>
      </p:sp>
      <p:sp>
        <p:nvSpPr>
          <p:cNvPr id="218" name="Google Shape;218;p7"/>
          <p:cNvSpPr/>
          <p:nvPr/>
        </p:nvSpPr>
        <p:spPr>
          <a:xfrm>
            <a:off x="7258050" y="4772025"/>
            <a:ext cx="1905000" cy="1304925"/>
          </a:xfrm>
          <a:prstGeom prst="rect">
            <a:avLst/>
          </a:prstGeom>
          <a:solidFill>
            <a:srgbClr val="F4F6F8"/>
          </a:solidFill>
          <a:ln cap="flat" cmpd="sng" w="95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7"/>
          <p:cNvSpPr/>
          <p:nvPr/>
        </p:nvSpPr>
        <p:spPr>
          <a:xfrm>
            <a:off x="7343775" y="4857750"/>
            <a:ext cx="1733550" cy="11334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088">
                <a:solidFill>
                  <a:srgbClr val="202833"/>
                </a:solidFill>
                <a:latin typeface="Arial"/>
                <a:ea typeface="Arial"/>
                <a:cs typeface="Arial"/>
                <a:sym typeface="Arial"/>
              </a:rPr>
              <a:t>Receipt output compared with the matching D2 transaction-log record.</a:t>
            </a:r>
            <a:endParaRPr/>
          </a:p>
        </p:txBody>
      </p:sp>
      <p:sp>
        <p:nvSpPr>
          <p:cNvPr id="220" name="Google Shape;220;p7"/>
          <p:cNvSpPr/>
          <p:nvPr/>
        </p:nvSpPr>
        <p:spPr>
          <a:xfrm>
            <a:off x="9163050" y="4772025"/>
            <a:ext cx="2457450" cy="1304925"/>
          </a:xfrm>
          <a:prstGeom prst="rect">
            <a:avLst/>
          </a:prstGeom>
          <a:solidFill>
            <a:srgbClr val="F4F6F8"/>
          </a:solidFill>
          <a:ln cap="flat" cmpd="sng" w="95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7"/>
          <p:cNvSpPr/>
          <p:nvPr/>
        </p:nvSpPr>
        <p:spPr>
          <a:xfrm>
            <a:off x="9248775" y="4857750"/>
            <a:ext cx="2286000" cy="11334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088">
                <a:solidFill>
                  <a:srgbClr val="202833"/>
                </a:solidFill>
                <a:latin typeface="Arial"/>
                <a:ea typeface="Arial"/>
                <a:cs typeface="Arial"/>
                <a:sym typeface="Arial"/>
              </a:rPr>
              <a:t>100% accurate requested receipts.</a:t>
            </a:r>
            <a:endParaRPr/>
          </a:p>
        </p:txBody>
      </p:sp>
      <p:sp>
        <p:nvSpPr>
          <p:cNvPr id="222" name="Google Shape;222;p7"/>
          <p:cNvSpPr/>
          <p:nvPr/>
        </p:nvSpPr>
        <p:spPr>
          <a:xfrm>
            <a:off x="552450" y="6257925"/>
            <a:ext cx="11049000" cy="2857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975">
                <a:solidFill>
                  <a:srgbClr val="596573"/>
                </a:solidFill>
                <a:latin typeface="Arial"/>
                <a:ea typeface="Arial"/>
                <a:cs typeface="Arial"/>
                <a:sym typeface="Arial"/>
              </a:rPr>
              <a:t>Together these measures test correct, prompt, and safe withdrawal behavior. They are not production estimates or customer-study results.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8"/>
          <p:cNvSpPr/>
          <p:nvPr/>
        </p:nvSpPr>
        <p:spPr>
          <a:xfrm>
            <a:off x="0" y="0"/>
            <a:ext cx="12192000"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8"/>
          <p:cNvSpPr/>
          <p:nvPr/>
        </p:nvSpPr>
        <p:spPr>
          <a:xfrm>
            <a:off x="0" y="0"/>
            <a:ext cx="12192000" cy="1066800"/>
          </a:xfrm>
          <a:prstGeom prst="rect">
            <a:avLst/>
          </a:prstGeom>
          <a:solidFill>
            <a:srgbClr val="8B12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8"/>
          <p:cNvSpPr/>
          <p:nvPr/>
        </p:nvSpPr>
        <p:spPr>
          <a:xfrm>
            <a:off x="514350" y="228600"/>
            <a:ext cx="11049000" cy="5905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1" lang="en-US" sz="2550">
                <a:solidFill>
                  <a:srgbClr val="FFFFFF"/>
                </a:solidFill>
                <a:latin typeface="Arial"/>
                <a:ea typeface="Arial"/>
                <a:cs typeface="Arial"/>
                <a:sym typeface="Arial"/>
              </a:rPr>
              <a:t>Problem 2 • measurement protocol and limits</a:t>
            </a:r>
            <a:endParaRPr/>
          </a:p>
        </p:txBody>
      </p:sp>
      <p:sp>
        <p:nvSpPr>
          <p:cNvPr id="231" name="Google Shape;231;p8"/>
          <p:cNvSpPr/>
          <p:nvPr/>
        </p:nvSpPr>
        <p:spPr>
          <a:xfrm>
            <a:off x="0" y="6629400"/>
            <a:ext cx="12192000" cy="228600"/>
          </a:xfrm>
          <a:prstGeom prst="rect">
            <a:avLst/>
          </a:prstGeom>
          <a:solidFill>
            <a:srgbClr val="6710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8"/>
          <p:cNvSpPr/>
          <p:nvPr/>
        </p:nvSpPr>
        <p:spPr>
          <a:xfrm>
            <a:off x="419100" y="6638925"/>
            <a:ext cx="8953500" cy="19050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900">
                <a:solidFill>
                  <a:srgbClr val="FFFFFF"/>
                </a:solidFill>
                <a:latin typeface="Arial"/>
                <a:ea typeface="Arial"/>
                <a:cs typeface="Arial"/>
                <a:sym typeface="Arial"/>
              </a:rPr>
              <a:t>SOEN 6611 • SECTION D • FALL 2026</a:t>
            </a:r>
            <a:endParaRPr/>
          </a:p>
        </p:txBody>
      </p:sp>
      <p:sp>
        <p:nvSpPr>
          <p:cNvPr id="233" name="Google Shape;233;p8"/>
          <p:cNvSpPr/>
          <p:nvPr/>
        </p:nvSpPr>
        <p:spPr>
          <a:xfrm>
            <a:off x="11334750" y="6638925"/>
            <a:ext cx="457200" cy="190500"/>
          </a:xfrm>
          <a:prstGeom prst="rect">
            <a:avLst/>
          </a:prstGeom>
          <a:noFill/>
          <a:ln>
            <a:noFill/>
          </a:ln>
        </p:spPr>
        <p:txBody>
          <a:bodyPr anchorCtr="0" anchor="ctr" bIns="19050" lIns="19050" spcFirstLastPara="1" rIns="19050" wrap="square" tIns="19050">
            <a:normAutofit/>
          </a:bodyPr>
          <a:lstStyle/>
          <a:p>
            <a:pPr indent="0" lvl="0" marL="0" marR="0" rtl="0" algn="r">
              <a:spcBef>
                <a:spcPts val="0"/>
              </a:spcBef>
              <a:spcAft>
                <a:spcPts val="0"/>
              </a:spcAft>
              <a:buNone/>
            </a:pPr>
            <a:r>
              <a:rPr b="1" lang="en-US" sz="900">
                <a:solidFill>
                  <a:srgbClr val="FFFFFF"/>
                </a:solidFill>
                <a:latin typeface="Arial"/>
                <a:ea typeface="Arial"/>
                <a:cs typeface="Arial"/>
                <a:sym typeface="Arial"/>
              </a:rPr>
              <a:t>08</a:t>
            </a:r>
            <a:endParaRPr/>
          </a:p>
        </p:txBody>
      </p:sp>
      <p:sp>
        <p:nvSpPr>
          <p:cNvPr id="234" name="Google Shape;234;p8"/>
          <p:cNvSpPr/>
          <p:nvPr/>
        </p:nvSpPr>
        <p:spPr>
          <a:xfrm>
            <a:off x="609600" y="1352550"/>
            <a:ext cx="10858500" cy="32385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725">
                <a:solidFill>
                  <a:srgbClr val="19334E"/>
                </a:solidFill>
                <a:latin typeface="Arial"/>
                <a:ea typeface="Arial"/>
                <a:cs typeface="Arial"/>
                <a:sym typeface="Arial"/>
              </a:rPr>
              <a:t>How the team will collect the measures</a:t>
            </a:r>
            <a:endParaRPr/>
          </a:p>
        </p:txBody>
      </p:sp>
      <p:sp>
        <p:nvSpPr>
          <p:cNvPr id="235" name="Google Shape;235;p8"/>
          <p:cNvSpPr/>
          <p:nvPr/>
        </p:nvSpPr>
        <p:spPr>
          <a:xfrm>
            <a:off x="619125" y="1847850"/>
            <a:ext cx="514350" cy="514350"/>
          </a:xfrm>
          <a:prstGeom prst="rect">
            <a:avLst/>
          </a:prstGeom>
          <a:solidFill>
            <a:srgbClr val="8B12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8"/>
          <p:cNvSpPr/>
          <p:nvPr/>
        </p:nvSpPr>
        <p:spPr>
          <a:xfrm>
            <a:off x="619125" y="1914525"/>
            <a:ext cx="514350" cy="381000"/>
          </a:xfrm>
          <a:prstGeom prst="rect">
            <a:avLst/>
          </a:prstGeom>
          <a:noFill/>
          <a:ln>
            <a:noFill/>
          </a:ln>
        </p:spPr>
        <p:txBody>
          <a:bodyPr anchorCtr="0" anchor="ctr" bIns="19050" lIns="19050" spcFirstLastPara="1" rIns="19050" wrap="square" tIns="19050">
            <a:normAutofit/>
          </a:bodyPr>
          <a:lstStyle/>
          <a:p>
            <a:pPr indent="0" lvl="0" marL="0" marR="0" rtl="0" algn="ctr">
              <a:spcBef>
                <a:spcPts val="0"/>
              </a:spcBef>
              <a:spcAft>
                <a:spcPts val="0"/>
              </a:spcAft>
              <a:buNone/>
            </a:pPr>
            <a:r>
              <a:rPr b="1" lang="en-US" sz="1725">
                <a:solidFill>
                  <a:srgbClr val="FFFFFF"/>
                </a:solidFill>
                <a:latin typeface="Arial"/>
                <a:ea typeface="Arial"/>
                <a:cs typeface="Arial"/>
                <a:sym typeface="Arial"/>
              </a:rPr>
              <a:t>1</a:t>
            </a:r>
            <a:endParaRPr/>
          </a:p>
        </p:txBody>
      </p:sp>
      <p:sp>
        <p:nvSpPr>
          <p:cNvPr id="237" name="Google Shape;237;p8"/>
          <p:cNvSpPr/>
          <p:nvPr/>
        </p:nvSpPr>
        <p:spPr>
          <a:xfrm>
            <a:off x="1362075" y="1838325"/>
            <a:ext cx="2286000" cy="2952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425">
                <a:solidFill>
                  <a:srgbClr val="19334E"/>
                </a:solidFill>
                <a:latin typeface="Arial"/>
                <a:ea typeface="Arial"/>
                <a:cs typeface="Arial"/>
                <a:sym typeface="Arial"/>
              </a:rPr>
              <a:t>Define scenarios</a:t>
            </a:r>
            <a:endParaRPr/>
          </a:p>
        </p:txBody>
      </p:sp>
      <p:sp>
        <p:nvSpPr>
          <p:cNvPr id="238" name="Google Shape;238;p8"/>
          <p:cNvSpPr/>
          <p:nvPr/>
        </p:nvSpPr>
        <p:spPr>
          <a:xfrm>
            <a:off x="3667125" y="1838325"/>
            <a:ext cx="7667625" cy="54292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350">
                <a:solidFill>
                  <a:srgbClr val="202833"/>
                </a:solidFill>
                <a:latin typeface="Arial"/>
                <a:ea typeface="Arial"/>
                <a:cs typeface="Arial"/>
                <a:sym typeface="Arial"/>
              </a:rPr>
              <a:t>List valid, invalid, boundary, lockout, balance, cash, and at least one receipt-request case before running tests.</a:t>
            </a:r>
            <a:endParaRPr/>
          </a:p>
        </p:txBody>
      </p:sp>
      <p:sp>
        <p:nvSpPr>
          <p:cNvPr id="239" name="Google Shape;239;p8"/>
          <p:cNvSpPr/>
          <p:nvPr/>
        </p:nvSpPr>
        <p:spPr>
          <a:xfrm>
            <a:off x="619125" y="2771775"/>
            <a:ext cx="514350" cy="514350"/>
          </a:xfrm>
          <a:prstGeom prst="rect">
            <a:avLst/>
          </a:prstGeom>
          <a:solidFill>
            <a:srgbClr val="8B12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8"/>
          <p:cNvSpPr/>
          <p:nvPr/>
        </p:nvSpPr>
        <p:spPr>
          <a:xfrm>
            <a:off x="619125" y="2838450"/>
            <a:ext cx="514350" cy="381000"/>
          </a:xfrm>
          <a:prstGeom prst="rect">
            <a:avLst/>
          </a:prstGeom>
          <a:noFill/>
          <a:ln>
            <a:noFill/>
          </a:ln>
        </p:spPr>
        <p:txBody>
          <a:bodyPr anchorCtr="0" anchor="ctr" bIns="19050" lIns="19050" spcFirstLastPara="1" rIns="19050" wrap="square" tIns="19050">
            <a:normAutofit/>
          </a:bodyPr>
          <a:lstStyle/>
          <a:p>
            <a:pPr indent="0" lvl="0" marL="0" marR="0" rtl="0" algn="ctr">
              <a:spcBef>
                <a:spcPts val="0"/>
              </a:spcBef>
              <a:spcAft>
                <a:spcPts val="0"/>
              </a:spcAft>
              <a:buNone/>
            </a:pPr>
            <a:r>
              <a:rPr b="1" lang="en-US" sz="1725">
                <a:solidFill>
                  <a:srgbClr val="FFFFFF"/>
                </a:solidFill>
                <a:latin typeface="Arial"/>
                <a:ea typeface="Arial"/>
                <a:cs typeface="Arial"/>
                <a:sym typeface="Arial"/>
              </a:rPr>
              <a:t>2</a:t>
            </a:r>
            <a:endParaRPr/>
          </a:p>
        </p:txBody>
      </p:sp>
      <p:sp>
        <p:nvSpPr>
          <p:cNvPr id="241" name="Google Shape;241;p8"/>
          <p:cNvSpPr/>
          <p:nvPr/>
        </p:nvSpPr>
        <p:spPr>
          <a:xfrm>
            <a:off x="1362075" y="2762250"/>
            <a:ext cx="2286000" cy="2952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425">
                <a:solidFill>
                  <a:srgbClr val="19334E"/>
                </a:solidFill>
                <a:latin typeface="Arial"/>
                <a:ea typeface="Arial"/>
                <a:cs typeface="Arial"/>
                <a:sym typeface="Arial"/>
              </a:rPr>
              <a:t>Run consistently</a:t>
            </a:r>
            <a:endParaRPr/>
          </a:p>
        </p:txBody>
      </p:sp>
      <p:sp>
        <p:nvSpPr>
          <p:cNvPr id="242" name="Google Shape;242;p8"/>
          <p:cNvSpPr/>
          <p:nvPr/>
        </p:nvSpPr>
        <p:spPr>
          <a:xfrm>
            <a:off x="3667125" y="2762250"/>
            <a:ext cx="7667625" cy="54292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350">
                <a:solidFill>
                  <a:srgbClr val="202833"/>
                </a:solidFill>
                <a:latin typeface="Arial"/>
                <a:ea typeface="Arial"/>
                <a:cs typeface="Arial"/>
                <a:sym typeface="Arial"/>
              </a:rPr>
              <a:t>Reset simulated data between scenarios and run the same inputs against the same build.</a:t>
            </a:r>
            <a:endParaRPr/>
          </a:p>
        </p:txBody>
      </p:sp>
      <p:sp>
        <p:nvSpPr>
          <p:cNvPr id="243" name="Google Shape;243;p8"/>
          <p:cNvSpPr/>
          <p:nvPr/>
        </p:nvSpPr>
        <p:spPr>
          <a:xfrm>
            <a:off x="619125" y="3695700"/>
            <a:ext cx="514350" cy="514350"/>
          </a:xfrm>
          <a:prstGeom prst="rect">
            <a:avLst/>
          </a:prstGeom>
          <a:solidFill>
            <a:srgbClr val="8B12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8"/>
          <p:cNvSpPr/>
          <p:nvPr/>
        </p:nvSpPr>
        <p:spPr>
          <a:xfrm>
            <a:off x="619125" y="3762375"/>
            <a:ext cx="514350" cy="381000"/>
          </a:xfrm>
          <a:prstGeom prst="rect">
            <a:avLst/>
          </a:prstGeom>
          <a:noFill/>
          <a:ln>
            <a:noFill/>
          </a:ln>
        </p:spPr>
        <p:txBody>
          <a:bodyPr anchorCtr="0" anchor="ctr" bIns="19050" lIns="19050" spcFirstLastPara="1" rIns="19050" wrap="square" tIns="19050">
            <a:normAutofit/>
          </a:bodyPr>
          <a:lstStyle/>
          <a:p>
            <a:pPr indent="0" lvl="0" marL="0" marR="0" rtl="0" algn="ctr">
              <a:spcBef>
                <a:spcPts val="0"/>
              </a:spcBef>
              <a:spcAft>
                <a:spcPts val="0"/>
              </a:spcAft>
              <a:buNone/>
            </a:pPr>
            <a:r>
              <a:rPr b="1" lang="en-US" sz="1725">
                <a:solidFill>
                  <a:srgbClr val="FFFFFF"/>
                </a:solidFill>
                <a:latin typeface="Arial"/>
                <a:ea typeface="Arial"/>
                <a:cs typeface="Arial"/>
                <a:sym typeface="Arial"/>
              </a:rPr>
              <a:t>3</a:t>
            </a:r>
            <a:endParaRPr/>
          </a:p>
        </p:txBody>
      </p:sp>
      <p:sp>
        <p:nvSpPr>
          <p:cNvPr id="245" name="Google Shape;245;p8"/>
          <p:cNvSpPr/>
          <p:nvPr/>
        </p:nvSpPr>
        <p:spPr>
          <a:xfrm>
            <a:off x="1362075" y="3686175"/>
            <a:ext cx="2286000" cy="2952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425">
                <a:solidFill>
                  <a:srgbClr val="19334E"/>
                </a:solidFill>
                <a:latin typeface="Arial"/>
                <a:ea typeface="Arial"/>
                <a:cs typeface="Arial"/>
                <a:sym typeface="Arial"/>
              </a:rPr>
              <a:t>Record evidence</a:t>
            </a:r>
            <a:endParaRPr/>
          </a:p>
        </p:txBody>
      </p:sp>
      <p:sp>
        <p:nvSpPr>
          <p:cNvPr id="246" name="Google Shape;246;p8"/>
          <p:cNvSpPr/>
          <p:nvPr/>
        </p:nvSpPr>
        <p:spPr>
          <a:xfrm>
            <a:off x="3667125" y="3686175"/>
            <a:ext cx="7667625" cy="54292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350">
                <a:solidFill>
                  <a:srgbClr val="202833"/>
                </a:solidFill>
                <a:latin typeface="Arial"/>
                <a:ea typeface="Arial"/>
                <a:cs typeface="Arial"/>
                <a:sym typeface="Arial"/>
              </a:rPr>
              <a:t>Log scenario ID, expected and actual outcome, message, balances, receipt fields, and elapsed time.</a:t>
            </a:r>
            <a:endParaRPr/>
          </a:p>
        </p:txBody>
      </p:sp>
      <p:sp>
        <p:nvSpPr>
          <p:cNvPr id="247" name="Google Shape;247;p8"/>
          <p:cNvSpPr/>
          <p:nvPr/>
        </p:nvSpPr>
        <p:spPr>
          <a:xfrm>
            <a:off x="619125" y="4619625"/>
            <a:ext cx="514350" cy="514350"/>
          </a:xfrm>
          <a:prstGeom prst="rect">
            <a:avLst/>
          </a:prstGeom>
          <a:solidFill>
            <a:srgbClr val="8B12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8"/>
          <p:cNvSpPr/>
          <p:nvPr/>
        </p:nvSpPr>
        <p:spPr>
          <a:xfrm>
            <a:off x="619125" y="4686300"/>
            <a:ext cx="514350" cy="381000"/>
          </a:xfrm>
          <a:prstGeom prst="rect">
            <a:avLst/>
          </a:prstGeom>
          <a:noFill/>
          <a:ln>
            <a:noFill/>
          </a:ln>
        </p:spPr>
        <p:txBody>
          <a:bodyPr anchorCtr="0" anchor="ctr" bIns="19050" lIns="19050" spcFirstLastPara="1" rIns="19050" wrap="square" tIns="19050">
            <a:normAutofit/>
          </a:bodyPr>
          <a:lstStyle/>
          <a:p>
            <a:pPr indent="0" lvl="0" marL="0" marR="0" rtl="0" algn="ctr">
              <a:spcBef>
                <a:spcPts val="0"/>
              </a:spcBef>
              <a:spcAft>
                <a:spcPts val="0"/>
              </a:spcAft>
              <a:buNone/>
            </a:pPr>
            <a:r>
              <a:rPr b="1" lang="en-US" sz="1725">
                <a:solidFill>
                  <a:srgbClr val="FFFFFF"/>
                </a:solidFill>
                <a:latin typeface="Arial"/>
                <a:ea typeface="Arial"/>
                <a:cs typeface="Arial"/>
                <a:sym typeface="Arial"/>
              </a:rPr>
              <a:t>4</a:t>
            </a:r>
            <a:endParaRPr/>
          </a:p>
        </p:txBody>
      </p:sp>
      <p:sp>
        <p:nvSpPr>
          <p:cNvPr id="249" name="Google Shape;249;p8"/>
          <p:cNvSpPr/>
          <p:nvPr/>
        </p:nvSpPr>
        <p:spPr>
          <a:xfrm>
            <a:off x="1362075" y="4610100"/>
            <a:ext cx="2286000" cy="2952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425">
                <a:solidFill>
                  <a:srgbClr val="19334E"/>
                </a:solidFill>
                <a:latin typeface="Arial"/>
                <a:ea typeface="Arial"/>
                <a:cs typeface="Arial"/>
                <a:sym typeface="Arial"/>
              </a:rPr>
              <a:t>Report limits</a:t>
            </a:r>
            <a:endParaRPr/>
          </a:p>
        </p:txBody>
      </p:sp>
      <p:sp>
        <p:nvSpPr>
          <p:cNvPr id="250" name="Google Shape;250;p8"/>
          <p:cNvSpPr/>
          <p:nvPr/>
        </p:nvSpPr>
        <p:spPr>
          <a:xfrm>
            <a:off x="3667125" y="4610100"/>
            <a:ext cx="7667625" cy="54292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350">
                <a:solidFill>
                  <a:srgbClr val="202833"/>
                </a:solidFill>
                <a:latin typeface="Arial"/>
                <a:ea typeface="Arial"/>
                <a:cs typeface="Arial"/>
                <a:sym typeface="Arial"/>
              </a:rPr>
              <a:t>Report counts and ratios for this test suite only. Do not generalize them to real customers or deployed ABMs.</a:t>
            </a:r>
            <a:endParaRPr/>
          </a:p>
        </p:txBody>
      </p:sp>
      <p:sp>
        <p:nvSpPr>
          <p:cNvPr id="251" name="Google Shape;251;p8"/>
          <p:cNvSpPr/>
          <p:nvPr/>
        </p:nvSpPr>
        <p:spPr>
          <a:xfrm>
            <a:off x="590550" y="5638800"/>
            <a:ext cx="11001375" cy="428625"/>
          </a:xfrm>
          <a:prstGeom prst="rect">
            <a:avLst/>
          </a:prstGeom>
          <a:solidFill>
            <a:srgbClr val="DDEE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8"/>
          <p:cNvSpPr/>
          <p:nvPr/>
        </p:nvSpPr>
        <p:spPr>
          <a:xfrm>
            <a:off x="742950" y="5705475"/>
            <a:ext cx="10648950" cy="314325"/>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1" lang="en-US" sz="1200">
                <a:solidFill>
                  <a:srgbClr val="19334E"/>
                </a:solidFill>
                <a:latin typeface="Arial"/>
                <a:ea typeface="Arial"/>
                <a:cs typeface="Arial"/>
                <a:sym typeface="Arial"/>
              </a:rPr>
              <a:t>If timing or message data are not available in D2, instrument the simulator or narrow the metric before test execution; never invent results.</a:t>
            </a:r>
            <a:endParaRPr/>
          </a:p>
        </p:txBody>
      </p:sp>
      <p:sp>
        <p:nvSpPr>
          <p:cNvPr id="253" name="Google Shape;253;p8"/>
          <p:cNvSpPr/>
          <p:nvPr/>
        </p:nvSpPr>
        <p:spPr>
          <a:xfrm>
            <a:off x="552450" y="6257925"/>
            <a:ext cx="11049000" cy="2857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975">
                <a:solidFill>
                  <a:srgbClr val="596573"/>
                </a:solidFill>
                <a:latin typeface="Arial"/>
                <a:ea typeface="Arial"/>
                <a:cs typeface="Arial"/>
                <a:sym typeface="Arial"/>
              </a:rPr>
              <a:t>GQM follows the goal–question–metric approach. [6]</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9"/>
          <p:cNvSpPr/>
          <p:nvPr/>
        </p:nvSpPr>
        <p:spPr>
          <a:xfrm>
            <a:off x="0" y="0"/>
            <a:ext cx="12192000"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9"/>
          <p:cNvSpPr/>
          <p:nvPr/>
        </p:nvSpPr>
        <p:spPr>
          <a:xfrm>
            <a:off x="0" y="0"/>
            <a:ext cx="12192000" cy="1066800"/>
          </a:xfrm>
          <a:prstGeom prst="rect">
            <a:avLst/>
          </a:prstGeom>
          <a:solidFill>
            <a:srgbClr val="8B12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9"/>
          <p:cNvSpPr/>
          <p:nvPr/>
        </p:nvSpPr>
        <p:spPr>
          <a:xfrm>
            <a:off x="514350" y="228600"/>
            <a:ext cx="11049000" cy="5905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1" lang="en-US" sz="2550">
                <a:solidFill>
                  <a:srgbClr val="FFFFFF"/>
                </a:solidFill>
                <a:latin typeface="Arial"/>
                <a:ea typeface="Arial"/>
                <a:cs typeface="Arial"/>
                <a:sym typeface="Arial"/>
              </a:rPr>
              <a:t>Problem 3 • graphical use-case model</a:t>
            </a:r>
            <a:endParaRPr/>
          </a:p>
        </p:txBody>
      </p:sp>
      <p:sp>
        <p:nvSpPr>
          <p:cNvPr id="262" name="Google Shape;262;p9"/>
          <p:cNvSpPr/>
          <p:nvPr/>
        </p:nvSpPr>
        <p:spPr>
          <a:xfrm>
            <a:off x="0" y="6629400"/>
            <a:ext cx="12192000" cy="228600"/>
          </a:xfrm>
          <a:prstGeom prst="rect">
            <a:avLst/>
          </a:prstGeom>
          <a:solidFill>
            <a:srgbClr val="6710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9"/>
          <p:cNvSpPr/>
          <p:nvPr/>
        </p:nvSpPr>
        <p:spPr>
          <a:xfrm>
            <a:off x="419100" y="6638925"/>
            <a:ext cx="8953500" cy="19050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900">
                <a:solidFill>
                  <a:srgbClr val="FFFFFF"/>
                </a:solidFill>
                <a:latin typeface="Arial"/>
                <a:ea typeface="Arial"/>
                <a:cs typeface="Arial"/>
                <a:sym typeface="Arial"/>
              </a:rPr>
              <a:t>SOEN 6611 • SECTION D • FALL 2026</a:t>
            </a:r>
            <a:endParaRPr/>
          </a:p>
        </p:txBody>
      </p:sp>
      <p:sp>
        <p:nvSpPr>
          <p:cNvPr id="264" name="Google Shape;264;p9"/>
          <p:cNvSpPr/>
          <p:nvPr/>
        </p:nvSpPr>
        <p:spPr>
          <a:xfrm>
            <a:off x="11334750" y="6638925"/>
            <a:ext cx="457200" cy="190500"/>
          </a:xfrm>
          <a:prstGeom prst="rect">
            <a:avLst/>
          </a:prstGeom>
          <a:noFill/>
          <a:ln>
            <a:noFill/>
          </a:ln>
        </p:spPr>
        <p:txBody>
          <a:bodyPr anchorCtr="0" anchor="ctr" bIns="19050" lIns="19050" spcFirstLastPara="1" rIns="19050" wrap="square" tIns="19050">
            <a:normAutofit/>
          </a:bodyPr>
          <a:lstStyle/>
          <a:p>
            <a:pPr indent="0" lvl="0" marL="0" marR="0" rtl="0" algn="r">
              <a:spcBef>
                <a:spcPts val="0"/>
              </a:spcBef>
              <a:spcAft>
                <a:spcPts val="0"/>
              </a:spcAft>
              <a:buNone/>
            </a:pPr>
            <a:r>
              <a:rPr b="1" lang="en-US" sz="900">
                <a:solidFill>
                  <a:srgbClr val="FFFFFF"/>
                </a:solidFill>
                <a:latin typeface="Arial"/>
                <a:ea typeface="Arial"/>
                <a:cs typeface="Arial"/>
                <a:sym typeface="Arial"/>
              </a:rPr>
              <a:t>09</a:t>
            </a:r>
            <a:endParaRPr/>
          </a:p>
        </p:txBody>
      </p:sp>
      <p:sp>
        <p:nvSpPr>
          <p:cNvPr id="265" name="Google Shape;265;p9"/>
          <p:cNvSpPr/>
          <p:nvPr/>
        </p:nvSpPr>
        <p:spPr>
          <a:xfrm>
            <a:off x="590550" y="1200150"/>
            <a:ext cx="7620000" cy="22860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125">
                <a:solidFill>
                  <a:srgbClr val="596573"/>
                </a:solidFill>
                <a:latin typeface="Arial"/>
                <a:ea typeface="Arial"/>
                <a:cs typeface="Arial"/>
                <a:sym typeface="Arial"/>
              </a:rPr>
              <a:t>iBank ABM simulator • customer session</a:t>
            </a:r>
            <a:endParaRPr/>
          </a:p>
        </p:txBody>
      </p:sp>
      <p:sp>
        <p:nvSpPr>
          <p:cNvPr id="266" name="Google Shape;266;p9"/>
          <p:cNvSpPr/>
          <p:nvPr/>
        </p:nvSpPr>
        <p:spPr>
          <a:xfrm>
            <a:off x="2362200" y="1657350"/>
            <a:ext cx="7448550" cy="4410075"/>
          </a:xfrm>
          <a:prstGeom prst="rect">
            <a:avLst/>
          </a:prstGeom>
          <a:solidFill>
            <a:srgbClr val="FCFCFD"/>
          </a:solidFill>
          <a:ln cap="flat" cmpd="sng" w="19050">
            <a:solidFill>
              <a:srgbClr val="1933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9"/>
          <p:cNvSpPr/>
          <p:nvPr/>
        </p:nvSpPr>
        <p:spPr>
          <a:xfrm>
            <a:off x="2571750" y="1714500"/>
            <a:ext cx="1952625" cy="28575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425">
                <a:solidFill>
                  <a:srgbClr val="19334E"/>
                </a:solidFill>
                <a:latin typeface="Arial"/>
                <a:ea typeface="Arial"/>
                <a:cs typeface="Arial"/>
                <a:sym typeface="Arial"/>
              </a:rPr>
              <a:t>iBank ABM</a:t>
            </a:r>
            <a:endParaRPr/>
          </a:p>
        </p:txBody>
      </p:sp>
      <p:cxnSp>
        <p:nvCxnSpPr>
          <p:cNvPr id="268" name="Google Shape;268;p9"/>
          <p:cNvCxnSpPr/>
          <p:nvPr/>
        </p:nvCxnSpPr>
        <p:spPr>
          <a:xfrm flipH="1" rot="10800000">
            <a:off x="1895475" y="2190750"/>
            <a:ext cx="2009775" cy="1609725"/>
          </a:xfrm>
          <a:prstGeom prst="straightConnector1">
            <a:avLst/>
          </a:prstGeom>
          <a:noFill/>
          <a:ln cap="flat" cmpd="sng" w="12850">
            <a:solidFill>
              <a:srgbClr val="9AA6B2"/>
            </a:solidFill>
            <a:prstDash val="solid"/>
            <a:round/>
            <a:headEnd len="sm" w="sm" type="none"/>
            <a:tailEnd len="sm" w="sm" type="none"/>
          </a:ln>
        </p:spPr>
      </p:cxnSp>
      <p:cxnSp>
        <p:nvCxnSpPr>
          <p:cNvPr id="269" name="Google Shape;269;p9"/>
          <p:cNvCxnSpPr/>
          <p:nvPr/>
        </p:nvCxnSpPr>
        <p:spPr>
          <a:xfrm flipH="1" rot="10800000">
            <a:off x="1895475" y="2581275"/>
            <a:ext cx="2009775" cy="1219200"/>
          </a:xfrm>
          <a:prstGeom prst="straightConnector1">
            <a:avLst/>
          </a:prstGeom>
          <a:noFill/>
          <a:ln cap="flat" cmpd="sng" w="12850">
            <a:solidFill>
              <a:srgbClr val="9AA6B2"/>
            </a:solidFill>
            <a:prstDash val="solid"/>
            <a:round/>
            <a:headEnd len="sm" w="sm" type="none"/>
            <a:tailEnd len="sm" w="sm" type="none"/>
          </a:ln>
        </p:spPr>
      </p:cxnSp>
      <p:cxnSp>
        <p:nvCxnSpPr>
          <p:cNvPr id="270" name="Google Shape;270;p9"/>
          <p:cNvCxnSpPr/>
          <p:nvPr/>
        </p:nvCxnSpPr>
        <p:spPr>
          <a:xfrm flipH="1" rot="10800000">
            <a:off x="1895475" y="2971800"/>
            <a:ext cx="2009775" cy="828675"/>
          </a:xfrm>
          <a:prstGeom prst="straightConnector1">
            <a:avLst/>
          </a:prstGeom>
          <a:noFill/>
          <a:ln cap="flat" cmpd="sng" w="12850">
            <a:solidFill>
              <a:srgbClr val="9AA6B2"/>
            </a:solidFill>
            <a:prstDash val="solid"/>
            <a:round/>
            <a:headEnd len="sm" w="sm" type="none"/>
            <a:tailEnd len="sm" w="sm" type="none"/>
          </a:ln>
        </p:spPr>
      </p:cxnSp>
      <p:cxnSp>
        <p:nvCxnSpPr>
          <p:cNvPr id="271" name="Google Shape;271;p9"/>
          <p:cNvCxnSpPr/>
          <p:nvPr/>
        </p:nvCxnSpPr>
        <p:spPr>
          <a:xfrm flipH="1" rot="10800000">
            <a:off x="1895475" y="3362325"/>
            <a:ext cx="2009775" cy="438150"/>
          </a:xfrm>
          <a:prstGeom prst="straightConnector1">
            <a:avLst/>
          </a:prstGeom>
          <a:noFill/>
          <a:ln cap="flat" cmpd="sng" w="12850">
            <a:solidFill>
              <a:srgbClr val="9AA6B2"/>
            </a:solidFill>
            <a:prstDash val="solid"/>
            <a:round/>
            <a:headEnd len="sm" w="sm" type="none"/>
            <a:tailEnd len="sm" w="sm" type="none"/>
          </a:ln>
        </p:spPr>
      </p:cxnSp>
      <p:cxnSp>
        <p:nvCxnSpPr>
          <p:cNvPr id="272" name="Google Shape;272;p9"/>
          <p:cNvCxnSpPr/>
          <p:nvPr/>
        </p:nvCxnSpPr>
        <p:spPr>
          <a:xfrm flipH="1" rot="10800000">
            <a:off x="1895475" y="3752850"/>
            <a:ext cx="2009775" cy="47625"/>
          </a:xfrm>
          <a:prstGeom prst="straightConnector1">
            <a:avLst/>
          </a:prstGeom>
          <a:noFill/>
          <a:ln cap="flat" cmpd="sng" w="12850">
            <a:solidFill>
              <a:srgbClr val="9AA6B2"/>
            </a:solidFill>
            <a:prstDash val="solid"/>
            <a:round/>
            <a:headEnd len="sm" w="sm" type="none"/>
            <a:tailEnd len="sm" w="sm" type="none"/>
          </a:ln>
        </p:spPr>
      </p:cxnSp>
      <p:cxnSp>
        <p:nvCxnSpPr>
          <p:cNvPr id="273" name="Google Shape;273;p9"/>
          <p:cNvCxnSpPr/>
          <p:nvPr/>
        </p:nvCxnSpPr>
        <p:spPr>
          <a:xfrm>
            <a:off x="1895475" y="3800475"/>
            <a:ext cx="2009775" cy="342900"/>
          </a:xfrm>
          <a:prstGeom prst="straightConnector1">
            <a:avLst/>
          </a:prstGeom>
          <a:noFill/>
          <a:ln cap="flat" cmpd="sng" w="12850">
            <a:solidFill>
              <a:srgbClr val="9AA6B2"/>
            </a:solidFill>
            <a:prstDash val="solid"/>
            <a:round/>
            <a:headEnd len="sm" w="sm" type="none"/>
            <a:tailEnd len="sm" w="sm" type="none"/>
          </a:ln>
        </p:spPr>
      </p:cxnSp>
      <p:cxnSp>
        <p:nvCxnSpPr>
          <p:cNvPr id="274" name="Google Shape;274;p9"/>
          <p:cNvCxnSpPr/>
          <p:nvPr/>
        </p:nvCxnSpPr>
        <p:spPr>
          <a:xfrm>
            <a:off x="1895475" y="3800475"/>
            <a:ext cx="2009775" cy="733425"/>
          </a:xfrm>
          <a:prstGeom prst="straightConnector1">
            <a:avLst/>
          </a:prstGeom>
          <a:noFill/>
          <a:ln cap="flat" cmpd="sng" w="12850">
            <a:solidFill>
              <a:srgbClr val="9AA6B2"/>
            </a:solidFill>
            <a:prstDash val="solid"/>
            <a:round/>
            <a:headEnd len="sm" w="sm" type="none"/>
            <a:tailEnd len="sm" w="sm" type="none"/>
          </a:ln>
        </p:spPr>
      </p:cxnSp>
      <p:cxnSp>
        <p:nvCxnSpPr>
          <p:cNvPr id="275" name="Google Shape;275;p9"/>
          <p:cNvCxnSpPr/>
          <p:nvPr/>
        </p:nvCxnSpPr>
        <p:spPr>
          <a:xfrm>
            <a:off x="1895475" y="3800475"/>
            <a:ext cx="2009775" cy="1123950"/>
          </a:xfrm>
          <a:prstGeom prst="straightConnector1">
            <a:avLst/>
          </a:prstGeom>
          <a:noFill/>
          <a:ln cap="flat" cmpd="sng" w="12850">
            <a:solidFill>
              <a:srgbClr val="9AA6B2"/>
            </a:solidFill>
            <a:prstDash val="solid"/>
            <a:round/>
            <a:headEnd len="sm" w="sm" type="none"/>
            <a:tailEnd len="sm" w="sm" type="none"/>
          </a:ln>
        </p:spPr>
      </p:cxnSp>
      <p:cxnSp>
        <p:nvCxnSpPr>
          <p:cNvPr id="276" name="Google Shape;276;p9"/>
          <p:cNvCxnSpPr/>
          <p:nvPr/>
        </p:nvCxnSpPr>
        <p:spPr>
          <a:xfrm>
            <a:off x="1895475" y="3800475"/>
            <a:ext cx="2009775" cy="1514475"/>
          </a:xfrm>
          <a:prstGeom prst="straightConnector1">
            <a:avLst/>
          </a:prstGeom>
          <a:noFill/>
          <a:ln cap="flat" cmpd="sng" w="12850">
            <a:solidFill>
              <a:srgbClr val="9AA6B2"/>
            </a:solidFill>
            <a:prstDash val="solid"/>
            <a:round/>
            <a:headEnd len="sm" w="sm" type="none"/>
            <a:tailEnd len="sm" w="sm" type="none"/>
          </a:ln>
        </p:spPr>
      </p:cxnSp>
      <p:cxnSp>
        <p:nvCxnSpPr>
          <p:cNvPr id="277" name="Google Shape;277;p9"/>
          <p:cNvCxnSpPr/>
          <p:nvPr/>
        </p:nvCxnSpPr>
        <p:spPr>
          <a:xfrm>
            <a:off x="1895475" y="3800475"/>
            <a:ext cx="2009775" cy="1905000"/>
          </a:xfrm>
          <a:prstGeom prst="straightConnector1">
            <a:avLst/>
          </a:prstGeom>
          <a:noFill/>
          <a:ln cap="flat" cmpd="sng" w="12850">
            <a:solidFill>
              <a:srgbClr val="9AA6B2"/>
            </a:solidFill>
            <a:prstDash val="solid"/>
            <a:round/>
            <a:headEnd len="sm" w="sm" type="none"/>
            <a:tailEnd len="sm" w="sm" type="none"/>
          </a:ln>
        </p:spPr>
      </p:cxnSp>
      <p:cxnSp>
        <p:nvCxnSpPr>
          <p:cNvPr id="278" name="Google Shape;278;p9"/>
          <p:cNvCxnSpPr/>
          <p:nvPr/>
        </p:nvCxnSpPr>
        <p:spPr>
          <a:xfrm flipH="1" rot="10800000">
            <a:off x="8286750" y="2762250"/>
            <a:ext cx="2209800" cy="600075"/>
          </a:xfrm>
          <a:prstGeom prst="straightConnector1">
            <a:avLst/>
          </a:prstGeom>
          <a:noFill/>
          <a:ln cap="flat" cmpd="sng" w="15225">
            <a:solidFill>
              <a:srgbClr val="9AA6B2"/>
            </a:solidFill>
            <a:prstDash val="solid"/>
            <a:round/>
            <a:headEnd len="sm" w="sm" type="none"/>
            <a:tailEnd len="sm" w="sm" type="none"/>
          </a:ln>
        </p:spPr>
      </p:cxnSp>
      <p:cxnSp>
        <p:nvCxnSpPr>
          <p:cNvPr id="279" name="Google Shape;279;p9"/>
          <p:cNvCxnSpPr/>
          <p:nvPr/>
        </p:nvCxnSpPr>
        <p:spPr>
          <a:xfrm flipH="1" rot="10800000">
            <a:off x="8286750" y="4714875"/>
            <a:ext cx="2209800" cy="600075"/>
          </a:xfrm>
          <a:prstGeom prst="straightConnector1">
            <a:avLst/>
          </a:prstGeom>
          <a:noFill/>
          <a:ln cap="flat" cmpd="sng" w="15225">
            <a:solidFill>
              <a:srgbClr val="9AA6B2"/>
            </a:solidFill>
            <a:prstDash val="solid"/>
            <a:round/>
            <a:headEnd len="sm" w="sm" type="none"/>
            <a:tailEnd len="sm" w="sm" type="none"/>
          </a:ln>
        </p:spPr>
      </p:cxnSp>
      <p:sp>
        <p:nvSpPr>
          <p:cNvPr id="280" name="Google Shape;280;p9"/>
          <p:cNvSpPr/>
          <p:nvPr/>
        </p:nvSpPr>
        <p:spPr>
          <a:xfrm>
            <a:off x="3905250" y="2019300"/>
            <a:ext cx="4381500" cy="342900"/>
          </a:xfrm>
          <a:prstGeom prst="ellipse">
            <a:avLst/>
          </a:prstGeom>
          <a:solidFill>
            <a:srgbClr val="FFFFFF"/>
          </a:solidFill>
          <a:ln cap="flat" cmpd="sng" w="16175">
            <a:solidFill>
              <a:srgbClr val="2C718C"/>
            </a:solidFill>
            <a:prstDash val="solid"/>
            <a:round/>
            <a:headEnd len="sm" w="sm" type="none"/>
            <a:tailEnd len="sm" w="sm" type="none"/>
          </a:ln>
        </p:spPr>
        <p:txBody>
          <a:bodyPr anchorCtr="0" anchor="ctr" bIns="19050" lIns="38100" spcFirstLastPara="1" rIns="38100" wrap="square" tIns="19050">
            <a:normAutofit/>
          </a:bodyPr>
          <a:lstStyle/>
          <a:p>
            <a:pPr indent="0" lvl="0" marL="0" marR="0" rtl="0" algn="ctr">
              <a:spcBef>
                <a:spcPts val="0"/>
              </a:spcBef>
              <a:spcAft>
                <a:spcPts val="0"/>
              </a:spcAft>
              <a:buNone/>
            </a:pPr>
            <a:r>
              <a:rPr lang="en-US" sz="1200">
                <a:solidFill>
                  <a:srgbClr val="202833"/>
                </a:solidFill>
                <a:latin typeface="Arial"/>
                <a:ea typeface="Arial"/>
                <a:cs typeface="Arial"/>
                <a:sym typeface="Arial"/>
              </a:rPr>
              <a:t>Select language</a:t>
            </a:r>
            <a:endParaRPr/>
          </a:p>
        </p:txBody>
      </p:sp>
      <p:sp>
        <p:nvSpPr>
          <p:cNvPr id="281" name="Google Shape;281;p9"/>
          <p:cNvSpPr/>
          <p:nvPr/>
        </p:nvSpPr>
        <p:spPr>
          <a:xfrm>
            <a:off x="3905250" y="2409825"/>
            <a:ext cx="4381500" cy="342900"/>
          </a:xfrm>
          <a:prstGeom prst="ellipse">
            <a:avLst/>
          </a:prstGeom>
          <a:solidFill>
            <a:srgbClr val="FFFFFF"/>
          </a:solidFill>
          <a:ln cap="flat" cmpd="sng" w="16175">
            <a:solidFill>
              <a:srgbClr val="2C718C"/>
            </a:solidFill>
            <a:prstDash val="solid"/>
            <a:round/>
            <a:headEnd len="sm" w="sm" type="none"/>
            <a:tailEnd len="sm" w="sm" type="none"/>
          </a:ln>
        </p:spPr>
        <p:txBody>
          <a:bodyPr anchorCtr="0" anchor="ctr" bIns="19050" lIns="38100" spcFirstLastPara="1" rIns="38100" wrap="square" tIns="19050">
            <a:normAutofit/>
          </a:bodyPr>
          <a:lstStyle/>
          <a:p>
            <a:pPr indent="0" lvl="0" marL="0" marR="0" rtl="0" algn="ctr">
              <a:spcBef>
                <a:spcPts val="0"/>
              </a:spcBef>
              <a:spcAft>
                <a:spcPts val="0"/>
              </a:spcAft>
              <a:buNone/>
            </a:pPr>
            <a:r>
              <a:rPr lang="en-US" sz="1200">
                <a:solidFill>
                  <a:srgbClr val="202833"/>
                </a:solidFill>
                <a:latin typeface="Arial"/>
                <a:ea typeface="Arial"/>
                <a:cs typeface="Arial"/>
                <a:sym typeface="Arial"/>
              </a:rPr>
              <a:t>Authenticate cardholder</a:t>
            </a:r>
            <a:endParaRPr/>
          </a:p>
        </p:txBody>
      </p:sp>
      <p:sp>
        <p:nvSpPr>
          <p:cNvPr id="282" name="Google Shape;282;p9"/>
          <p:cNvSpPr/>
          <p:nvPr/>
        </p:nvSpPr>
        <p:spPr>
          <a:xfrm>
            <a:off x="3905250" y="2800350"/>
            <a:ext cx="4381500" cy="342900"/>
          </a:xfrm>
          <a:prstGeom prst="ellipse">
            <a:avLst/>
          </a:prstGeom>
          <a:solidFill>
            <a:srgbClr val="FFFFFF"/>
          </a:solidFill>
          <a:ln cap="flat" cmpd="sng" w="16175">
            <a:solidFill>
              <a:srgbClr val="2C718C"/>
            </a:solidFill>
            <a:prstDash val="solid"/>
            <a:round/>
            <a:headEnd len="sm" w="sm" type="none"/>
            <a:tailEnd len="sm" w="sm" type="none"/>
          </a:ln>
        </p:spPr>
        <p:txBody>
          <a:bodyPr anchorCtr="0" anchor="ctr" bIns="19050" lIns="38100" spcFirstLastPara="1" rIns="38100" wrap="square" tIns="19050">
            <a:normAutofit/>
          </a:bodyPr>
          <a:lstStyle/>
          <a:p>
            <a:pPr indent="0" lvl="0" marL="0" marR="0" rtl="0" algn="ctr">
              <a:spcBef>
                <a:spcPts val="0"/>
              </a:spcBef>
              <a:spcAft>
                <a:spcPts val="0"/>
              </a:spcAft>
              <a:buNone/>
            </a:pPr>
            <a:r>
              <a:rPr lang="en-US" sz="1200">
                <a:solidFill>
                  <a:srgbClr val="202833"/>
                </a:solidFill>
                <a:latin typeface="Arial"/>
                <a:ea typeface="Arial"/>
                <a:cs typeface="Arial"/>
                <a:sym typeface="Arial"/>
              </a:rPr>
              <a:t>Check balance</a:t>
            </a:r>
            <a:endParaRPr/>
          </a:p>
        </p:txBody>
      </p:sp>
      <p:sp>
        <p:nvSpPr>
          <p:cNvPr id="283" name="Google Shape;283;p9"/>
          <p:cNvSpPr/>
          <p:nvPr/>
        </p:nvSpPr>
        <p:spPr>
          <a:xfrm>
            <a:off x="3905250" y="3190875"/>
            <a:ext cx="4381500" cy="342900"/>
          </a:xfrm>
          <a:prstGeom prst="ellipse">
            <a:avLst/>
          </a:prstGeom>
          <a:solidFill>
            <a:srgbClr val="DDEEF2"/>
          </a:solidFill>
          <a:ln cap="flat" cmpd="sng" w="16175">
            <a:solidFill>
              <a:srgbClr val="2C718C"/>
            </a:solidFill>
            <a:prstDash val="solid"/>
            <a:round/>
            <a:headEnd len="sm" w="sm" type="none"/>
            <a:tailEnd len="sm" w="sm" type="none"/>
          </a:ln>
        </p:spPr>
        <p:txBody>
          <a:bodyPr anchorCtr="0" anchor="ctr" bIns="19050" lIns="38100" spcFirstLastPara="1" rIns="38100" wrap="square" tIns="19050">
            <a:normAutofit/>
          </a:bodyPr>
          <a:lstStyle/>
          <a:p>
            <a:pPr indent="0" lvl="0" marL="0" marR="0" rtl="0" algn="ctr">
              <a:spcBef>
                <a:spcPts val="0"/>
              </a:spcBef>
              <a:spcAft>
                <a:spcPts val="0"/>
              </a:spcAft>
              <a:buNone/>
            </a:pPr>
            <a:r>
              <a:rPr lang="en-US" sz="1200">
                <a:solidFill>
                  <a:srgbClr val="202833"/>
                </a:solidFill>
                <a:latin typeface="Arial"/>
                <a:ea typeface="Arial"/>
                <a:cs typeface="Arial"/>
                <a:sym typeface="Arial"/>
              </a:rPr>
              <a:t>Withdraw cash</a:t>
            </a:r>
            <a:endParaRPr/>
          </a:p>
        </p:txBody>
      </p:sp>
      <p:sp>
        <p:nvSpPr>
          <p:cNvPr id="284" name="Google Shape;284;p9"/>
          <p:cNvSpPr/>
          <p:nvPr/>
        </p:nvSpPr>
        <p:spPr>
          <a:xfrm>
            <a:off x="3905250" y="3581400"/>
            <a:ext cx="4381500" cy="342900"/>
          </a:xfrm>
          <a:prstGeom prst="ellipse">
            <a:avLst/>
          </a:prstGeom>
          <a:solidFill>
            <a:srgbClr val="FFFFFF"/>
          </a:solidFill>
          <a:ln cap="flat" cmpd="sng" w="16175">
            <a:solidFill>
              <a:srgbClr val="2C718C"/>
            </a:solidFill>
            <a:prstDash val="solid"/>
            <a:round/>
            <a:headEnd len="sm" w="sm" type="none"/>
            <a:tailEnd len="sm" w="sm" type="none"/>
          </a:ln>
        </p:spPr>
        <p:txBody>
          <a:bodyPr anchorCtr="0" anchor="ctr" bIns="19050" lIns="38100" spcFirstLastPara="1" rIns="38100" wrap="square" tIns="19050">
            <a:normAutofit/>
          </a:bodyPr>
          <a:lstStyle/>
          <a:p>
            <a:pPr indent="0" lvl="0" marL="0" marR="0" rtl="0" algn="ctr">
              <a:spcBef>
                <a:spcPts val="0"/>
              </a:spcBef>
              <a:spcAft>
                <a:spcPts val="0"/>
              </a:spcAft>
              <a:buNone/>
            </a:pPr>
            <a:r>
              <a:rPr lang="en-US" sz="1200">
                <a:solidFill>
                  <a:srgbClr val="202833"/>
                </a:solidFill>
                <a:latin typeface="Arial"/>
                <a:ea typeface="Arial"/>
                <a:cs typeface="Arial"/>
                <a:sym typeface="Arial"/>
              </a:rPr>
              <a:t>Deposit cash</a:t>
            </a:r>
            <a:endParaRPr/>
          </a:p>
        </p:txBody>
      </p:sp>
      <p:sp>
        <p:nvSpPr>
          <p:cNvPr id="285" name="Google Shape;285;p9"/>
          <p:cNvSpPr/>
          <p:nvPr/>
        </p:nvSpPr>
        <p:spPr>
          <a:xfrm>
            <a:off x="3905250" y="3971925"/>
            <a:ext cx="4381500" cy="342900"/>
          </a:xfrm>
          <a:prstGeom prst="ellipse">
            <a:avLst/>
          </a:prstGeom>
          <a:solidFill>
            <a:srgbClr val="FFFFFF"/>
          </a:solidFill>
          <a:ln cap="flat" cmpd="sng" w="16175">
            <a:solidFill>
              <a:srgbClr val="2C718C"/>
            </a:solidFill>
            <a:prstDash val="solid"/>
            <a:round/>
            <a:headEnd len="sm" w="sm" type="none"/>
            <a:tailEnd len="sm" w="sm" type="none"/>
          </a:ln>
        </p:spPr>
        <p:txBody>
          <a:bodyPr anchorCtr="0" anchor="ctr" bIns="19050" lIns="38100" spcFirstLastPara="1" rIns="38100" wrap="square" tIns="19050">
            <a:normAutofit/>
          </a:bodyPr>
          <a:lstStyle/>
          <a:p>
            <a:pPr indent="0" lvl="0" marL="0" marR="0" rtl="0" algn="ctr">
              <a:spcBef>
                <a:spcPts val="0"/>
              </a:spcBef>
              <a:spcAft>
                <a:spcPts val="0"/>
              </a:spcAft>
              <a:buNone/>
            </a:pPr>
            <a:r>
              <a:rPr lang="en-US" sz="1200">
                <a:solidFill>
                  <a:srgbClr val="202833"/>
                </a:solidFill>
                <a:latin typeface="Arial"/>
                <a:ea typeface="Arial"/>
                <a:cs typeface="Arial"/>
                <a:sym typeface="Arial"/>
              </a:rPr>
              <a:t>Transfer own accounts</a:t>
            </a:r>
            <a:endParaRPr/>
          </a:p>
        </p:txBody>
      </p:sp>
      <p:sp>
        <p:nvSpPr>
          <p:cNvPr id="286" name="Google Shape;286;p9"/>
          <p:cNvSpPr/>
          <p:nvPr/>
        </p:nvSpPr>
        <p:spPr>
          <a:xfrm>
            <a:off x="3905250" y="4362450"/>
            <a:ext cx="4381500" cy="342900"/>
          </a:xfrm>
          <a:prstGeom prst="ellipse">
            <a:avLst/>
          </a:prstGeom>
          <a:solidFill>
            <a:srgbClr val="FFFFFF"/>
          </a:solidFill>
          <a:ln cap="flat" cmpd="sng" w="16175">
            <a:solidFill>
              <a:srgbClr val="2C718C"/>
            </a:solidFill>
            <a:prstDash val="solid"/>
            <a:round/>
            <a:headEnd len="sm" w="sm" type="none"/>
            <a:tailEnd len="sm" w="sm" type="none"/>
          </a:ln>
        </p:spPr>
        <p:txBody>
          <a:bodyPr anchorCtr="0" anchor="ctr" bIns="19050" lIns="38100" spcFirstLastPara="1" rIns="38100" wrap="square" tIns="19050">
            <a:normAutofit/>
          </a:bodyPr>
          <a:lstStyle/>
          <a:p>
            <a:pPr indent="0" lvl="0" marL="0" marR="0" rtl="0" algn="ctr">
              <a:spcBef>
                <a:spcPts val="0"/>
              </a:spcBef>
              <a:spcAft>
                <a:spcPts val="0"/>
              </a:spcAft>
              <a:buNone/>
            </a:pPr>
            <a:r>
              <a:rPr lang="en-US" sz="1200">
                <a:solidFill>
                  <a:srgbClr val="202833"/>
                </a:solidFill>
                <a:latin typeface="Arial"/>
                <a:ea typeface="Arial"/>
                <a:cs typeface="Arial"/>
                <a:sym typeface="Arial"/>
              </a:rPr>
              <a:t>Change PIN</a:t>
            </a:r>
            <a:endParaRPr/>
          </a:p>
        </p:txBody>
      </p:sp>
      <p:sp>
        <p:nvSpPr>
          <p:cNvPr id="287" name="Google Shape;287;p9"/>
          <p:cNvSpPr/>
          <p:nvPr/>
        </p:nvSpPr>
        <p:spPr>
          <a:xfrm>
            <a:off x="3905250" y="4752975"/>
            <a:ext cx="4381500" cy="342900"/>
          </a:xfrm>
          <a:prstGeom prst="ellipse">
            <a:avLst/>
          </a:prstGeom>
          <a:solidFill>
            <a:srgbClr val="FFFFFF"/>
          </a:solidFill>
          <a:ln cap="flat" cmpd="sng" w="16175">
            <a:solidFill>
              <a:srgbClr val="2C718C"/>
            </a:solidFill>
            <a:prstDash val="solid"/>
            <a:round/>
            <a:headEnd len="sm" w="sm" type="none"/>
            <a:tailEnd len="sm" w="sm" type="none"/>
          </a:ln>
        </p:spPr>
        <p:txBody>
          <a:bodyPr anchorCtr="0" anchor="ctr" bIns="19050" lIns="38100" spcFirstLastPara="1" rIns="38100" wrap="square" tIns="19050">
            <a:normAutofit/>
          </a:bodyPr>
          <a:lstStyle/>
          <a:p>
            <a:pPr indent="0" lvl="0" marL="0" marR="0" rtl="0" algn="ctr">
              <a:spcBef>
                <a:spcPts val="0"/>
              </a:spcBef>
              <a:spcAft>
                <a:spcPts val="0"/>
              </a:spcAft>
              <a:buNone/>
            </a:pPr>
            <a:r>
              <a:rPr lang="en-US" sz="1200">
                <a:solidFill>
                  <a:srgbClr val="202833"/>
                </a:solidFill>
                <a:latin typeface="Arial"/>
                <a:ea typeface="Arial"/>
                <a:cs typeface="Arial"/>
                <a:sym typeface="Arial"/>
              </a:rPr>
              <a:t>View mini statement</a:t>
            </a:r>
            <a:endParaRPr/>
          </a:p>
        </p:txBody>
      </p:sp>
      <p:sp>
        <p:nvSpPr>
          <p:cNvPr id="288" name="Google Shape;288;p9"/>
          <p:cNvSpPr/>
          <p:nvPr/>
        </p:nvSpPr>
        <p:spPr>
          <a:xfrm>
            <a:off x="3905250" y="5143500"/>
            <a:ext cx="4381500" cy="342900"/>
          </a:xfrm>
          <a:prstGeom prst="ellipse">
            <a:avLst/>
          </a:prstGeom>
          <a:solidFill>
            <a:srgbClr val="FFFFFF"/>
          </a:solidFill>
          <a:ln cap="flat" cmpd="sng" w="16175">
            <a:solidFill>
              <a:srgbClr val="2C718C"/>
            </a:solidFill>
            <a:prstDash val="solid"/>
            <a:round/>
            <a:headEnd len="sm" w="sm" type="none"/>
            <a:tailEnd len="sm" w="sm" type="none"/>
          </a:ln>
        </p:spPr>
        <p:txBody>
          <a:bodyPr anchorCtr="0" anchor="ctr" bIns="19050" lIns="38100" spcFirstLastPara="1" rIns="38100" wrap="square" tIns="19050">
            <a:normAutofit/>
          </a:bodyPr>
          <a:lstStyle/>
          <a:p>
            <a:pPr indent="0" lvl="0" marL="0" marR="0" rtl="0" algn="ctr">
              <a:spcBef>
                <a:spcPts val="0"/>
              </a:spcBef>
              <a:spcAft>
                <a:spcPts val="0"/>
              </a:spcAft>
              <a:buNone/>
            </a:pPr>
            <a:r>
              <a:rPr lang="en-US" sz="1200">
                <a:solidFill>
                  <a:srgbClr val="202833"/>
                </a:solidFill>
                <a:latin typeface="Arial"/>
                <a:ea typeface="Arial"/>
                <a:cs typeface="Arial"/>
                <a:sym typeface="Arial"/>
              </a:rPr>
              <a:t>Print / show receipt</a:t>
            </a:r>
            <a:endParaRPr/>
          </a:p>
        </p:txBody>
      </p:sp>
      <p:sp>
        <p:nvSpPr>
          <p:cNvPr id="289" name="Google Shape;289;p9"/>
          <p:cNvSpPr/>
          <p:nvPr/>
        </p:nvSpPr>
        <p:spPr>
          <a:xfrm>
            <a:off x="3905250" y="5534025"/>
            <a:ext cx="4381500" cy="342900"/>
          </a:xfrm>
          <a:prstGeom prst="ellipse">
            <a:avLst/>
          </a:prstGeom>
          <a:solidFill>
            <a:srgbClr val="FFFFFF"/>
          </a:solidFill>
          <a:ln cap="flat" cmpd="sng" w="16175">
            <a:solidFill>
              <a:srgbClr val="2C718C"/>
            </a:solidFill>
            <a:prstDash val="solid"/>
            <a:round/>
            <a:headEnd len="sm" w="sm" type="none"/>
            <a:tailEnd len="sm" w="sm" type="none"/>
          </a:ln>
        </p:spPr>
        <p:txBody>
          <a:bodyPr anchorCtr="0" anchor="ctr" bIns="19050" lIns="38100" spcFirstLastPara="1" rIns="38100" wrap="square" tIns="19050">
            <a:normAutofit/>
          </a:bodyPr>
          <a:lstStyle/>
          <a:p>
            <a:pPr indent="0" lvl="0" marL="0" marR="0" rtl="0" algn="ctr">
              <a:spcBef>
                <a:spcPts val="0"/>
              </a:spcBef>
              <a:spcAft>
                <a:spcPts val="0"/>
              </a:spcAft>
              <a:buNone/>
            </a:pPr>
            <a:r>
              <a:rPr lang="en-US" sz="1200">
                <a:solidFill>
                  <a:srgbClr val="202833"/>
                </a:solidFill>
                <a:latin typeface="Arial"/>
                <a:ea typeface="Arial"/>
                <a:cs typeface="Arial"/>
                <a:sym typeface="Arial"/>
              </a:rPr>
              <a:t>End session</a:t>
            </a:r>
            <a:endParaRPr/>
          </a:p>
        </p:txBody>
      </p:sp>
      <p:sp>
        <p:nvSpPr>
          <p:cNvPr id="290" name="Google Shape;290;p9"/>
          <p:cNvSpPr/>
          <p:nvPr/>
        </p:nvSpPr>
        <p:spPr>
          <a:xfrm>
            <a:off x="1352550" y="3333750"/>
            <a:ext cx="228600" cy="228600"/>
          </a:xfrm>
          <a:prstGeom prst="ellipse">
            <a:avLst/>
          </a:prstGeom>
          <a:solidFill>
            <a:srgbClr val="FFFFFF"/>
          </a:solidFill>
          <a:ln cap="flat" cmpd="sng" w="19050">
            <a:solidFill>
              <a:srgbClr val="1933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91" name="Google Shape;291;p9"/>
          <p:cNvCxnSpPr/>
          <p:nvPr/>
        </p:nvCxnSpPr>
        <p:spPr>
          <a:xfrm>
            <a:off x="1466850" y="3562350"/>
            <a:ext cx="9525" cy="400050"/>
          </a:xfrm>
          <a:prstGeom prst="straightConnector1">
            <a:avLst/>
          </a:prstGeom>
          <a:noFill/>
          <a:ln cap="flat" cmpd="sng" w="19050">
            <a:solidFill>
              <a:srgbClr val="19334E"/>
            </a:solidFill>
            <a:prstDash val="solid"/>
            <a:round/>
            <a:headEnd len="sm" w="sm" type="none"/>
            <a:tailEnd len="sm" w="sm" type="none"/>
          </a:ln>
        </p:spPr>
      </p:cxnSp>
      <p:cxnSp>
        <p:nvCxnSpPr>
          <p:cNvPr id="292" name="Google Shape;292;p9"/>
          <p:cNvCxnSpPr/>
          <p:nvPr/>
        </p:nvCxnSpPr>
        <p:spPr>
          <a:xfrm>
            <a:off x="1257300" y="3714750"/>
            <a:ext cx="419100" cy="9525"/>
          </a:xfrm>
          <a:prstGeom prst="straightConnector1">
            <a:avLst/>
          </a:prstGeom>
          <a:noFill/>
          <a:ln cap="flat" cmpd="sng" w="19050">
            <a:solidFill>
              <a:srgbClr val="19334E"/>
            </a:solidFill>
            <a:prstDash val="solid"/>
            <a:round/>
            <a:headEnd len="sm" w="sm" type="none"/>
            <a:tailEnd len="sm" w="sm" type="none"/>
          </a:ln>
        </p:spPr>
      </p:cxnSp>
      <p:cxnSp>
        <p:nvCxnSpPr>
          <p:cNvPr id="293" name="Google Shape;293;p9"/>
          <p:cNvCxnSpPr/>
          <p:nvPr/>
        </p:nvCxnSpPr>
        <p:spPr>
          <a:xfrm flipH="1" rot="10800000">
            <a:off x="1285875" y="3962400"/>
            <a:ext cx="180975" cy="238125"/>
          </a:xfrm>
          <a:prstGeom prst="straightConnector1">
            <a:avLst/>
          </a:prstGeom>
          <a:noFill/>
          <a:ln cap="flat" cmpd="sng" w="19050">
            <a:solidFill>
              <a:srgbClr val="19334E"/>
            </a:solidFill>
            <a:prstDash val="solid"/>
            <a:round/>
            <a:headEnd len="sm" w="sm" type="none"/>
            <a:tailEnd len="sm" w="sm" type="none"/>
          </a:ln>
        </p:spPr>
      </p:cxnSp>
      <p:cxnSp>
        <p:nvCxnSpPr>
          <p:cNvPr id="294" name="Google Shape;294;p9"/>
          <p:cNvCxnSpPr/>
          <p:nvPr/>
        </p:nvCxnSpPr>
        <p:spPr>
          <a:xfrm>
            <a:off x="1466850" y="3962400"/>
            <a:ext cx="180975" cy="238125"/>
          </a:xfrm>
          <a:prstGeom prst="straightConnector1">
            <a:avLst/>
          </a:prstGeom>
          <a:noFill/>
          <a:ln cap="flat" cmpd="sng" w="19050">
            <a:solidFill>
              <a:srgbClr val="19334E"/>
            </a:solidFill>
            <a:prstDash val="solid"/>
            <a:round/>
            <a:headEnd len="sm" w="sm" type="none"/>
            <a:tailEnd len="sm" w="sm" type="none"/>
          </a:ln>
        </p:spPr>
      </p:cxnSp>
      <p:sp>
        <p:nvSpPr>
          <p:cNvPr id="295" name="Google Shape;295;p9"/>
          <p:cNvSpPr/>
          <p:nvPr/>
        </p:nvSpPr>
        <p:spPr>
          <a:xfrm>
            <a:off x="647700" y="4229100"/>
            <a:ext cx="1524000" cy="285750"/>
          </a:xfrm>
          <a:prstGeom prst="rect">
            <a:avLst/>
          </a:prstGeom>
          <a:noFill/>
          <a:ln>
            <a:noFill/>
          </a:ln>
        </p:spPr>
        <p:txBody>
          <a:bodyPr anchorCtr="0" anchor="ctr" bIns="19050" lIns="19050" spcFirstLastPara="1" rIns="19050" wrap="square" tIns="19050">
            <a:normAutofit/>
          </a:bodyPr>
          <a:lstStyle/>
          <a:p>
            <a:pPr indent="0" lvl="0" marL="0" marR="0" rtl="0" algn="ctr">
              <a:spcBef>
                <a:spcPts val="0"/>
              </a:spcBef>
              <a:spcAft>
                <a:spcPts val="0"/>
              </a:spcAft>
              <a:buNone/>
            </a:pPr>
            <a:r>
              <a:rPr b="1" lang="en-US" sz="1050">
                <a:solidFill>
                  <a:srgbClr val="19334E"/>
                </a:solidFill>
                <a:latin typeface="Arial"/>
                <a:ea typeface="Arial"/>
                <a:cs typeface="Arial"/>
                <a:sym typeface="Arial"/>
              </a:rPr>
              <a:t>Cardholder</a:t>
            </a:r>
            <a:endParaRPr/>
          </a:p>
        </p:txBody>
      </p:sp>
      <p:sp>
        <p:nvSpPr>
          <p:cNvPr id="296" name="Google Shape;296;p9"/>
          <p:cNvSpPr/>
          <p:nvPr/>
        </p:nvSpPr>
        <p:spPr>
          <a:xfrm>
            <a:off x="647700" y="4495800"/>
            <a:ext cx="1524000" cy="209550"/>
          </a:xfrm>
          <a:prstGeom prst="rect">
            <a:avLst/>
          </a:prstGeom>
          <a:noFill/>
          <a:ln>
            <a:noFill/>
          </a:ln>
        </p:spPr>
        <p:txBody>
          <a:bodyPr anchorCtr="0" anchor="ctr" bIns="19050" lIns="19050" spcFirstLastPara="1" rIns="19050" wrap="square" tIns="19050">
            <a:normAutofit/>
          </a:bodyPr>
          <a:lstStyle/>
          <a:p>
            <a:pPr indent="0" lvl="0" marL="0" marR="0" rtl="0" algn="ctr">
              <a:spcBef>
                <a:spcPts val="0"/>
              </a:spcBef>
              <a:spcAft>
                <a:spcPts val="0"/>
              </a:spcAft>
              <a:buNone/>
            </a:pPr>
            <a:r>
              <a:rPr b="0" lang="en-US" sz="825">
                <a:solidFill>
                  <a:srgbClr val="596573"/>
                </a:solidFill>
                <a:latin typeface="Arial"/>
                <a:ea typeface="Arial"/>
                <a:cs typeface="Arial"/>
                <a:sym typeface="Arial"/>
              </a:rPr>
              <a:t>primary human actor</a:t>
            </a:r>
            <a:endParaRPr/>
          </a:p>
        </p:txBody>
      </p:sp>
      <p:sp>
        <p:nvSpPr>
          <p:cNvPr id="297" name="Google Shape;297;p9"/>
          <p:cNvSpPr/>
          <p:nvPr/>
        </p:nvSpPr>
        <p:spPr>
          <a:xfrm>
            <a:off x="10591800" y="2381250"/>
            <a:ext cx="228600" cy="228600"/>
          </a:xfrm>
          <a:prstGeom prst="ellipse">
            <a:avLst/>
          </a:prstGeom>
          <a:solidFill>
            <a:srgbClr val="FFFFFF"/>
          </a:solidFill>
          <a:ln cap="flat" cmpd="sng" w="19050">
            <a:solidFill>
              <a:srgbClr val="1933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98" name="Google Shape;298;p9"/>
          <p:cNvCxnSpPr/>
          <p:nvPr/>
        </p:nvCxnSpPr>
        <p:spPr>
          <a:xfrm>
            <a:off x="10706100" y="2609850"/>
            <a:ext cx="9525" cy="400050"/>
          </a:xfrm>
          <a:prstGeom prst="straightConnector1">
            <a:avLst/>
          </a:prstGeom>
          <a:noFill/>
          <a:ln cap="flat" cmpd="sng" w="19050">
            <a:solidFill>
              <a:srgbClr val="19334E"/>
            </a:solidFill>
            <a:prstDash val="solid"/>
            <a:round/>
            <a:headEnd len="sm" w="sm" type="none"/>
            <a:tailEnd len="sm" w="sm" type="none"/>
          </a:ln>
        </p:spPr>
      </p:cxnSp>
      <p:cxnSp>
        <p:nvCxnSpPr>
          <p:cNvPr id="299" name="Google Shape;299;p9"/>
          <p:cNvCxnSpPr/>
          <p:nvPr/>
        </p:nvCxnSpPr>
        <p:spPr>
          <a:xfrm>
            <a:off x="10496550" y="2762250"/>
            <a:ext cx="419100" cy="9525"/>
          </a:xfrm>
          <a:prstGeom prst="straightConnector1">
            <a:avLst/>
          </a:prstGeom>
          <a:noFill/>
          <a:ln cap="flat" cmpd="sng" w="19050">
            <a:solidFill>
              <a:srgbClr val="19334E"/>
            </a:solidFill>
            <a:prstDash val="solid"/>
            <a:round/>
            <a:headEnd len="sm" w="sm" type="none"/>
            <a:tailEnd len="sm" w="sm" type="none"/>
          </a:ln>
        </p:spPr>
      </p:cxnSp>
      <p:cxnSp>
        <p:nvCxnSpPr>
          <p:cNvPr id="300" name="Google Shape;300;p9"/>
          <p:cNvCxnSpPr/>
          <p:nvPr/>
        </p:nvCxnSpPr>
        <p:spPr>
          <a:xfrm flipH="1" rot="10800000">
            <a:off x="10525125" y="3009900"/>
            <a:ext cx="180975" cy="238125"/>
          </a:xfrm>
          <a:prstGeom prst="straightConnector1">
            <a:avLst/>
          </a:prstGeom>
          <a:noFill/>
          <a:ln cap="flat" cmpd="sng" w="19050">
            <a:solidFill>
              <a:srgbClr val="19334E"/>
            </a:solidFill>
            <a:prstDash val="solid"/>
            <a:round/>
            <a:headEnd len="sm" w="sm" type="none"/>
            <a:tailEnd len="sm" w="sm" type="none"/>
          </a:ln>
        </p:spPr>
      </p:cxnSp>
      <p:cxnSp>
        <p:nvCxnSpPr>
          <p:cNvPr id="301" name="Google Shape;301;p9"/>
          <p:cNvCxnSpPr/>
          <p:nvPr/>
        </p:nvCxnSpPr>
        <p:spPr>
          <a:xfrm>
            <a:off x="10706100" y="3009900"/>
            <a:ext cx="180975" cy="238125"/>
          </a:xfrm>
          <a:prstGeom prst="straightConnector1">
            <a:avLst/>
          </a:prstGeom>
          <a:noFill/>
          <a:ln cap="flat" cmpd="sng" w="19050">
            <a:solidFill>
              <a:srgbClr val="19334E"/>
            </a:solidFill>
            <a:prstDash val="solid"/>
            <a:round/>
            <a:headEnd len="sm" w="sm" type="none"/>
            <a:tailEnd len="sm" w="sm" type="none"/>
          </a:ln>
        </p:spPr>
      </p:cxnSp>
      <p:sp>
        <p:nvSpPr>
          <p:cNvPr id="302" name="Google Shape;302;p9"/>
          <p:cNvSpPr/>
          <p:nvPr/>
        </p:nvSpPr>
        <p:spPr>
          <a:xfrm>
            <a:off x="9886950" y="3276600"/>
            <a:ext cx="1524000" cy="285750"/>
          </a:xfrm>
          <a:prstGeom prst="rect">
            <a:avLst/>
          </a:prstGeom>
          <a:noFill/>
          <a:ln>
            <a:noFill/>
          </a:ln>
        </p:spPr>
        <p:txBody>
          <a:bodyPr anchorCtr="0" anchor="ctr" bIns="19050" lIns="19050" spcFirstLastPara="1" rIns="19050" wrap="square" tIns="19050">
            <a:normAutofit/>
          </a:bodyPr>
          <a:lstStyle/>
          <a:p>
            <a:pPr indent="0" lvl="0" marL="0" marR="0" rtl="0" algn="ctr">
              <a:spcBef>
                <a:spcPts val="0"/>
              </a:spcBef>
              <a:spcAft>
                <a:spcPts val="0"/>
              </a:spcAft>
              <a:buNone/>
            </a:pPr>
            <a:r>
              <a:rPr b="1" lang="en-US" sz="1050">
                <a:solidFill>
                  <a:srgbClr val="19334E"/>
                </a:solidFill>
                <a:latin typeface="Arial"/>
                <a:ea typeface="Arial"/>
                <a:cs typeface="Arial"/>
                <a:sym typeface="Arial"/>
              </a:rPr>
              <a:t>Cash dispenser</a:t>
            </a:r>
            <a:endParaRPr/>
          </a:p>
        </p:txBody>
      </p:sp>
      <p:sp>
        <p:nvSpPr>
          <p:cNvPr id="303" name="Google Shape;303;p9"/>
          <p:cNvSpPr/>
          <p:nvPr/>
        </p:nvSpPr>
        <p:spPr>
          <a:xfrm>
            <a:off x="9886950" y="3543300"/>
            <a:ext cx="1524000" cy="209550"/>
          </a:xfrm>
          <a:prstGeom prst="rect">
            <a:avLst/>
          </a:prstGeom>
          <a:noFill/>
          <a:ln>
            <a:noFill/>
          </a:ln>
        </p:spPr>
        <p:txBody>
          <a:bodyPr anchorCtr="0" anchor="ctr" bIns="19050" lIns="19050" spcFirstLastPara="1" rIns="19050" wrap="square" tIns="19050">
            <a:normAutofit/>
          </a:bodyPr>
          <a:lstStyle/>
          <a:p>
            <a:pPr indent="0" lvl="0" marL="0" marR="0" rtl="0" algn="ctr">
              <a:spcBef>
                <a:spcPts val="0"/>
              </a:spcBef>
              <a:spcAft>
                <a:spcPts val="0"/>
              </a:spcAft>
              <a:buNone/>
            </a:pPr>
            <a:r>
              <a:rPr b="0" lang="en-US" sz="825">
                <a:solidFill>
                  <a:srgbClr val="596573"/>
                </a:solidFill>
                <a:latin typeface="Arial"/>
                <a:ea typeface="Arial"/>
                <a:cs typeface="Arial"/>
                <a:sym typeface="Arial"/>
              </a:rPr>
              <a:t>simulated device</a:t>
            </a:r>
            <a:endParaRPr/>
          </a:p>
        </p:txBody>
      </p:sp>
      <p:sp>
        <p:nvSpPr>
          <p:cNvPr id="304" name="Google Shape;304;p9"/>
          <p:cNvSpPr/>
          <p:nvPr/>
        </p:nvSpPr>
        <p:spPr>
          <a:xfrm>
            <a:off x="10591800" y="4333875"/>
            <a:ext cx="228600" cy="228600"/>
          </a:xfrm>
          <a:prstGeom prst="ellipse">
            <a:avLst/>
          </a:prstGeom>
          <a:solidFill>
            <a:srgbClr val="FFFFFF"/>
          </a:solidFill>
          <a:ln cap="flat" cmpd="sng" w="19050">
            <a:solidFill>
              <a:srgbClr val="1933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5" name="Google Shape;305;p9"/>
          <p:cNvCxnSpPr/>
          <p:nvPr/>
        </p:nvCxnSpPr>
        <p:spPr>
          <a:xfrm>
            <a:off x="10706100" y="4562475"/>
            <a:ext cx="9525" cy="400050"/>
          </a:xfrm>
          <a:prstGeom prst="straightConnector1">
            <a:avLst/>
          </a:prstGeom>
          <a:noFill/>
          <a:ln cap="flat" cmpd="sng" w="19050">
            <a:solidFill>
              <a:srgbClr val="19334E"/>
            </a:solidFill>
            <a:prstDash val="solid"/>
            <a:round/>
            <a:headEnd len="sm" w="sm" type="none"/>
            <a:tailEnd len="sm" w="sm" type="none"/>
          </a:ln>
        </p:spPr>
      </p:cxnSp>
      <p:cxnSp>
        <p:nvCxnSpPr>
          <p:cNvPr id="306" name="Google Shape;306;p9"/>
          <p:cNvCxnSpPr/>
          <p:nvPr/>
        </p:nvCxnSpPr>
        <p:spPr>
          <a:xfrm>
            <a:off x="10496550" y="4714875"/>
            <a:ext cx="419100" cy="9525"/>
          </a:xfrm>
          <a:prstGeom prst="straightConnector1">
            <a:avLst/>
          </a:prstGeom>
          <a:noFill/>
          <a:ln cap="flat" cmpd="sng" w="19050">
            <a:solidFill>
              <a:srgbClr val="19334E"/>
            </a:solidFill>
            <a:prstDash val="solid"/>
            <a:round/>
            <a:headEnd len="sm" w="sm" type="none"/>
            <a:tailEnd len="sm" w="sm" type="none"/>
          </a:ln>
        </p:spPr>
      </p:cxnSp>
      <p:cxnSp>
        <p:nvCxnSpPr>
          <p:cNvPr id="307" name="Google Shape;307;p9"/>
          <p:cNvCxnSpPr/>
          <p:nvPr/>
        </p:nvCxnSpPr>
        <p:spPr>
          <a:xfrm flipH="1" rot="10800000">
            <a:off x="10525125" y="4962525"/>
            <a:ext cx="180975" cy="238125"/>
          </a:xfrm>
          <a:prstGeom prst="straightConnector1">
            <a:avLst/>
          </a:prstGeom>
          <a:noFill/>
          <a:ln cap="flat" cmpd="sng" w="19050">
            <a:solidFill>
              <a:srgbClr val="19334E"/>
            </a:solidFill>
            <a:prstDash val="solid"/>
            <a:round/>
            <a:headEnd len="sm" w="sm" type="none"/>
            <a:tailEnd len="sm" w="sm" type="none"/>
          </a:ln>
        </p:spPr>
      </p:cxnSp>
      <p:cxnSp>
        <p:nvCxnSpPr>
          <p:cNvPr id="308" name="Google Shape;308;p9"/>
          <p:cNvCxnSpPr/>
          <p:nvPr/>
        </p:nvCxnSpPr>
        <p:spPr>
          <a:xfrm>
            <a:off x="10706100" y="4962525"/>
            <a:ext cx="180975" cy="238125"/>
          </a:xfrm>
          <a:prstGeom prst="straightConnector1">
            <a:avLst/>
          </a:prstGeom>
          <a:noFill/>
          <a:ln cap="flat" cmpd="sng" w="19050">
            <a:solidFill>
              <a:srgbClr val="19334E"/>
            </a:solidFill>
            <a:prstDash val="solid"/>
            <a:round/>
            <a:headEnd len="sm" w="sm" type="none"/>
            <a:tailEnd len="sm" w="sm" type="none"/>
          </a:ln>
        </p:spPr>
      </p:cxnSp>
      <p:sp>
        <p:nvSpPr>
          <p:cNvPr id="309" name="Google Shape;309;p9"/>
          <p:cNvSpPr/>
          <p:nvPr/>
        </p:nvSpPr>
        <p:spPr>
          <a:xfrm>
            <a:off x="9886950" y="5229225"/>
            <a:ext cx="1524000" cy="285750"/>
          </a:xfrm>
          <a:prstGeom prst="rect">
            <a:avLst/>
          </a:prstGeom>
          <a:noFill/>
          <a:ln>
            <a:noFill/>
          </a:ln>
        </p:spPr>
        <p:txBody>
          <a:bodyPr anchorCtr="0" anchor="ctr" bIns="19050" lIns="19050" spcFirstLastPara="1" rIns="19050" wrap="square" tIns="19050">
            <a:normAutofit/>
          </a:bodyPr>
          <a:lstStyle/>
          <a:p>
            <a:pPr indent="0" lvl="0" marL="0" marR="0" rtl="0" algn="ctr">
              <a:spcBef>
                <a:spcPts val="0"/>
              </a:spcBef>
              <a:spcAft>
                <a:spcPts val="0"/>
              </a:spcAft>
              <a:buNone/>
            </a:pPr>
            <a:r>
              <a:rPr b="1" lang="en-US" sz="1050">
                <a:solidFill>
                  <a:srgbClr val="19334E"/>
                </a:solidFill>
                <a:latin typeface="Arial"/>
                <a:ea typeface="Arial"/>
                <a:cs typeface="Arial"/>
                <a:sym typeface="Arial"/>
              </a:rPr>
              <a:t>Receipt printer</a:t>
            </a:r>
            <a:endParaRPr/>
          </a:p>
        </p:txBody>
      </p:sp>
      <p:sp>
        <p:nvSpPr>
          <p:cNvPr id="310" name="Google Shape;310;p9"/>
          <p:cNvSpPr/>
          <p:nvPr/>
        </p:nvSpPr>
        <p:spPr>
          <a:xfrm>
            <a:off x="9886950" y="5495925"/>
            <a:ext cx="1524000" cy="209550"/>
          </a:xfrm>
          <a:prstGeom prst="rect">
            <a:avLst/>
          </a:prstGeom>
          <a:noFill/>
          <a:ln>
            <a:noFill/>
          </a:ln>
        </p:spPr>
        <p:txBody>
          <a:bodyPr anchorCtr="0" anchor="ctr" bIns="19050" lIns="19050" spcFirstLastPara="1" rIns="19050" wrap="square" tIns="19050">
            <a:normAutofit/>
          </a:bodyPr>
          <a:lstStyle/>
          <a:p>
            <a:pPr indent="0" lvl="0" marL="0" marR="0" rtl="0" algn="ctr">
              <a:spcBef>
                <a:spcPts val="0"/>
              </a:spcBef>
              <a:spcAft>
                <a:spcPts val="0"/>
              </a:spcAft>
              <a:buNone/>
            </a:pPr>
            <a:r>
              <a:rPr b="0" lang="en-US" sz="825">
                <a:solidFill>
                  <a:srgbClr val="596573"/>
                </a:solidFill>
                <a:latin typeface="Arial"/>
                <a:ea typeface="Arial"/>
                <a:cs typeface="Arial"/>
                <a:sym typeface="Arial"/>
              </a:rPr>
              <a:t>simulated device</a:t>
            </a:r>
            <a:endParaRPr/>
          </a:p>
        </p:txBody>
      </p:sp>
      <p:sp>
        <p:nvSpPr>
          <p:cNvPr id="311" name="Google Shape;311;p9"/>
          <p:cNvSpPr/>
          <p:nvPr/>
        </p:nvSpPr>
        <p:spPr>
          <a:xfrm>
            <a:off x="2571750" y="5819775"/>
            <a:ext cx="6905625" cy="9525"/>
          </a:xfrm>
          <a:prstGeom prst="rect">
            <a:avLst/>
          </a:prstGeom>
          <a:solidFill>
            <a:srgbClr val="D5DC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9"/>
          <p:cNvSpPr/>
          <p:nvPr/>
        </p:nvSpPr>
        <p:spPr>
          <a:xfrm>
            <a:off x="552450" y="6257925"/>
            <a:ext cx="11049000" cy="2857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975">
                <a:solidFill>
                  <a:srgbClr val="596573"/>
                </a:solidFill>
                <a:latin typeface="Arial"/>
                <a:ea typeface="Arial"/>
                <a:cs typeface="Arial"/>
                <a:sym typeface="Arial"/>
              </a:rPr>
              <a:t>All three actors and all ten use cases are defined textually on the following slides. Authentication is a session precondition for financial actions.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10"/>
          <p:cNvSpPr/>
          <p:nvPr/>
        </p:nvSpPr>
        <p:spPr>
          <a:xfrm>
            <a:off x="0" y="0"/>
            <a:ext cx="12192000"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0"/>
          <p:cNvSpPr/>
          <p:nvPr/>
        </p:nvSpPr>
        <p:spPr>
          <a:xfrm>
            <a:off x="0" y="0"/>
            <a:ext cx="12192000" cy="1066800"/>
          </a:xfrm>
          <a:prstGeom prst="rect">
            <a:avLst/>
          </a:prstGeom>
          <a:solidFill>
            <a:srgbClr val="8B12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0"/>
          <p:cNvSpPr/>
          <p:nvPr/>
        </p:nvSpPr>
        <p:spPr>
          <a:xfrm>
            <a:off x="514350" y="228600"/>
            <a:ext cx="11049000" cy="5905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1" lang="en-US" sz="2550">
                <a:solidFill>
                  <a:srgbClr val="FFFFFF"/>
                </a:solidFill>
                <a:latin typeface="Arial"/>
                <a:ea typeface="Arial"/>
                <a:cs typeface="Arial"/>
                <a:sym typeface="Arial"/>
              </a:rPr>
              <a:t>Problem 3 • actors and relationship rules</a:t>
            </a:r>
            <a:endParaRPr/>
          </a:p>
        </p:txBody>
      </p:sp>
      <p:sp>
        <p:nvSpPr>
          <p:cNvPr id="321" name="Google Shape;321;p10"/>
          <p:cNvSpPr/>
          <p:nvPr/>
        </p:nvSpPr>
        <p:spPr>
          <a:xfrm>
            <a:off x="0" y="6629400"/>
            <a:ext cx="12192000" cy="228600"/>
          </a:xfrm>
          <a:prstGeom prst="rect">
            <a:avLst/>
          </a:prstGeom>
          <a:solidFill>
            <a:srgbClr val="6710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0"/>
          <p:cNvSpPr/>
          <p:nvPr/>
        </p:nvSpPr>
        <p:spPr>
          <a:xfrm>
            <a:off x="419100" y="6638925"/>
            <a:ext cx="8953500" cy="19050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900">
                <a:solidFill>
                  <a:srgbClr val="FFFFFF"/>
                </a:solidFill>
                <a:latin typeface="Arial"/>
                <a:ea typeface="Arial"/>
                <a:cs typeface="Arial"/>
                <a:sym typeface="Arial"/>
              </a:rPr>
              <a:t>SOEN 6611 • SECTION D • FALL 2026</a:t>
            </a:r>
            <a:endParaRPr/>
          </a:p>
        </p:txBody>
      </p:sp>
      <p:sp>
        <p:nvSpPr>
          <p:cNvPr id="323" name="Google Shape;323;p10"/>
          <p:cNvSpPr/>
          <p:nvPr/>
        </p:nvSpPr>
        <p:spPr>
          <a:xfrm>
            <a:off x="11334750" y="6638925"/>
            <a:ext cx="457200" cy="190500"/>
          </a:xfrm>
          <a:prstGeom prst="rect">
            <a:avLst/>
          </a:prstGeom>
          <a:noFill/>
          <a:ln>
            <a:noFill/>
          </a:ln>
        </p:spPr>
        <p:txBody>
          <a:bodyPr anchorCtr="0" anchor="ctr" bIns="19050" lIns="19050" spcFirstLastPara="1" rIns="19050" wrap="square" tIns="19050">
            <a:normAutofit/>
          </a:bodyPr>
          <a:lstStyle/>
          <a:p>
            <a:pPr indent="0" lvl="0" marL="0" marR="0" rtl="0" algn="r">
              <a:spcBef>
                <a:spcPts val="0"/>
              </a:spcBef>
              <a:spcAft>
                <a:spcPts val="0"/>
              </a:spcAft>
              <a:buNone/>
            </a:pPr>
            <a:r>
              <a:rPr b="1" lang="en-US" sz="900">
                <a:solidFill>
                  <a:srgbClr val="FFFFFF"/>
                </a:solidFill>
                <a:latin typeface="Arial"/>
                <a:ea typeface="Arial"/>
                <a:cs typeface="Arial"/>
                <a:sym typeface="Arial"/>
              </a:rPr>
              <a:t>10</a:t>
            </a:r>
            <a:endParaRPr/>
          </a:p>
        </p:txBody>
      </p:sp>
      <p:sp>
        <p:nvSpPr>
          <p:cNvPr id="324" name="Google Shape;324;p10"/>
          <p:cNvSpPr/>
          <p:nvPr/>
        </p:nvSpPr>
        <p:spPr>
          <a:xfrm>
            <a:off x="609600" y="1352550"/>
            <a:ext cx="10858500" cy="32385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725">
                <a:solidFill>
                  <a:srgbClr val="19334E"/>
                </a:solidFill>
                <a:latin typeface="Arial"/>
                <a:ea typeface="Arial"/>
                <a:cs typeface="Arial"/>
                <a:sym typeface="Arial"/>
              </a:rPr>
              <a:t>Actor definitions</a:t>
            </a:r>
            <a:endParaRPr/>
          </a:p>
        </p:txBody>
      </p:sp>
      <p:sp>
        <p:nvSpPr>
          <p:cNvPr id="325" name="Google Shape;325;p10"/>
          <p:cNvSpPr/>
          <p:nvPr/>
        </p:nvSpPr>
        <p:spPr>
          <a:xfrm>
            <a:off x="590550" y="1819275"/>
            <a:ext cx="5314950" cy="1228725"/>
          </a:xfrm>
          <a:prstGeom prst="rect">
            <a:avLst/>
          </a:prstGeom>
          <a:solidFill>
            <a:srgbClr val="F4F6F8"/>
          </a:solidFill>
          <a:ln cap="flat" cmpd="sng" w="114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0"/>
          <p:cNvSpPr/>
          <p:nvPr/>
        </p:nvSpPr>
        <p:spPr>
          <a:xfrm>
            <a:off x="733425" y="1924050"/>
            <a:ext cx="5029200" cy="2571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275">
                <a:solidFill>
                  <a:srgbClr val="8B1239"/>
                </a:solidFill>
                <a:latin typeface="Arial"/>
                <a:ea typeface="Arial"/>
                <a:cs typeface="Arial"/>
                <a:sym typeface="Arial"/>
              </a:rPr>
              <a:t>Cardholder • primary human actor</a:t>
            </a:r>
            <a:endParaRPr/>
          </a:p>
        </p:txBody>
      </p:sp>
      <p:sp>
        <p:nvSpPr>
          <p:cNvPr id="327" name="Google Shape;327;p10"/>
          <p:cNvSpPr/>
          <p:nvPr/>
        </p:nvSpPr>
        <p:spPr>
          <a:xfrm>
            <a:off x="733425" y="2228850"/>
            <a:ext cx="5029200" cy="7524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275">
                <a:solidFill>
                  <a:srgbClr val="202833"/>
                </a:solidFill>
                <a:latin typeface="Arial"/>
                <a:ea typeface="Arial"/>
                <a:cs typeface="Arial"/>
                <a:sym typeface="Arial"/>
              </a:rPr>
              <a:t>Starts a session, authenticates with simulated card/PIN credentials, and uses the customer-facing ABM functions.</a:t>
            </a:r>
            <a:endParaRPr/>
          </a:p>
        </p:txBody>
      </p:sp>
      <p:sp>
        <p:nvSpPr>
          <p:cNvPr id="328" name="Google Shape;328;p10"/>
          <p:cNvSpPr/>
          <p:nvPr/>
        </p:nvSpPr>
        <p:spPr>
          <a:xfrm>
            <a:off x="6286500" y="1819275"/>
            <a:ext cx="5314950" cy="1228725"/>
          </a:xfrm>
          <a:prstGeom prst="rect">
            <a:avLst/>
          </a:prstGeom>
          <a:solidFill>
            <a:srgbClr val="F4F6F8"/>
          </a:solidFill>
          <a:ln cap="flat" cmpd="sng" w="114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0"/>
          <p:cNvSpPr/>
          <p:nvPr/>
        </p:nvSpPr>
        <p:spPr>
          <a:xfrm>
            <a:off x="6429375" y="1924050"/>
            <a:ext cx="5029200" cy="2571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275">
                <a:solidFill>
                  <a:srgbClr val="8B1239"/>
                </a:solidFill>
                <a:latin typeface="Arial"/>
                <a:ea typeface="Arial"/>
                <a:cs typeface="Arial"/>
                <a:sym typeface="Arial"/>
              </a:rPr>
              <a:t>Cash dispenser • secondary simulated device</a:t>
            </a:r>
            <a:endParaRPr/>
          </a:p>
        </p:txBody>
      </p:sp>
      <p:sp>
        <p:nvSpPr>
          <p:cNvPr id="330" name="Google Shape;330;p10"/>
          <p:cNvSpPr/>
          <p:nvPr/>
        </p:nvSpPr>
        <p:spPr>
          <a:xfrm>
            <a:off x="6429375" y="2228850"/>
            <a:ext cx="5029200" cy="7524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275">
                <a:solidFill>
                  <a:srgbClr val="202833"/>
                </a:solidFill>
                <a:latin typeface="Arial"/>
                <a:ea typeface="Arial"/>
                <a:cs typeface="Arial"/>
                <a:sym typeface="Arial"/>
              </a:rPr>
              <a:t>Receives a successful dispense instruction for a withdrawal and reports whether the simulated cash dispense succeeded.</a:t>
            </a:r>
            <a:endParaRPr/>
          </a:p>
        </p:txBody>
      </p:sp>
      <p:sp>
        <p:nvSpPr>
          <p:cNvPr id="331" name="Google Shape;331;p10"/>
          <p:cNvSpPr/>
          <p:nvPr/>
        </p:nvSpPr>
        <p:spPr>
          <a:xfrm>
            <a:off x="590550" y="3267075"/>
            <a:ext cx="5314950" cy="1228725"/>
          </a:xfrm>
          <a:prstGeom prst="rect">
            <a:avLst/>
          </a:prstGeom>
          <a:solidFill>
            <a:srgbClr val="F4F6F8"/>
          </a:solidFill>
          <a:ln cap="flat" cmpd="sng" w="114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0"/>
          <p:cNvSpPr/>
          <p:nvPr/>
        </p:nvSpPr>
        <p:spPr>
          <a:xfrm>
            <a:off x="733425" y="3371850"/>
            <a:ext cx="5029200" cy="2571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275">
                <a:solidFill>
                  <a:srgbClr val="8B1239"/>
                </a:solidFill>
                <a:latin typeface="Arial"/>
                <a:ea typeface="Arial"/>
                <a:cs typeface="Arial"/>
                <a:sym typeface="Arial"/>
              </a:rPr>
              <a:t>Receipt printer • secondary simulated device</a:t>
            </a:r>
            <a:endParaRPr/>
          </a:p>
        </p:txBody>
      </p:sp>
      <p:sp>
        <p:nvSpPr>
          <p:cNvPr id="333" name="Google Shape;333;p10"/>
          <p:cNvSpPr/>
          <p:nvPr/>
        </p:nvSpPr>
        <p:spPr>
          <a:xfrm>
            <a:off x="733425" y="3676650"/>
            <a:ext cx="5029200" cy="7524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275">
                <a:solidFill>
                  <a:srgbClr val="202833"/>
                </a:solidFill>
                <a:latin typeface="Arial"/>
                <a:ea typeface="Arial"/>
                <a:cs typeface="Arial"/>
                <a:sym typeface="Arial"/>
              </a:rPr>
              <a:t>Produces a software-simulated receipt only when the cardholder requests one after a supported transaction.</a:t>
            </a:r>
            <a:endParaRPr/>
          </a:p>
        </p:txBody>
      </p:sp>
      <p:sp>
        <p:nvSpPr>
          <p:cNvPr id="334" name="Google Shape;334;p10"/>
          <p:cNvSpPr/>
          <p:nvPr/>
        </p:nvSpPr>
        <p:spPr>
          <a:xfrm>
            <a:off x="6286500" y="3267075"/>
            <a:ext cx="5314950" cy="1228725"/>
          </a:xfrm>
          <a:prstGeom prst="rect">
            <a:avLst/>
          </a:prstGeom>
          <a:solidFill>
            <a:srgbClr val="F4F6F8"/>
          </a:solidFill>
          <a:ln cap="flat" cmpd="sng" w="114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0"/>
          <p:cNvSpPr/>
          <p:nvPr/>
        </p:nvSpPr>
        <p:spPr>
          <a:xfrm>
            <a:off x="6429375" y="3371850"/>
            <a:ext cx="5029200" cy="2571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275">
                <a:solidFill>
                  <a:srgbClr val="8B1239"/>
                </a:solidFill>
                <a:latin typeface="Arial"/>
                <a:ea typeface="Arial"/>
                <a:cs typeface="Arial"/>
                <a:sym typeface="Arial"/>
              </a:rPr>
              <a:t>System boundary</a:t>
            </a:r>
            <a:endParaRPr/>
          </a:p>
        </p:txBody>
      </p:sp>
      <p:sp>
        <p:nvSpPr>
          <p:cNvPr id="336" name="Google Shape;336;p10"/>
          <p:cNvSpPr/>
          <p:nvPr/>
        </p:nvSpPr>
        <p:spPr>
          <a:xfrm>
            <a:off x="6429375" y="3676650"/>
            <a:ext cx="5029200" cy="7524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238">
                <a:solidFill>
                  <a:srgbClr val="202833"/>
                </a:solidFill>
                <a:latin typeface="Arial"/>
                <a:ea typeface="Arial"/>
                <a:cs typeface="Arial"/>
                <a:sym typeface="Arial"/>
              </a:rPr>
              <a:t>Bank logic, account data, validation, and transaction log run inside iBank. The cash dispenser and receipt printer are external software test doubles. No live bank, Interac, or payment processor is modeled.</a:t>
            </a:r>
            <a:endParaRPr/>
          </a:p>
        </p:txBody>
      </p:sp>
      <p:sp>
        <p:nvSpPr>
          <p:cNvPr id="337" name="Google Shape;337;p10"/>
          <p:cNvSpPr/>
          <p:nvPr/>
        </p:nvSpPr>
        <p:spPr>
          <a:xfrm>
            <a:off x="609600" y="4572000"/>
            <a:ext cx="10858500" cy="32385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725">
                <a:solidFill>
                  <a:srgbClr val="19334E"/>
                </a:solidFill>
                <a:latin typeface="Arial"/>
                <a:ea typeface="Arial"/>
                <a:cs typeface="Arial"/>
                <a:sym typeface="Arial"/>
              </a:rPr>
              <a:t>Relationship rules</a:t>
            </a:r>
            <a:endParaRPr/>
          </a:p>
        </p:txBody>
      </p:sp>
      <p:sp>
        <p:nvSpPr>
          <p:cNvPr id="338" name="Google Shape;338;p10"/>
          <p:cNvSpPr/>
          <p:nvPr/>
        </p:nvSpPr>
        <p:spPr>
          <a:xfrm>
            <a:off x="714375" y="4953000"/>
            <a:ext cx="10620375" cy="32385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238">
                <a:solidFill>
                  <a:srgbClr val="202833"/>
                </a:solidFill>
                <a:latin typeface="Arial"/>
                <a:ea typeface="Arial"/>
                <a:cs typeface="Arial"/>
                <a:sym typeface="Arial"/>
              </a:rPr>
              <a:t>•  Cardholder interacts with all ten customer use cases shown in the diagram.</a:t>
            </a:r>
            <a:endParaRPr/>
          </a:p>
        </p:txBody>
      </p:sp>
      <p:sp>
        <p:nvSpPr>
          <p:cNvPr id="339" name="Google Shape;339;p10"/>
          <p:cNvSpPr/>
          <p:nvPr/>
        </p:nvSpPr>
        <p:spPr>
          <a:xfrm>
            <a:off x="714375" y="5305425"/>
            <a:ext cx="10620375" cy="40005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238">
                <a:solidFill>
                  <a:srgbClr val="202833"/>
                </a:solidFill>
                <a:latin typeface="Arial"/>
                <a:ea typeface="Arial"/>
                <a:cs typeface="Arial"/>
                <a:sym typeface="Arial"/>
              </a:rPr>
              <a:t>•  Authentication is a precondition for financial use cases during an active session; it is not repeated for every transaction.</a:t>
            </a:r>
            <a:endParaRPr/>
          </a:p>
        </p:txBody>
      </p:sp>
      <p:sp>
        <p:nvSpPr>
          <p:cNvPr id="340" name="Google Shape;340;p10"/>
          <p:cNvSpPr/>
          <p:nvPr/>
        </p:nvSpPr>
        <p:spPr>
          <a:xfrm>
            <a:off x="714375" y="5734050"/>
            <a:ext cx="10620375" cy="38100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238">
                <a:solidFill>
                  <a:srgbClr val="202833"/>
                </a:solidFill>
                <a:latin typeface="Arial"/>
                <a:ea typeface="Arial"/>
                <a:cs typeface="Arial"/>
                <a:sym typeface="Arial"/>
              </a:rPr>
              <a:t>•  After three failed PIN attempts, the session locks. Receipt creation is optional and follows a completed transaction.</a:t>
            </a:r>
            <a:endParaRPr/>
          </a:p>
        </p:txBody>
      </p:sp>
      <p:sp>
        <p:nvSpPr>
          <p:cNvPr id="341" name="Google Shape;341;p10"/>
          <p:cNvSpPr/>
          <p:nvPr/>
        </p:nvSpPr>
        <p:spPr>
          <a:xfrm>
            <a:off x="552450" y="6257925"/>
            <a:ext cx="11049000" cy="2857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975">
                <a:solidFill>
                  <a:srgbClr val="596573"/>
                </a:solidFill>
                <a:latin typeface="Arial"/>
                <a:ea typeface="Arial"/>
                <a:cs typeface="Arial"/>
                <a:sym typeface="Arial"/>
              </a:rPr>
              <a:t>The lockout and optional receipt behavior are described as conditions in the use-case text; no card-retention hardware is assumed.</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11"/>
          <p:cNvSpPr/>
          <p:nvPr/>
        </p:nvSpPr>
        <p:spPr>
          <a:xfrm>
            <a:off x="0" y="0"/>
            <a:ext cx="12192000"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1"/>
          <p:cNvSpPr/>
          <p:nvPr/>
        </p:nvSpPr>
        <p:spPr>
          <a:xfrm>
            <a:off x="0" y="0"/>
            <a:ext cx="12192000" cy="1066800"/>
          </a:xfrm>
          <a:prstGeom prst="rect">
            <a:avLst/>
          </a:prstGeom>
          <a:solidFill>
            <a:srgbClr val="8B12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1"/>
          <p:cNvSpPr/>
          <p:nvPr/>
        </p:nvSpPr>
        <p:spPr>
          <a:xfrm>
            <a:off x="514350" y="228600"/>
            <a:ext cx="11049000" cy="5905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1" lang="en-US" sz="2550">
                <a:solidFill>
                  <a:srgbClr val="FFFFFF"/>
                </a:solidFill>
                <a:latin typeface="Arial"/>
                <a:ea typeface="Arial"/>
                <a:cs typeface="Arial"/>
                <a:sym typeface="Arial"/>
              </a:rPr>
              <a:t>Problem 3 • textual use cases (1 of 2)</a:t>
            </a:r>
            <a:endParaRPr/>
          </a:p>
        </p:txBody>
      </p:sp>
      <p:sp>
        <p:nvSpPr>
          <p:cNvPr id="350" name="Google Shape;350;p11"/>
          <p:cNvSpPr/>
          <p:nvPr/>
        </p:nvSpPr>
        <p:spPr>
          <a:xfrm>
            <a:off x="0" y="6629400"/>
            <a:ext cx="12192000" cy="228600"/>
          </a:xfrm>
          <a:prstGeom prst="rect">
            <a:avLst/>
          </a:prstGeom>
          <a:solidFill>
            <a:srgbClr val="6710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1"/>
          <p:cNvSpPr/>
          <p:nvPr/>
        </p:nvSpPr>
        <p:spPr>
          <a:xfrm>
            <a:off x="419100" y="6638925"/>
            <a:ext cx="8953500" cy="19050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900">
                <a:solidFill>
                  <a:srgbClr val="FFFFFF"/>
                </a:solidFill>
                <a:latin typeface="Arial"/>
                <a:ea typeface="Arial"/>
                <a:cs typeface="Arial"/>
                <a:sym typeface="Arial"/>
              </a:rPr>
              <a:t>SOEN 6611 • SECTION D • FALL 2026</a:t>
            </a:r>
            <a:endParaRPr/>
          </a:p>
        </p:txBody>
      </p:sp>
      <p:sp>
        <p:nvSpPr>
          <p:cNvPr id="352" name="Google Shape;352;p11"/>
          <p:cNvSpPr/>
          <p:nvPr/>
        </p:nvSpPr>
        <p:spPr>
          <a:xfrm>
            <a:off x="11334750" y="6638925"/>
            <a:ext cx="457200" cy="190500"/>
          </a:xfrm>
          <a:prstGeom prst="rect">
            <a:avLst/>
          </a:prstGeom>
          <a:noFill/>
          <a:ln>
            <a:noFill/>
          </a:ln>
        </p:spPr>
        <p:txBody>
          <a:bodyPr anchorCtr="0" anchor="ctr" bIns="19050" lIns="19050" spcFirstLastPara="1" rIns="19050" wrap="square" tIns="19050">
            <a:normAutofit/>
          </a:bodyPr>
          <a:lstStyle/>
          <a:p>
            <a:pPr indent="0" lvl="0" marL="0" marR="0" rtl="0" algn="r">
              <a:spcBef>
                <a:spcPts val="0"/>
              </a:spcBef>
              <a:spcAft>
                <a:spcPts val="0"/>
              </a:spcAft>
              <a:buNone/>
            </a:pPr>
            <a:r>
              <a:rPr b="1" lang="en-US" sz="900">
                <a:solidFill>
                  <a:srgbClr val="FFFFFF"/>
                </a:solidFill>
                <a:latin typeface="Arial"/>
                <a:ea typeface="Arial"/>
                <a:cs typeface="Arial"/>
                <a:sym typeface="Arial"/>
              </a:rPr>
              <a:t>11</a:t>
            </a:r>
            <a:endParaRPr/>
          </a:p>
        </p:txBody>
      </p:sp>
      <p:sp>
        <p:nvSpPr>
          <p:cNvPr id="353" name="Google Shape;353;p11"/>
          <p:cNvSpPr/>
          <p:nvPr/>
        </p:nvSpPr>
        <p:spPr>
          <a:xfrm>
            <a:off x="590550" y="1371600"/>
            <a:ext cx="11020425" cy="838200"/>
          </a:xfrm>
          <a:prstGeom prst="rect">
            <a:avLst/>
          </a:prstGeom>
          <a:solidFill>
            <a:srgbClr val="F4F6F8"/>
          </a:solidFill>
          <a:ln cap="flat" cmpd="sng" w="114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1"/>
          <p:cNvSpPr/>
          <p:nvPr/>
        </p:nvSpPr>
        <p:spPr>
          <a:xfrm>
            <a:off x="733425" y="1476375"/>
            <a:ext cx="10734675" cy="2571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200">
                <a:solidFill>
                  <a:srgbClr val="8B1239"/>
                </a:solidFill>
                <a:latin typeface="Arial"/>
                <a:ea typeface="Arial"/>
                <a:cs typeface="Arial"/>
                <a:sym typeface="Arial"/>
              </a:rPr>
              <a:t>UC1 • Select language</a:t>
            </a:r>
            <a:endParaRPr/>
          </a:p>
        </p:txBody>
      </p:sp>
      <p:sp>
        <p:nvSpPr>
          <p:cNvPr id="355" name="Google Shape;355;p11"/>
          <p:cNvSpPr/>
          <p:nvPr/>
        </p:nvSpPr>
        <p:spPr>
          <a:xfrm>
            <a:off x="733425" y="1781175"/>
            <a:ext cx="10734675" cy="36195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138">
                <a:solidFill>
                  <a:srgbClr val="202833"/>
                </a:solidFill>
                <a:latin typeface="Arial"/>
                <a:ea typeface="Arial"/>
                <a:cs typeface="Arial"/>
                <a:sym typeface="Arial"/>
              </a:rPr>
              <a:t>Actor: Cardholder. Precondition: session is idle or at the welcome screen. The cardholder selects English or French; iBank applies that language to the current session.</a:t>
            </a:r>
            <a:endParaRPr/>
          </a:p>
        </p:txBody>
      </p:sp>
      <p:sp>
        <p:nvSpPr>
          <p:cNvPr id="356" name="Google Shape;356;p11"/>
          <p:cNvSpPr/>
          <p:nvPr/>
        </p:nvSpPr>
        <p:spPr>
          <a:xfrm>
            <a:off x="590550" y="2314575"/>
            <a:ext cx="11020425" cy="838200"/>
          </a:xfrm>
          <a:prstGeom prst="rect">
            <a:avLst/>
          </a:prstGeom>
          <a:solidFill>
            <a:srgbClr val="FFFFFF"/>
          </a:solidFill>
          <a:ln cap="flat" cmpd="sng" w="114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1"/>
          <p:cNvSpPr/>
          <p:nvPr/>
        </p:nvSpPr>
        <p:spPr>
          <a:xfrm>
            <a:off x="733425" y="2419350"/>
            <a:ext cx="10734675" cy="2571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200">
                <a:solidFill>
                  <a:srgbClr val="8B1239"/>
                </a:solidFill>
                <a:latin typeface="Arial"/>
                <a:ea typeface="Arial"/>
                <a:cs typeface="Arial"/>
                <a:sym typeface="Arial"/>
              </a:rPr>
              <a:t>UC2 • Authenticate cardholder</a:t>
            </a:r>
            <a:endParaRPr/>
          </a:p>
        </p:txBody>
      </p:sp>
      <p:sp>
        <p:nvSpPr>
          <p:cNvPr id="358" name="Google Shape;358;p11"/>
          <p:cNvSpPr/>
          <p:nvPr/>
        </p:nvSpPr>
        <p:spPr>
          <a:xfrm>
            <a:off x="733425" y="2724150"/>
            <a:ext cx="10734675" cy="36195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062">
                <a:solidFill>
                  <a:srgbClr val="202833"/>
                </a:solidFill>
                <a:latin typeface="Arial"/>
                <a:ea typeface="Arial"/>
                <a:cs typeface="Arial"/>
                <a:sym typeface="Arial"/>
              </a:rPr>
              <a:t>Actor: Cardholder. Input: simulated card identifier and PIN. Success: start an authenticated session. Exception: after three consecutive wrong PINs, lock the session and deny financial actions.</a:t>
            </a:r>
            <a:endParaRPr/>
          </a:p>
        </p:txBody>
      </p:sp>
      <p:sp>
        <p:nvSpPr>
          <p:cNvPr id="359" name="Google Shape;359;p11"/>
          <p:cNvSpPr/>
          <p:nvPr/>
        </p:nvSpPr>
        <p:spPr>
          <a:xfrm>
            <a:off x="590550" y="3257550"/>
            <a:ext cx="11020425" cy="838200"/>
          </a:xfrm>
          <a:prstGeom prst="rect">
            <a:avLst/>
          </a:prstGeom>
          <a:solidFill>
            <a:srgbClr val="F4F6F8"/>
          </a:solidFill>
          <a:ln cap="flat" cmpd="sng" w="114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1"/>
          <p:cNvSpPr/>
          <p:nvPr/>
        </p:nvSpPr>
        <p:spPr>
          <a:xfrm>
            <a:off x="733425" y="3362325"/>
            <a:ext cx="10734675" cy="2571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200">
                <a:solidFill>
                  <a:srgbClr val="8B1239"/>
                </a:solidFill>
                <a:latin typeface="Arial"/>
                <a:ea typeface="Arial"/>
                <a:cs typeface="Arial"/>
                <a:sym typeface="Arial"/>
              </a:rPr>
              <a:t>UC3 • Check balance</a:t>
            </a:r>
            <a:endParaRPr/>
          </a:p>
        </p:txBody>
      </p:sp>
      <p:sp>
        <p:nvSpPr>
          <p:cNvPr id="361" name="Google Shape;361;p11"/>
          <p:cNvSpPr/>
          <p:nvPr/>
        </p:nvSpPr>
        <p:spPr>
          <a:xfrm>
            <a:off x="733425" y="3667125"/>
            <a:ext cx="10734675" cy="36195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163">
                <a:solidFill>
                  <a:srgbClr val="202833"/>
                </a:solidFill>
                <a:latin typeface="Arial"/>
                <a:ea typeface="Arial"/>
                <a:cs typeface="Arial"/>
                <a:sym typeface="Arial"/>
              </a:rPr>
              <a:t>Actor: Cardholder. Precondition: authenticated session. The cardholder selects an owned account; iBank displays its available simulated CAD balance.</a:t>
            </a:r>
            <a:endParaRPr/>
          </a:p>
        </p:txBody>
      </p:sp>
      <p:sp>
        <p:nvSpPr>
          <p:cNvPr id="362" name="Google Shape;362;p11"/>
          <p:cNvSpPr/>
          <p:nvPr/>
        </p:nvSpPr>
        <p:spPr>
          <a:xfrm>
            <a:off x="590550" y="4200525"/>
            <a:ext cx="11020425" cy="838200"/>
          </a:xfrm>
          <a:prstGeom prst="rect">
            <a:avLst/>
          </a:prstGeom>
          <a:solidFill>
            <a:srgbClr val="FFFFFF"/>
          </a:solidFill>
          <a:ln cap="flat" cmpd="sng" w="114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1"/>
          <p:cNvSpPr/>
          <p:nvPr/>
        </p:nvSpPr>
        <p:spPr>
          <a:xfrm>
            <a:off x="733425" y="4305300"/>
            <a:ext cx="10734675" cy="2571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200">
                <a:solidFill>
                  <a:srgbClr val="8B1239"/>
                </a:solidFill>
                <a:latin typeface="Arial"/>
                <a:ea typeface="Arial"/>
                <a:cs typeface="Arial"/>
                <a:sym typeface="Arial"/>
              </a:rPr>
              <a:t>UC4 • Withdraw cash</a:t>
            </a:r>
            <a:endParaRPr/>
          </a:p>
        </p:txBody>
      </p:sp>
      <p:sp>
        <p:nvSpPr>
          <p:cNvPr id="364" name="Google Shape;364;p11"/>
          <p:cNvSpPr/>
          <p:nvPr/>
        </p:nvSpPr>
        <p:spPr>
          <a:xfrm>
            <a:off x="733425" y="4610100"/>
            <a:ext cx="10734675" cy="36195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062">
                <a:solidFill>
                  <a:srgbClr val="202833"/>
                </a:solidFill>
                <a:latin typeface="Arial"/>
                <a:ea typeface="Arial"/>
                <a:cs typeface="Arial"/>
                <a:sym typeface="Arial"/>
              </a:rPr>
              <a:t>Actors: Cardholder, simulated cash dispenser. Precondition: authenticated session. iBank validates a CAD $20-unit amount, funds, configured limits, and available simulated cash; on success it updates balances and records the transaction.</a:t>
            </a:r>
            <a:endParaRPr/>
          </a:p>
        </p:txBody>
      </p:sp>
      <p:sp>
        <p:nvSpPr>
          <p:cNvPr id="365" name="Google Shape;365;p11"/>
          <p:cNvSpPr/>
          <p:nvPr/>
        </p:nvSpPr>
        <p:spPr>
          <a:xfrm>
            <a:off x="590550" y="5143500"/>
            <a:ext cx="11020425" cy="838200"/>
          </a:xfrm>
          <a:prstGeom prst="rect">
            <a:avLst/>
          </a:prstGeom>
          <a:solidFill>
            <a:srgbClr val="F4F6F8"/>
          </a:solidFill>
          <a:ln cap="flat" cmpd="sng" w="114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1"/>
          <p:cNvSpPr/>
          <p:nvPr/>
        </p:nvSpPr>
        <p:spPr>
          <a:xfrm>
            <a:off x="733425" y="5248275"/>
            <a:ext cx="10734675" cy="2571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200">
                <a:solidFill>
                  <a:srgbClr val="8B1239"/>
                </a:solidFill>
                <a:latin typeface="Arial"/>
                <a:ea typeface="Arial"/>
                <a:cs typeface="Arial"/>
                <a:sym typeface="Arial"/>
              </a:rPr>
              <a:t>UC5 • Deposit cash</a:t>
            </a:r>
            <a:endParaRPr/>
          </a:p>
        </p:txBody>
      </p:sp>
      <p:sp>
        <p:nvSpPr>
          <p:cNvPr id="367" name="Google Shape;367;p11"/>
          <p:cNvSpPr/>
          <p:nvPr/>
        </p:nvSpPr>
        <p:spPr>
          <a:xfrm>
            <a:off x="733425" y="5553075"/>
            <a:ext cx="10734675" cy="36195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062">
                <a:solidFill>
                  <a:srgbClr val="202833"/>
                </a:solidFill>
                <a:latin typeface="Arial"/>
                <a:ea typeface="Arial"/>
                <a:cs typeface="Arial"/>
                <a:sym typeface="Arial"/>
              </a:rPr>
              <a:t>Actor: Cardholder. Precondition: authenticated session. The cardholder enters a simulated deposit amount; iBank validates it, credits the selected account, and records the transaction.</a:t>
            </a:r>
            <a:endParaRPr/>
          </a:p>
        </p:txBody>
      </p:sp>
      <p:sp>
        <p:nvSpPr>
          <p:cNvPr id="368" name="Google Shape;368;p11"/>
          <p:cNvSpPr/>
          <p:nvPr/>
        </p:nvSpPr>
        <p:spPr>
          <a:xfrm>
            <a:off x="552450" y="6257925"/>
            <a:ext cx="11049000" cy="2857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975">
                <a:solidFill>
                  <a:srgbClr val="596573"/>
                </a:solidFill>
                <a:latin typeface="Arial"/>
                <a:ea typeface="Arial"/>
                <a:cs typeface="Arial"/>
                <a:sym typeface="Arial"/>
              </a:rPr>
              <a:t>Each description names the actor, key precondition, expected result, and a relevant exception where applicable.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12"/>
          <p:cNvSpPr/>
          <p:nvPr/>
        </p:nvSpPr>
        <p:spPr>
          <a:xfrm>
            <a:off x="0" y="0"/>
            <a:ext cx="12192000"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2"/>
          <p:cNvSpPr/>
          <p:nvPr/>
        </p:nvSpPr>
        <p:spPr>
          <a:xfrm>
            <a:off x="0" y="0"/>
            <a:ext cx="12192000" cy="1066800"/>
          </a:xfrm>
          <a:prstGeom prst="rect">
            <a:avLst/>
          </a:prstGeom>
          <a:solidFill>
            <a:srgbClr val="8B12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2"/>
          <p:cNvSpPr/>
          <p:nvPr/>
        </p:nvSpPr>
        <p:spPr>
          <a:xfrm>
            <a:off x="514350" y="228600"/>
            <a:ext cx="11049000" cy="5905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1" lang="en-US" sz="2550">
                <a:solidFill>
                  <a:srgbClr val="FFFFFF"/>
                </a:solidFill>
                <a:latin typeface="Arial"/>
                <a:ea typeface="Arial"/>
                <a:cs typeface="Arial"/>
                <a:sym typeface="Arial"/>
              </a:rPr>
              <a:t>Problem 3 • textual use cases (2 of 2)</a:t>
            </a:r>
            <a:endParaRPr/>
          </a:p>
        </p:txBody>
      </p:sp>
      <p:sp>
        <p:nvSpPr>
          <p:cNvPr id="377" name="Google Shape;377;p12"/>
          <p:cNvSpPr/>
          <p:nvPr/>
        </p:nvSpPr>
        <p:spPr>
          <a:xfrm>
            <a:off x="0" y="6629400"/>
            <a:ext cx="12192000" cy="228600"/>
          </a:xfrm>
          <a:prstGeom prst="rect">
            <a:avLst/>
          </a:prstGeom>
          <a:solidFill>
            <a:srgbClr val="6710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2"/>
          <p:cNvSpPr/>
          <p:nvPr/>
        </p:nvSpPr>
        <p:spPr>
          <a:xfrm>
            <a:off x="419100" y="6638925"/>
            <a:ext cx="8953500" cy="19050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900">
                <a:solidFill>
                  <a:srgbClr val="FFFFFF"/>
                </a:solidFill>
                <a:latin typeface="Arial"/>
                <a:ea typeface="Arial"/>
                <a:cs typeface="Arial"/>
                <a:sym typeface="Arial"/>
              </a:rPr>
              <a:t>SOEN 6611 • SECTION D • FALL 2026</a:t>
            </a:r>
            <a:endParaRPr/>
          </a:p>
        </p:txBody>
      </p:sp>
      <p:sp>
        <p:nvSpPr>
          <p:cNvPr id="379" name="Google Shape;379;p12"/>
          <p:cNvSpPr/>
          <p:nvPr/>
        </p:nvSpPr>
        <p:spPr>
          <a:xfrm>
            <a:off x="11334750" y="6638925"/>
            <a:ext cx="457200" cy="190500"/>
          </a:xfrm>
          <a:prstGeom prst="rect">
            <a:avLst/>
          </a:prstGeom>
          <a:noFill/>
          <a:ln>
            <a:noFill/>
          </a:ln>
        </p:spPr>
        <p:txBody>
          <a:bodyPr anchorCtr="0" anchor="ctr" bIns="19050" lIns="19050" spcFirstLastPara="1" rIns="19050" wrap="square" tIns="19050">
            <a:normAutofit/>
          </a:bodyPr>
          <a:lstStyle/>
          <a:p>
            <a:pPr indent="0" lvl="0" marL="0" marR="0" rtl="0" algn="r">
              <a:spcBef>
                <a:spcPts val="0"/>
              </a:spcBef>
              <a:spcAft>
                <a:spcPts val="0"/>
              </a:spcAft>
              <a:buNone/>
            </a:pPr>
            <a:r>
              <a:rPr b="1" lang="en-US" sz="900">
                <a:solidFill>
                  <a:srgbClr val="FFFFFF"/>
                </a:solidFill>
                <a:latin typeface="Arial"/>
                <a:ea typeface="Arial"/>
                <a:cs typeface="Arial"/>
                <a:sym typeface="Arial"/>
              </a:rPr>
              <a:t>12</a:t>
            </a:r>
            <a:endParaRPr/>
          </a:p>
        </p:txBody>
      </p:sp>
      <p:sp>
        <p:nvSpPr>
          <p:cNvPr id="380" name="Google Shape;380;p12"/>
          <p:cNvSpPr/>
          <p:nvPr/>
        </p:nvSpPr>
        <p:spPr>
          <a:xfrm>
            <a:off x="590550" y="1371600"/>
            <a:ext cx="11020425" cy="838200"/>
          </a:xfrm>
          <a:prstGeom prst="rect">
            <a:avLst/>
          </a:prstGeom>
          <a:solidFill>
            <a:srgbClr val="F4F6F8"/>
          </a:solidFill>
          <a:ln cap="flat" cmpd="sng" w="114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2"/>
          <p:cNvSpPr/>
          <p:nvPr/>
        </p:nvSpPr>
        <p:spPr>
          <a:xfrm>
            <a:off x="733425" y="1476375"/>
            <a:ext cx="10734675" cy="2571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200">
                <a:solidFill>
                  <a:srgbClr val="8B1239"/>
                </a:solidFill>
                <a:latin typeface="Arial"/>
                <a:ea typeface="Arial"/>
                <a:cs typeface="Arial"/>
                <a:sym typeface="Arial"/>
              </a:rPr>
              <a:t>UC6 • Transfer between own accounts</a:t>
            </a:r>
            <a:endParaRPr/>
          </a:p>
        </p:txBody>
      </p:sp>
      <p:sp>
        <p:nvSpPr>
          <p:cNvPr id="382" name="Google Shape;382;p12"/>
          <p:cNvSpPr/>
          <p:nvPr/>
        </p:nvSpPr>
        <p:spPr>
          <a:xfrm>
            <a:off x="733425" y="1781175"/>
            <a:ext cx="10734675" cy="36195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062">
                <a:solidFill>
                  <a:srgbClr val="202833"/>
                </a:solidFill>
                <a:latin typeface="Arial"/>
                <a:ea typeface="Arial"/>
                <a:cs typeface="Arial"/>
                <a:sym typeface="Arial"/>
              </a:rPr>
              <a:t>Actor: Cardholder. Precondition: authenticated session and two owned simulated accounts. iBank validates amount and available funds, transfers between the accounts, and records both sides of the transaction.</a:t>
            </a:r>
            <a:endParaRPr/>
          </a:p>
        </p:txBody>
      </p:sp>
      <p:sp>
        <p:nvSpPr>
          <p:cNvPr id="383" name="Google Shape;383;p12"/>
          <p:cNvSpPr/>
          <p:nvPr/>
        </p:nvSpPr>
        <p:spPr>
          <a:xfrm>
            <a:off x="590550" y="2314575"/>
            <a:ext cx="11020425" cy="838200"/>
          </a:xfrm>
          <a:prstGeom prst="rect">
            <a:avLst/>
          </a:prstGeom>
          <a:solidFill>
            <a:srgbClr val="FFFFFF"/>
          </a:solidFill>
          <a:ln cap="flat" cmpd="sng" w="114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2"/>
          <p:cNvSpPr/>
          <p:nvPr/>
        </p:nvSpPr>
        <p:spPr>
          <a:xfrm>
            <a:off x="733425" y="2419350"/>
            <a:ext cx="10734675" cy="2571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200">
                <a:solidFill>
                  <a:srgbClr val="8B1239"/>
                </a:solidFill>
                <a:latin typeface="Arial"/>
                <a:ea typeface="Arial"/>
                <a:cs typeface="Arial"/>
                <a:sym typeface="Arial"/>
              </a:rPr>
              <a:t>UC7 • Change PIN</a:t>
            </a:r>
            <a:endParaRPr/>
          </a:p>
        </p:txBody>
      </p:sp>
      <p:sp>
        <p:nvSpPr>
          <p:cNvPr id="385" name="Google Shape;385;p12"/>
          <p:cNvSpPr/>
          <p:nvPr/>
        </p:nvSpPr>
        <p:spPr>
          <a:xfrm>
            <a:off x="733425" y="2724150"/>
            <a:ext cx="10734675" cy="36195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159">
                <a:solidFill>
                  <a:srgbClr val="202833"/>
                </a:solidFill>
                <a:latin typeface="Arial"/>
                <a:ea typeface="Arial"/>
                <a:cs typeface="Arial"/>
                <a:sym typeface="Arial"/>
              </a:rPr>
              <a:t>Actor: Cardholder. Precondition: authenticated session. iBank checks the current test PIN and confirms the new PIN; on success it updates the simulated credential.</a:t>
            </a:r>
            <a:endParaRPr/>
          </a:p>
        </p:txBody>
      </p:sp>
      <p:sp>
        <p:nvSpPr>
          <p:cNvPr id="386" name="Google Shape;386;p12"/>
          <p:cNvSpPr/>
          <p:nvPr/>
        </p:nvSpPr>
        <p:spPr>
          <a:xfrm>
            <a:off x="590550" y="3257550"/>
            <a:ext cx="11020425" cy="838200"/>
          </a:xfrm>
          <a:prstGeom prst="rect">
            <a:avLst/>
          </a:prstGeom>
          <a:solidFill>
            <a:srgbClr val="F4F6F8"/>
          </a:solidFill>
          <a:ln cap="flat" cmpd="sng" w="114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2"/>
          <p:cNvSpPr/>
          <p:nvPr/>
        </p:nvSpPr>
        <p:spPr>
          <a:xfrm>
            <a:off x="733425" y="3362325"/>
            <a:ext cx="10734675" cy="2571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200">
                <a:solidFill>
                  <a:srgbClr val="8B1239"/>
                </a:solidFill>
                <a:latin typeface="Arial"/>
                <a:ea typeface="Arial"/>
                <a:cs typeface="Arial"/>
                <a:sym typeface="Arial"/>
              </a:rPr>
              <a:t>UC8 • View mini statement</a:t>
            </a:r>
            <a:endParaRPr/>
          </a:p>
        </p:txBody>
      </p:sp>
      <p:sp>
        <p:nvSpPr>
          <p:cNvPr id="388" name="Google Shape;388;p12"/>
          <p:cNvSpPr/>
          <p:nvPr/>
        </p:nvSpPr>
        <p:spPr>
          <a:xfrm>
            <a:off x="733425" y="3667125"/>
            <a:ext cx="10734675" cy="36195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163">
                <a:solidFill>
                  <a:srgbClr val="202833"/>
                </a:solidFill>
                <a:latin typeface="Arial"/>
                <a:ea typeface="Arial"/>
                <a:cs typeface="Arial"/>
                <a:sym typeface="Arial"/>
              </a:rPr>
              <a:t>Actor: Cardholder. Precondition: authenticated session. iBank displays a short list of recent transactions for an owned account.</a:t>
            </a:r>
            <a:endParaRPr/>
          </a:p>
        </p:txBody>
      </p:sp>
      <p:sp>
        <p:nvSpPr>
          <p:cNvPr id="389" name="Google Shape;389;p12"/>
          <p:cNvSpPr/>
          <p:nvPr/>
        </p:nvSpPr>
        <p:spPr>
          <a:xfrm>
            <a:off x="590550" y="4200525"/>
            <a:ext cx="11020425" cy="838200"/>
          </a:xfrm>
          <a:prstGeom prst="rect">
            <a:avLst/>
          </a:prstGeom>
          <a:solidFill>
            <a:srgbClr val="FFFFFF"/>
          </a:solidFill>
          <a:ln cap="flat" cmpd="sng" w="114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2"/>
          <p:cNvSpPr/>
          <p:nvPr/>
        </p:nvSpPr>
        <p:spPr>
          <a:xfrm>
            <a:off x="733425" y="4305300"/>
            <a:ext cx="10734675" cy="2571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200">
                <a:solidFill>
                  <a:srgbClr val="8B1239"/>
                </a:solidFill>
                <a:latin typeface="Arial"/>
                <a:ea typeface="Arial"/>
                <a:cs typeface="Arial"/>
                <a:sym typeface="Arial"/>
              </a:rPr>
              <a:t>UC9 • Print or show receipt</a:t>
            </a:r>
            <a:endParaRPr/>
          </a:p>
        </p:txBody>
      </p:sp>
      <p:sp>
        <p:nvSpPr>
          <p:cNvPr id="391" name="Google Shape;391;p12"/>
          <p:cNvSpPr/>
          <p:nvPr/>
        </p:nvSpPr>
        <p:spPr>
          <a:xfrm>
            <a:off x="733425" y="4610100"/>
            <a:ext cx="10734675" cy="36195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062">
                <a:solidFill>
                  <a:srgbClr val="202833"/>
                </a:solidFill>
                <a:latin typeface="Arial"/>
                <a:ea typeface="Arial"/>
                <a:cs typeface="Arial"/>
                <a:sym typeface="Arial"/>
              </a:rPr>
              <a:t>Actors: Cardholder, simulated receipt printer. Optional after a completed balance inquiry, withdrawal, deposit, or transfer. The receipt shows the result and transaction details with a masked account reference.</a:t>
            </a:r>
            <a:endParaRPr/>
          </a:p>
        </p:txBody>
      </p:sp>
      <p:sp>
        <p:nvSpPr>
          <p:cNvPr id="392" name="Google Shape;392;p12"/>
          <p:cNvSpPr/>
          <p:nvPr/>
        </p:nvSpPr>
        <p:spPr>
          <a:xfrm>
            <a:off x="590550" y="5143500"/>
            <a:ext cx="11020425" cy="838200"/>
          </a:xfrm>
          <a:prstGeom prst="rect">
            <a:avLst/>
          </a:prstGeom>
          <a:solidFill>
            <a:srgbClr val="F4F6F8"/>
          </a:solidFill>
          <a:ln cap="flat" cmpd="sng" w="114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2"/>
          <p:cNvSpPr/>
          <p:nvPr/>
        </p:nvSpPr>
        <p:spPr>
          <a:xfrm>
            <a:off x="733425" y="5248275"/>
            <a:ext cx="10734675" cy="2571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200">
                <a:solidFill>
                  <a:srgbClr val="8B1239"/>
                </a:solidFill>
                <a:latin typeface="Arial"/>
                <a:ea typeface="Arial"/>
                <a:cs typeface="Arial"/>
                <a:sym typeface="Arial"/>
              </a:rPr>
              <a:t>UC10 • End session</a:t>
            </a:r>
            <a:endParaRPr/>
          </a:p>
        </p:txBody>
      </p:sp>
      <p:sp>
        <p:nvSpPr>
          <p:cNvPr id="394" name="Google Shape;394;p12"/>
          <p:cNvSpPr/>
          <p:nvPr/>
        </p:nvSpPr>
        <p:spPr>
          <a:xfrm>
            <a:off x="733425" y="5553075"/>
            <a:ext cx="10734675" cy="36195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163">
                <a:solidFill>
                  <a:srgbClr val="202833"/>
                </a:solidFill>
                <a:latin typeface="Arial"/>
                <a:ea typeface="Arial"/>
                <a:cs typeface="Arial"/>
                <a:sym typeface="Arial"/>
              </a:rPr>
              <a:t>Actor: Cardholder. Ends the current session, clears session state from the interface, and returns iBank to its idle screen.</a:t>
            </a:r>
            <a:endParaRPr/>
          </a:p>
        </p:txBody>
      </p:sp>
      <p:sp>
        <p:nvSpPr>
          <p:cNvPr id="395" name="Google Shape;395;p12"/>
          <p:cNvSpPr/>
          <p:nvPr/>
        </p:nvSpPr>
        <p:spPr>
          <a:xfrm>
            <a:off x="552450" y="6257925"/>
            <a:ext cx="11049000" cy="2857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975">
                <a:solidFill>
                  <a:srgbClr val="596573"/>
                </a:solidFill>
                <a:latin typeface="Arial"/>
                <a:ea typeface="Arial"/>
                <a:cs typeface="Arial"/>
                <a:sym typeface="Arial"/>
              </a:rPr>
              <a:t>Three-failure lockout is an exception flow of UC2, not a separate card-retention use case.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13"/>
          <p:cNvSpPr/>
          <p:nvPr/>
        </p:nvSpPr>
        <p:spPr>
          <a:xfrm>
            <a:off x="0" y="0"/>
            <a:ext cx="12192000"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3"/>
          <p:cNvSpPr/>
          <p:nvPr/>
        </p:nvSpPr>
        <p:spPr>
          <a:xfrm>
            <a:off x="0" y="0"/>
            <a:ext cx="12192000" cy="1066800"/>
          </a:xfrm>
          <a:prstGeom prst="rect">
            <a:avLst/>
          </a:prstGeom>
          <a:solidFill>
            <a:srgbClr val="8B12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3"/>
          <p:cNvSpPr/>
          <p:nvPr/>
        </p:nvSpPr>
        <p:spPr>
          <a:xfrm>
            <a:off x="514350" y="228600"/>
            <a:ext cx="11049000" cy="5905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1" lang="en-US" sz="2550">
                <a:solidFill>
                  <a:srgbClr val="FFFFFF"/>
                </a:solidFill>
                <a:latin typeface="Arial"/>
                <a:ea typeface="Arial"/>
                <a:cs typeface="Arial"/>
                <a:sym typeface="Arial"/>
              </a:rPr>
              <a:t>D1 consistency check • one model across all problems</a:t>
            </a:r>
            <a:endParaRPr/>
          </a:p>
        </p:txBody>
      </p:sp>
      <p:sp>
        <p:nvSpPr>
          <p:cNvPr id="404" name="Google Shape;404;p13"/>
          <p:cNvSpPr/>
          <p:nvPr/>
        </p:nvSpPr>
        <p:spPr>
          <a:xfrm>
            <a:off x="0" y="6629400"/>
            <a:ext cx="12192000" cy="228600"/>
          </a:xfrm>
          <a:prstGeom prst="rect">
            <a:avLst/>
          </a:prstGeom>
          <a:solidFill>
            <a:srgbClr val="6710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3"/>
          <p:cNvSpPr/>
          <p:nvPr/>
        </p:nvSpPr>
        <p:spPr>
          <a:xfrm>
            <a:off x="419100" y="6638925"/>
            <a:ext cx="8953500" cy="19050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900">
                <a:solidFill>
                  <a:srgbClr val="FFFFFF"/>
                </a:solidFill>
                <a:latin typeface="Arial"/>
                <a:ea typeface="Arial"/>
                <a:cs typeface="Arial"/>
                <a:sym typeface="Arial"/>
              </a:rPr>
              <a:t>SOEN 6611 • SECTION D • FALL 2026</a:t>
            </a:r>
            <a:endParaRPr/>
          </a:p>
        </p:txBody>
      </p:sp>
      <p:sp>
        <p:nvSpPr>
          <p:cNvPr id="406" name="Google Shape;406;p13"/>
          <p:cNvSpPr/>
          <p:nvPr/>
        </p:nvSpPr>
        <p:spPr>
          <a:xfrm>
            <a:off x="11334750" y="6638925"/>
            <a:ext cx="457200" cy="190500"/>
          </a:xfrm>
          <a:prstGeom prst="rect">
            <a:avLst/>
          </a:prstGeom>
          <a:noFill/>
          <a:ln>
            <a:noFill/>
          </a:ln>
        </p:spPr>
        <p:txBody>
          <a:bodyPr anchorCtr="0" anchor="ctr" bIns="19050" lIns="19050" spcFirstLastPara="1" rIns="19050" wrap="square" tIns="19050">
            <a:normAutofit/>
          </a:bodyPr>
          <a:lstStyle/>
          <a:p>
            <a:pPr indent="0" lvl="0" marL="0" marR="0" rtl="0" algn="r">
              <a:spcBef>
                <a:spcPts val="0"/>
              </a:spcBef>
              <a:spcAft>
                <a:spcPts val="0"/>
              </a:spcAft>
              <a:buNone/>
            </a:pPr>
            <a:r>
              <a:rPr b="1" lang="en-US" sz="900">
                <a:solidFill>
                  <a:srgbClr val="FFFFFF"/>
                </a:solidFill>
                <a:latin typeface="Arial"/>
                <a:ea typeface="Arial"/>
                <a:cs typeface="Arial"/>
                <a:sym typeface="Arial"/>
              </a:rPr>
              <a:t>13</a:t>
            </a:r>
            <a:endParaRPr/>
          </a:p>
        </p:txBody>
      </p:sp>
      <p:sp>
        <p:nvSpPr>
          <p:cNvPr id="407" name="Google Shape;407;p13"/>
          <p:cNvSpPr/>
          <p:nvPr/>
        </p:nvSpPr>
        <p:spPr>
          <a:xfrm>
            <a:off x="590550" y="1628775"/>
            <a:ext cx="3333750" cy="704850"/>
          </a:xfrm>
          <a:prstGeom prst="rect">
            <a:avLst/>
          </a:prstGeom>
          <a:solidFill>
            <a:srgbClr val="19334E"/>
          </a:solidFill>
          <a:ln cap="flat" cmpd="sng" w="95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3"/>
          <p:cNvSpPr/>
          <p:nvPr/>
        </p:nvSpPr>
        <p:spPr>
          <a:xfrm>
            <a:off x="695325" y="1714500"/>
            <a:ext cx="3124200" cy="5524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1" lang="en-US" sz="1275">
                <a:solidFill>
                  <a:srgbClr val="FFFFFF"/>
                </a:solidFill>
                <a:latin typeface="Arial"/>
                <a:ea typeface="Arial"/>
                <a:cs typeface="Arial"/>
                <a:sym typeface="Arial"/>
              </a:rPr>
              <a:t>P1 assumption</a:t>
            </a:r>
            <a:endParaRPr/>
          </a:p>
        </p:txBody>
      </p:sp>
      <p:sp>
        <p:nvSpPr>
          <p:cNvPr id="409" name="Google Shape;409;p13"/>
          <p:cNvSpPr/>
          <p:nvPr/>
        </p:nvSpPr>
        <p:spPr>
          <a:xfrm>
            <a:off x="4143375" y="1628775"/>
            <a:ext cx="3381375" cy="704850"/>
          </a:xfrm>
          <a:prstGeom prst="rect">
            <a:avLst/>
          </a:prstGeom>
          <a:solidFill>
            <a:srgbClr val="19334E"/>
          </a:solidFill>
          <a:ln cap="flat" cmpd="sng" w="95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3"/>
          <p:cNvSpPr/>
          <p:nvPr/>
        </p:nvSpPr>
        <p:spPr>
          <a:xfrm>
            <a:off x="4248150" y="1714500"/>
            <a:ext cx="3171825" cy="5524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1" lang="en-US" sz="1275">
                <a:solidFill>
                  <a:srgbClr val="FFFFFF"/>
                </a:solidFill>
                <a:latin typeface="Arial"/>
                <a:ea typeface="Arial"/>
                <a:cs typeface="Arial"/>
                <a:sym typeface="Arial"/>
              </a:rPr>
              <a:t>P2 measure</a:t>
            </a:r>
            <a:endParaRPr/>
          </a:p>
        </p:txBody>
      </p:sp>
      <p:sp>
        <p:nvSpPr>
          <p:cNvPr id="411" name="Google Shape;411;p13"/>
          <p:cNvSpPr/>
          <p:nvPr/>
        </p:nvSpPr>
        <p:spPr>
          <a:xfrm>
            <a:off x="7715250" y="1628775"/>
            <a:ext cx="3867150" cy="704850"/>
          </a:xfrm>
          <a:prstGeom prst="rect">
            <a:avLst/>
          </a:prstGeom>
          <a:solidFill>
            <a:srgbClr val="19334E"/>
          </a:solidFill>
          <a:ln cap="flat" cmpd="sng" w="95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3"/>
          <p:cNvSpPr/>
          <p:nvPr/>
        </p:nvSpPr>
        <p:spPr>
          <a:xfrm>
            <a:off x="7820025" y="1714500"/>
            <a:ext cx="3657600" cy="5524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1" lang="en-US" sz="1275">
                <a:solidFill>
                  <a:srgbClr val="FFFFFF"/>
                </a:solidFill>
                <a:latin typeface="Arial"/>
                <a:ea typeface="Arial"/>
                <a:cs typeface="Arial"/>
                <a:sym typeface="Arial"/>
              </a:rPr>
              <a:t>P3 behavior</a:t>
            </a:r>
            <a:endParaRPr/>
          </a:p>
        </p:txBody>
      </p:sp>
      <p:sp>
        <p:nvSpPr>
          <p:cNvPr id="413" name="Google Shape;413;p13"/>
          <p:cNvSpPr/>
          <p:nvPr/>
        </p:nvSpPr>
        <p:spPr>
          <a:xfrm>
            <a:off x="590550" y="2333625"/>
            <a:ext cx="3333750" cy="704850"/>
          </a:xfrm>
          <a:prstGeom prst="rect">
            <a:avLst/>
          </a:prstGeom>
          <a:solidFill>
            <a:srgbClr val="F4F6F8"/>
          </a:solidFill>
          <a:ln cap="flat" cmpd="sng" w="95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3"/>
          <p:cNvSpPr/>
          <p:nvPr/>
        </p:nvSpPr>
        <p:spPr>
          <a:xfrm>
            <a:off x="695325" y="2419350"/>
            <a:ext cx="3124200" cy="5524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1200">
                <a:solidFill>
                  <a:srgbClr val="202833"/>
                </a:solidFill>
                <a:latin typeface="Arial"/>
                <a:ea typeface="Arial"/>
                <a:cs typeface="Arial"/>
                <a:sym typeface="Arial"/>
              </a:rPr>
              <a:t>CAD-only, local simulator</a:t>
            </a:r>
            <a:endParaRPr/>
          </a:p>
        </p:txBody>
      </p:sp>
      <p:sp>
        <p:nvSpPr>
          <p:cNvPr id="415" name="Google Shape;415;p13"/>
          <p:cNvSpPr/>
          <p:nvPr/>
        </p:nvSpPr>
        <p:spPr>
          <a:xfrm>
            <a:off x="4143375" y="2333625"/>
            <a:ext cx="3381375" cy="704850"/>
          </a:xfrm>
          <a:prstGeom prst="rect">
            <a:avLst/>
          </a:prstGeom>
          <a:solidFill>
            <a:srgbClr val="F4F6F8"/>
          </a:solidFill>
          <a:ln cap="flat" cmpd="sng" w="95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3"/>
          <p:cNvSpPr/>
          <p:nvPr/>
        </p:nvSpPr>
        <p:spPr>
          <a:xfrm>
            <a:off x="4248150" y="2419350"/>
            <a:ext cx="3171825" cy="5524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1200">
                <a:solidFill>
                  <a:srgbClr val="202833"/>
                </a:solidFill>
                <a:latin typeface="Arial"/>
                <a:ea typeface="Arial"/>
                <a:cs typeface="Arial"/>
                <a:sym typeface="Arial"/>
              </a:rPr>
              <a:t>M1 valid withdrawal completion</a:t>
            </a:r>
            <a:endParaRPr/>
          </a:p>
        </p:txBody>
      </p:sp>
      <p:sp>
        <p:nvSpPr>
          <p:cNvPr id="417" name="Google Shape;417;p13"/>
          <p:cNvSpPr/>
          <p:nvPr/>
        </p:nvSpPr>
        <p:spPr>
          <a:xfrm>
            <a:off x="7715250" y="2333625"/>
            <a:ext cx="3867150" cy="704850"/>
          </a:xfrm>
          <a:prstGeom prst="rect">
            <a:avLst/>
          </a:prstGeom>
          <a:solidFill>
            <a:srgbClr val="F4F6F8"/>
          </a:solidFill>
          <a:ln cap="flat" cmpd="sng" w="95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3"/>
          <p:cNvSpPr/>
          <p:nvPr/>
        </p:nvSpPr>
        <p:spPr>
          <a:xfrm>
            <a:off x="7820025" y="2419350"/>
            <a:ext cx="3657600" cy="5524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1200">
                <a:solidFill>
                  <a:srgbClr val="202833"/>
                </a:solidFill>
                <a:latin typeface="Arial"/>
                <a:ea typeface="Arial"/>
                <a:cs typeface="Arial"/>
                <a:sym typeface="Arial"/>
              </a:rPr>
              <a:t>UC4 updates simulated CAD balances</a:t>
            </a:r>
            <a:endParaRPr/>
          </a:p>
        </p:txBody>
      </p:sp>
      <p:sp>
        <p:nvSpPr>
          <p:cNvPr id="419" name="Google Shape;419;p13"/>
          <p:cNvSpPr/>
          <p:nvPr/>
        </p:nvSpPr>
        <p:spPr>
          <a:xfrm>
            <a:off x="590550" y="3038475"/>
            <a:ext cx="3333750" cy="704850"/>
          </a:xfrm>
          <a:prstGeom prst="rect">
            <a:avLst/>
          </a:prstGeom>
          <a:solidFill>
            <a:srgbClr val="FFFFFF"/>
          </a:solidFill>
          <a:ln cap="flat" cmpd="sng" w="95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3"/>
          <p:cNvSpPr/>
          <p:nvPr/>
        </p:nvSpPr>
        <p:spPr>
          <a:xfrm>
            <a:off x="695325" y="3124200"/>
            <a:ext cx="3124200" cy="5524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1200">
                <a:solidFill>
                  <a:srgbClr val="202833"/>
                </a:solidFill>
                <a:latin typeface="Arial"/>
                <a:ea typeface="Arial"/>
                <a:cs typeface="Arial"/>
                <a:sym typeface="Arial"/>
              </a:rPr>
              <a:t>Three failed PINs lock session</a:t>
            </a:r>
            <a:endParaRPr/>
          </a:p>
        </p:txBody>
      </p:sp>
      <p:sp>
        <p:nvSpPr>
          <p:cNvPr id="421" name="Google Shape;421;p13"/>
          <p:cNvSpPr/>
          <p:nvPr/>
        </p:nvSpPr>
        <p:spPr>
          <a:xfrm>
            <a:off x="4143375" y="3038475"/>
            <a:ext cx="3381375" cy="704850"/>
          </a:xfrm>
          <a:prstGeom prst="rect">
            <a:avLst/>
          </a:prstGeom>
          <a:solidFill>
            <a:srgbClr val="FFFFFF"/>
          </a:solidFill>
          <a:ln cap="flat" cmpd="sng" w="95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3"/>
          <p:cNvSpPr/>
          <p:nvPr/>
        </p:nvSpPr>
        <p:spPr>
          <a:xfrm>
            <a:off x="4248150" y="3124200"/>
            <a:ext cx="3171825" cy="5524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1200">
                <a:solidFill>
                  <a:srgbClr val="202833"/>
                </a:solidFill>
                <a:latin typeface="Arial"/>
                <a:ea typeface="Arial"/>
                <a:cs typeface="Arial"/>
                <a:sym typeface="Arial"/>
              </a:rPr>
              <a:t>M4 post-lockout success count</a:t>
            </a:r>
            <a:endParaRPr/>
          </a:p>
        </p:txBody>
      </p:sp>
      <p:sp>
        <p:nvSpPr>
          <p:cNvPr id="423" name="Google Shape;423;p13"/>
          <p:cNvSpPr/>
          <p:nvPr/>
        </p:nvSpPr>
        <p:spPr>
          <a:xfrm>
            <a:off x="7715250" y="3038475"/>
            <a:ext cx="3867150" cy="704850"/>
          </a:xfrm>
          <a:prstGeom prst="rect">
            <a:avLst/>
          </a:prstGeom>
          <a:solidFill>
            <a:srgbClr val="FFFFFF"/>
          </a:solidFill>
          <a:ln cap="flat" cmpd="sng" w="95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3"/>
          <p:cNvSpPr/>
          <p:nvPr/>
        </p:nvSpPr>
        <p:spPr>
          <a:xfrm>
            <a:off x="7820025" y="3124200"/>
            <a:ext cx="3657600" cy="5524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1200">
                <a:solidFill>
                  <a:srgbClr val="202833"/>
                </a:solidFill>
                <a:latin typeface="Arial"/>
                <a:ea typeface="Arial"/>
                <a:cs typeface="Arial"/>
                <a:sym typeface="Arial"/>
              </a:rPr>
              <a:t>UC2 denies financial actions after lockout</a:t>
            </a:r>
            <a:endParaRPr/>
          </a:p>
        </p:txBody>
      </p:sp>
      <p:sp>
        <p:nvSpPr>
          <p:cNvPr id="425" name="Google Shape;425;p13"/>
          <p:cNvSpPr/>
          <p:nvPr/>
        </p:nvSpPr>
        <p:spPr>
          <a:xfrm>
            <a:off x="590550" y="3743325"/>
            <a:ext cx="3333750" cy="704850"/>
          </a:xfrm>
          <a:prstGeom prst="rect">
            <a:avLst/>
          </a:prstGeom>
          <a:solidFill>
            <a:srgbClr val="F4F6F8"/>
          </a:solidFill>
          <a:ln cap="flat" cmpd="sng" w="95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3"/>
          <p:cNvSpPr/>
          <p:nvPr/>
        </p:nvSpPr>
        <p:spPr>
          <a:xfrm>
            <a:off x="695325" y="3829050"/>
            <a:ext cx="3124200" cy="5524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1200">
                <a:solidFill>
                  <a:srgbClr val="202833"/>
                </a:solidFill>
                <a:latin typeface="Arial"/>
                <a:ea typeface="Arial"/>
                <a:cs typeface="Arial"/>
                <a:sym typeface="Arial"/>
              </a:rPr>
              <a:t>Simulated cash dispenser</a:t>
            </a:r>
            <a:endParaRPr/>
          </a:p>
        </p:txBody>
      </p:sp>
      <p:sp>
        <p:nvSpPr>
          <p:cNvPr id="427" name="Google Shape;427;p13"/>
          <p:cNvSpPr/>
          <p:nvPr/>
        </p:nvSpPr>
        <p:spPr>
          <a:xfrm>
            <a:off x="4143375" y="3743325"/>
            <a:ext cx="3381375" cy="704850"/>
          </a:xfrm>
          <a:prstGeom prst="rect">
            <a:avLst/>
          </a:prstGeom>
          <a:solidFill>
            <a:srgbClr val="F4F6F8"/>
          </a:solidFill>
          <a:ln cap="flat" cmpd="sng" w="95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3"/>
          <p:cNvSpPr/>
          <p:nvPr/>
        </p:nvSpPr>
        <p:spPr>
          <a:xfrm>
            <a:off x="4248150" y="3829050"/>
            <a:ext cx="3171825" cy="5524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1200">
                <a:solidFill>
                  <a:srgbClr val="202833"/>
                </a:solidFill>
                <a:latin typeface="Arial"/>
                <a:ea typeface="Arial"/>
                <a:cs typeface="Arial"/>
                <a:sym typeface="Arial"/>
              </a:rPr>
              <a:t>M5 expected cash-level reconciliation</a:t>
            </a:r>
            <a:endParaRPr/>
          </a:p>
        </p:txBody>
      </p:sp>
      <p:sp>
        <p:nvSpPr>
          <p:cNvPr id="429" name="Google Shape;429;p13"/>
          <p:cNvSpPr/>
          <p:nvPr/>
        </p:nvSpPr>
        <p:spPr>
          <a:xfrm>
            <a:off x="7715250" y="3743325"/>
            <a:ext cx="3867150" cy="704850"/>
          </a:xfrm>
          <a:prstGeom prst="rect">
            <a:avLst/>
          </a:prstGeom>
          <a:solidFill>
            <a:srgbClr val="F4F6F8"/>
          </a:solidFill>
          <a:ln cap="flat" cmpd="sng" w="95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3"/>
          <p:cNvSpPr/>
          <p:nvPr/>
        </p:nvSpPr>
        <p:spPr>
          <a:xfrm>
            <a:off x="7820025" y="3829050"/>
            <a:ext cx="3657600" cy="5524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1200">
                <a:solidFill>
                  <a:srgbClr val="202833"/>
                </a:solidFill>
                <a:latin typeface="Arial"/>
                <a:ea typeface="Arial"/>
                <a:cs typeface="Arial"/>
                <a:sym typeface="Arial"/>
              </a:rPr>
              <a:t>UC4 requests dispense from simulated device</a:t>
            </a:r>
            <a:endParaRPr/>
          </a:p>
        </p:txBody>
      </p:sp>
      <p:sp>
        <p:nvSpPr>
          <p:cNvPr id="431" name="Google Shape;431;p13"/>
          <p:cNvSpPr/>
          <p:nvPr/>
        </p:nvSpPr>
        <p:spPr>
          <a:xfrm>
            <a:off x="590550" y="4448175"/>
            <a:ext cx="3333750" cy="704850"/>
          </a:xfrm>
          <a:prstGeom prst="rect">
            <a:avLst/>
          </a:prstGeom>
          <a:solidFill>
            <a:srgbClr val="FFFFFF"/>
          </a:solidFill>
          <a:ln cap="flat" cmpd="sng" w="95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3"/>
          <p:cNvSpPr/>
          <p:nvPr/>
        </p:nvSpPr>
        <p:spPr>
          <a:xfrm>
            <a:off x="695325" y="4533900"/>
            <a:ext cx="3124200" cy="5524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1200">
                <a:solidFill>
                  <a:srgbClr val="202833"/>
                </a:solidFill>
                <a:latin typeface="Arial"/>
                <a:ea typeface="Arial"/>
                <a:cs typeface="Arial"/>
                <a:sym typeface="Arial"/>
              </a:rPr>
              <a:t>Optional simulated receipts</a:t>
            </a:r>
            <a:endParaRPr/>
          </a:p>
        </p:txBody>
      </p:sp>
      <p:sp>
        <p:nvSpPr>
          <p:cNvPr id="433" name="Google Shape;433;p13"/>
          <p:cNvSpPr/>
          <p:nvPr/>
        </p:nvSpPr>
        <p:spPr>
          <a:xfrm>
            <a:off x="4143375" y="4448175"/>
            <a:ext cx="3381375" cy="704850"/>
          </a:xfrm>
          <a:prstGeom prst="rect">
            <a:avLst/>
          </a:prstGeom>
          <a:solidFill>
            <a:srgbClr val="FFFFFF"/>
          </a:solidFill>
          <a:ln cap="flat" cmpd="sng" w="95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3"/>
          <p:cNvSpPr/>
          <p:nvPr/>
        </p:nvSpPr>
        <p:spPr>
          <a:xfrm>
            <a:off x="4248150" y="4533900"/>
            <a:ext cx="3171825" cy="5524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1200">
                <a:solidFill>
                  <a:srgbClr val="202833"/>
                </a:solidFill>
                <a:latin typeface="Arial"/>
                <a:ea typeface="Arial"/>
                <a:cs typeface="Arial"/>
                <a:sym typeface="Arial"/>
              </a:rPr>
              <a:t>M6 receipt field accuracy</a:t>
            </a:r>
            <a:endParaRPr/>
          </a:p>
        </p:txBody>
      </p:sp>
      <p:sp>
        <p:nvSpPr>
          <p:cNvPr id="435" name="Google Shape;435;p13"/>
          <p:cNvSpPr/>
          <p:nvPr/>
        </p:nvSpPr>
        <p:spPr>
          <a:xfrm>
            <a:off x="7715250" y="4448175"/>
            <a:ext cx="3867150" cy="704850"/>
          </a:xfrm>
          <a:prstGeom prst="rect">
            <a:avLst/>
          </a:prstGeom>
          <a:solidFill>
            <a:srgbClr val="FFFFFF"/>
          </a:solidFill>
          <a:ln cap="flat" cmpd="sng" w="95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3"/>
          <p:cNvSpPr/>
          <p:nvPr/>
        </p:nvSpPr>
        <p:spPr>
          <a:xfrm>
            <a:off x="7820025" y="4533900"/>
            <a:ext cx="3657600" cy="5524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1200">
                <a:solidFill>
                  <a:srgbClr val="202833"/>
                </a:solidFill>
                <a:latin typeface="Arial"/>
                <a:ea typeface="Arial"/>
                <a:cs typeface="Arial"/>
                <a:sym typeface="Arial"/>
              </a:rPr>
              <a:t>UC9 follows completed transaction on request</a:t>
            </a:r>
            <a:endParaRPr/>
          </a:p>
        </p:txBody>
      </p:sp>
      <p:sp>
        <p:nvSpPr>
          <p:cNvPr id="437" name="Google Shape;437;p13"/>
          <p:cNvSpPr/>
          <p:nvPr/>
        </p:nvSpPr>
        <p:spPr>
          <a:xfrm>
            <a:off x="590550" y="5153025"/>
            <a:ext cx="3333750" cy="704850"/>
          </a:xfrm>
          <a:prstGeom prst="rect">
            <a:avLst/>
          </a:prstGeom>
          <a:solidFill>
            <a:srgbClr val="F4F6F8"/>
          </a:solidFill>
          <a:ln cap="flat" cmpd="sng" w="95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3"/>
          <p:cNvSpPr/>
          <p:nvPr/>
        </p:nvSpPr>
        <p:spPr>
          <a:xfrm>
            <a:off x="695325" y="5238750"/>
            <a:ext cx="3124200" cy="5524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1200">
                <a:solidFill>
                  <a:srgbClr val="202833"/>
                </a:solidFill>
                <a:latin typeface="Arial"/>
                <a:ea typeface="Arial"/>
                <a:cs typeface="Arial"/>
                <a:sym typeface="Arial"/>
              </a:rPr>
              <a:t>EN/FR customer interface</a:t>
            </a:r>
            <a:endParaRPr/>
          </a:p>
        </p:txBody>
      </p:sp>
      <p:sp>
        <p:nvSpPr>
          <p:cNvPr id="439" name="Google Shape;439;p13"/>
          <p:cNvSpPr/>
          <p:nvPr/>
        </p:nvSpPr>
        <p:spPr>
          <a:xfrm>
            <a:off x="4143375" y="5153025"/>
            <a:ext cx="3381375" cy="704850"/>
          </a:xfrm>
          <a:prstGeom prst="rect">
            <a:avLst/>
          </a:prstGeom>
          <a:solidFill>
            <a:srgbClr val="F4F6F8"/>
          </a:solidFill>
          <a:ln cap="flat" cmpd="sng" w="95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3"/>
          <p:cNvSpPr/>
          <p:nvPr/>
        </p:nvSpPr>
        <p:spPr>
          <a:xfrm>
            <a:off x="4248150" y="5238750"/>
            <a:ext cx="3171825" cy="5524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1200">
                <a:solidFill>
                  <a:srgbClr val="202833"/>
                </a:solidFill>
                <a:latin typeface="Arial"/>
                <a:ea typeface="Arial"/>
                <a:cs typeface="Arial"/>
                <a:sym typeface="Arial"/>
              </a:rPr>
              <a:t>Test evidence recorded by scenario</a:t>
            </a:r>
            <a:endParaRPr/>
          </a:p>
        </p:txBody>
      </p:sp>
      <p:sp>
        <p:nvSpPr>
          <p:cNvPr id="441" name="Google Shape;441;p13"/>
          <p:cNvSpPr/>
          <p:nvPr/>
        </p:nvSpPr>
        <p:spPr>
          <a:xfrm>
            <a:off x="7715250" y="5153025"/>
            <a:ext cx="3867150" cy="704850"/>
          </a:xfrm>
          <a:prstGeom prst="rect">
            <a:avLst/>
          </a:prstGeom>
          <a:solidFill>
            <a:srgbClr val="F4F6F8"/>
          </a:solidFill>
          <a:ln cap="flat" cmpd="sng" w="95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3"/>
          <p:cNvSpPr/>
          <p:nvPr/>
        </p:nvSpPr>
        <p:spPr>
          <a:xfrm>
            <a:off x="7820025" y="5238750"/>
            <a:ext cx="3657600" cy="5524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1200">
                <a:solidFill>
                  <a:srgbClr val="202833"/>
                </a:solidFill>
                <a:latin typeface="Arial"/>
                <a:ea typeface="Arial"/>
                <a:cs typeface="Arial"/>
                <a:sym typeface="Arial"/>
              </a:rPr>
              <a:t>UC1 sets current session language</a:t>
            </a:r>
            <a:endParaRPr/>
          </a:p>
        </p:txBody>
      </p:sp>
      <p:sp>
        <p:nvSpPr>
          <p:cNvPr id="443" name="Google Shape;443;p13"/>
          <p:cNvSpPr/>
          <p:nvPr/>
        </p:nvSpPr>
        <p:spPr>
          <a:xfrm>
            <a:off x="552450" y="6257925"/>
            <a:ext cx="11049000" cy="2857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975">
                <a:solidFill>
                  <a:srgbClr val="596573"/>
                </a:solidFill>
                <a:latin typeface="Arial"/>
                <a:ea typeface="Arial"/>
                <a:cs typeface="Arial"/>
                <a:sym typeface="Arial"/>
              </a:rPr>
              <a:t>This traceability check prevents unsupported actors, data sources, and transactions from entering the D2 implementation.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14"/>
          <p:cNvSpPr/>
          <p:nvPr/>
        </p:nvSpPr>
        <p:spPr>
          <a:xfrm>
            <a:off x="0" y="0"/>
            <a:ext cx="12192000"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4"/>
          <p:cNvSpPr/>
          <p:nvPr/>
        </p:nvSpPr>
        <p:spPr>
          <a:xfrm>
            <a:off x="0" y="0"/>
            <a:ext cx="12192000" cy="1066800"/>
          </a:xfrm>
          <a:prstGeom prst="rect">
            <a:avLst/>
          </a:prstGeom>
          <a:solidFill>
            <a:srgbClr val="8B12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4"/>
          <p:cNvSpPr/>
          <p:nvPr/>
        </p:nvSpPr>
        <p:spPr>
          <a:xfrm>
            <a:off x="514350" y="228600"/>
            <a:ext cx="11049000" cy="5905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1" lang="en-US" sz="2550">
                <a:solidFill>
                  <a:srgbClr val="FFFFFF"/>
                </a:solidFill>
                <a:latin typeface="Arial"/>
                <a:ea typeface="Arial"/>
                <a:cs typeface="Arial"/>
                <a:sym typeface="Arial"/>
              </a:rPr>
              <a:t>Team plan • D1 review, D2 implementation, D3 measurement</a:t>
            </a:r>
            <a:endParaRPr/>
          </a:p>
        </p:txBody>
      </p:sp>
      <p:sp>
        <p:nvSpPr>
          <p:cNvPr id="452" name="Google Shape;452;p14"/>
          <p:cNvSpPr/>
          <p:nvPr/>
        </p:nvSpPr>
        <p:spPr>
          <a:xfrm>
            <a:off x="0" y="6629400"/>
            <a:ext cx="12192000" cy="228600"/>
          </a:xfrm>
          <a:prstGeom prst="rect">
            <a:avLst/>
          </a:prstGeom>
          <a:solidFill>
            <a:srgbClr val="6710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4"/>
          <p:cNvSpPr/>
          <p:nvPr/>
        </p:nvSpPr>
        <p:spPr>
          <a:xfrm>
            <a:off x="419100" y="6638925"/>
            <a:ext cx="8953500" cy="19050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900">
                <a:solidFill>
                  <a:srgbClr val="FFFFFF"/>
                </a:solidFill>
                <a:latin typeface="Arial"/>
                <a:ea typeface="Arial"/>
                <a:cs typeface="Arial"/>
                <a:sym typeface="Arial"/>
              </a:rPr>
              <a:t>SOEN 6611 • SECTION D • FALL 2026</a:t>
            </a:r>
            <a:endParaRPr/>
          </a:p>
        </p:txBody>
      </p:sp>
      <p:sp>
        <p:nvSpPr>
          <p:cNvPr id="454" name="Google Shape;454;p14"/>
          <p:cNvSpPr/>
          <p:nvPr/>
        </p:nvSpPr>
        <p:spPr>
          <a:xfrm>
            <a:off x="11334750" y="6638925"/>
            <a:ext cx="457200" cy="190500"/>
          </a:xfrm>
          <a:prstGeom prst="rect">
            <a:avLst/>
          </a:prstGeom>
          <a:noFill/>
          <a:ln>
            <a:noFill/>
          </a:ln>
        </p:spPr>
        <p:txBody>
          <a:bodyPr anchorCtr="0" anchor="ctr" bIns="19050" lIns="19050" spcFirstLastPara="1" rIns="19050" wrap="square" tIns="19050">
            <a:normAutofit/>
          </a:bodyPr>
          <a:lstStyle/>
          <a:p>
            <a:pPr indent="0" lvl="0" marL="0" marR="0" rtl="0" algn="r">
              <a:spcBef>
                <a:spcPts val="0"/>
              </a:spcBef>
              <a:spcAft>
                <a:spcPts val="0"/>
              </a:spcAft>
              <a:buNone/>
            </a:pPr>
            <a:r>
              <a:rPr b="1" lang="en-US" sz="900">
                <a:solidFill>
                  <a:srgbClr val="FFFFFF"/>
                </a:solidFill>
                <a:latin typeface="Arial"/>
                <a:ea typeface="Arial"/>
                <a:cs typeface="Arial"/>
                <a:sym typeface="Arial"/>
              </a:rPr>
              <a:t>14</a:t>
            </a:r>
            <a:endParaRPr/>
          </a:p>
        </p:txBody>
      </p:sp>
      <p:sp>
        <p:nvSpPr>
          <p:cNvPr id="455" name="Google Shape;455;p14"/>
          <p:cNvSpPr/>
          <p:nvPr/>
        </p:nvSpPr>
        <p:spPr>
          <a:xfrm>
            <a:off x="609600" y="1352550"/>
            <a:ext cx="10858500" cy="32385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725">
                <a:solidFill>
                  <a:srgbClr val="19334E"/>
                </a:solidFill>
                <a:latin typeface="Arial"/>
                <a:ea typeface="Arial"/>
                <a:cs typeface="Arial"/>
                <a:sym typeface="Arial"/>
              </a:rPr>
              <a:t>Proposed problem owners and peer reviewers</a:t>
            </a:r>
            <a:endParaRPr/>
          </a:p>
        </p:txBody>
      </p:sp>
      <p:sp>
        <p:nvSpPr>
          <p:cNvPr id="456" name="Google Shape;456;p14"/>
          <p:cNvSpPr/>
          <p:nvPr/>
        </p:nvSpPr>
        <p:spPr>
          <a:xfrm>
            <a:off x="590550" y="1781175"/>
            <a:ext cx="3619500" cy="400050"/>
          </a:xfrm>
          <a:prstGeom prst="rect">
            <a:avLst/>
          </a:prstGeom>
          <a:solidFill>
            <a:srgbClr val="19334E"/>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4"/>
          <p:cNvSpPr/>
          <p:nvPr/>
        </p:nvSpPr>
        <p:spPr>
          <a:xfrm>
            <a:off x="704850" y="1828800"/>
            <a:ext cx="3390900" cy="295275"/>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1" lang="en-US" sz="1275">
                <a:solidFill>
                  <a:srgbClr val="FFFFFF"/>
                </a:solidFill>
                <a:latin typeface="Arial"/>
                <a:ea typeface="Arial"/>
                <a:cs typeface="Arial"/>
                <a:sym typeface="Arial"/>
              </a:rPr>
              <a:t>Workstream</a:t>
            </a:r>
            <a:endParaRPr/>
          </a:p>
        </p:txBody>
      </p:sp>
      <p:sp>
        <p:nvSpPr>
          <p:cNvPr id="458" name="Google Shape;458;p14"/>
          <p:cNvSpPr/>
          <p:nvPr/>
        </p:nvSpPr>
        <p:spPr>
          <a:xfrm>
            <a:off x="4333875" y="1781175"/>
            <a:ext cx="3524250" cy="400050"/>
          </a:xfrm>
          <a:prstGeom prst="rect">
            <a:avLst/>
          </a:prstGeom>
          <a:solidFill>
            <a:srgbClr val="19334E"/>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4"/>
          <p:cNvSpPr/>
          <p:nvPr/>
        </p:nvSpPr>
        <p:spPr>
          <a:xfrm>
            <a:off x="4448175" y="1828800"/>
            <a:ext cx="3295650" cy="295275"/>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1" lang="en-US" sz="1275">
                <a:solidFill>
                  <a:srgbClr val="FFFFFF"/>
                </a:solidFill>
                <a:latin typeface="Arial"/>
                <a:ea typeface="Arial"/>
                <a:cs typeface="Arial"/>
                <a:sym typeface="Arial"/>
              </a:rPr>
              <a:t>Owner</a:t>
            </a:r>
            <a:endParaRPr/>
          </a:p>
        </p:txBody>
      </p:sp>
      <p:sp>
        <p:nvSpPr>
          <p:cNvPr id="460" name="Google Shape;460;p14"/>
          <p:cNvSpPr/>
          <p:nvPr/>
        </p:nvSpPr>
        <p:spPr>
          <a:xfrm>
            <a:off x="7981950" y="1781175"/>
            <a:ext cx="3619500" cy="400050"/>
          </a:xfrm>
          <a:prstGeom prst="rect">
            <a:avLst/>
          </a:prstGeom>
          <a:solidFill>
            <a:srgbClr val="19334E"/>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4"/>
          <p:cNvSpPr/>
          <p:nvPr/>
        </p:nvSpPr>
        <p:spPr>
          <a:xfrm>
            <a:off x="8096250" y="1828800"/>
            <a:ext cx="3390900" cy="295275"/>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1" lang="en-US" sz="1275">
                <a:solidFill>
                  <a:srgbClr val="FFFFFF"/>
                </a:solidFill>
                <a:latin typeface="Arial"/>
                <a:ea typeface="Arial"/>
                <a:cs typeface="Arial"/>
                <a:sym typeface="Arial"/>
              </a:rPr>
              <a:t>Reviewer</a:t>
            </a:r>
            <a:endParaRPr/>
          </a:p>
        </p:txBody>
      </p:sp>
      <p:sp>
        <p:nvSpPr>
          <p:cNvPr id="462" name="Google Shape;462;p14"/>
          <p:cNvSpPr/>
          <p:nvPr/>
        </p:nvSpPr>
        <p:spPr>
          <a:xfrm>
            <a:off x="590550" y="2181225"/>
            <a:ext cx="3619500" cy="514350"/>
          </a:xfrm>
          <a:prstGeom prst="rect">
            <a:avLst/>
          </a:prstGeom>
          <a:solidFill>
            <a:srgbClr val="F4F6F8"/>
          </a:solidFill>
          <a:ln cap="flat" cmpd="sng" w="95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4"/>
          <p:cNvSpPr/>
          <p:nvPr/>
        </p:nvSpPr>
        <p:spPr>
          <a:xfrm>
            <a:off x="704850" y="2257425"/>
            <a:ext cx="3390900" cy="3619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1" lang="en-US" sz="1238">
                <a:solidFill>
                  <a:srgbClr val="202833"/>
                </a:solidFill>
                <a:latin typeface="Arial"/>
                <a:ea typeface="Arial"/>
                <a:cs typeface="Arial"/>
                <a:sym typeface="Arial"/>
              </a:rPr>
              <a:t>Problem 1 • ABM and assumptions</a:t>
            </a:r>
            <a:endParaRPr/>
          </a:p>
        </p:txBody>
      </p:sp>
      <p:sp>
        <p:nvSpPr>
          <p:cNvPr id="464" name="Google Shape;464;p14"/>
          <p:cNvSpPr/>
          <p:nvPr/>
        </p:nvSpPr>
        <p:spPr>
          <a:xfrm>
            <a:off x="4333875" y="2181225"/>
            <a:ext cx="3524250" cy="514350"/>
          </a:xfrm>
          <a:prstGeom prst="rect">
            <a:avLst/>
          </a:prstGeom>
          <a:solidFill>
            <a:srgbClr val="F4F6F8"/>
          </a:solidFill>
          <a:ln cap="flat" cmpd="sng" w="95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4"/>
          <p:cNvSpPr/>
          <p:nvPr/>
        </p:nvSpPr>
        <p:spPr>
          <a:xfrm>
            <a:off x="4448175" y="2257425"/>
            <a:ext cx="3295650" cy="3619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1238">
                <a:solidFill>
                  <a:srgbClr val="202833"/>
                </a:solidFill>
                <a:latin typeface="Arial"/>
                <a:ea typeface="Arial"/>
                <a:cs typeface="Arial"/>
                <a:sym typeface="Arial"/>
              </a:rPr>
              <a:t>Keyoumu Aisikeer</a:t>
            </a:r>
            <a:endParaRPr/>
          </a:p>
        </p:txBody>
      </p:sp>
      <p:sp>
        <p:nvSpPr>
          <p:cNvPr id="466" name="Google Shape;466;p14"/>
          <p:cNvSpPr/>
          <p:nvPr/>
        </p:nvSpPr>
        <p:spPr>
          <a:xfrm>
            <a:off x="7981950" y="2181225"/>
            <a:ext cx="3619500" cy="514350"/>
          </a:xfrm>
          <a:prstGeom prst="rect">
            <a:avLst/>
          </a:prstGeom>
          <a:solidFill>
            <a:srgbClr val="F4F6F8"/>
          </a:solidFill>
          <a:ln cap="flat" cmpd="sng" w="95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4"/>
          <p:cNvSpPr/>
          <p:nvPr/>
        </p:nvSpPr>
        <p:spPr>
          <a:xfrm>
            <a:off x="8096250" y="2257425"/>
            <a:ext cx="3390900" cy="3619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1238">
                <a:solidFill>
                  <a:srgbClr val="202833"/>
                </a:solidFill>
                <a:latin typeface="Arial"/>
                <a:ea typeface="Arial"/>
                <a:cs typeface="Arial"/>
                <a:sym typeface="Arial"/>
              </a:rPr>
              <a:t>Shubo Debnath</a:t>
            </a:r>
            <a:endParaRPr/>
          </a:p>
        </p:txBody>
      </p:sp>
      <p:sp>
        <p:nvSpPr>
          <p:cNvPr id="468" name="Google Shape;468;p14"/>
          <p:cNvSpPr/>
          <p:nvPr/>
        </p:nvSpPr>
        <p:spPr>
          <a:xfrm>
            <a:off x="590550" y="2695575"/>
            <a:ext cx="3619500" cy="514350"/>
          </a:xfrm>
          <a:prstGeom prst="rect">
            <a:avLst/>
          </a:prstGeom>
          <a:solidFill>
            <a:srgbClr val="FFFFFF"/>
          </a:solidFill>
          <a:ln cap="flat" cmpd="sng" w="95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4"/>
          <p:cNvSpPr/>
          <p:nvPr/>
        </p:nvSpPr>
        <p:spPr>
          <a:xfrm>
            <a:off x="704850" y="2771775"/>
            <a:ext cx="3390900" cy="3619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1" lang="en-US" sz="1238">
                <a:solidFill>
                  <a:srgbClr val="202833"/>
                </a:solidFill>
                <a:latin typeface="Arial"/>
                <a:ea typeface="Arial"/>
                <a:cs typeface="Arial"/>
                <a:sym typeface="Arial"/>
              </a:rPr>
              <a:t>Problem 2 • GQM and measures</a:t>
            </a:r>
            <a:endParaRPr/>
          </a:p>
        </p:txBody>
      </p:sp>
      <p:sp>
        <p:nvSpPr>
          <p:cNvPr id="470" name="Google Shape;470;p14"/>
          <p:cNvSpPr/>
          <p:nvPr/>
        </p:nvSpPr>
        <p:spPr>
          <a:xfrm>
            <a:off x="4333875" y="2695575"/>
            <a:ext cx="3524250" cy="514350"/>
          </a:xfrm>
          <a:prstGeom prst="rect">
            <a:avLst/>
          </a:prstGeom>
          <a:solidFill>
            <a:srgbClr val="FFFFFF"/>
          </a:solidFill>
          <a:ln cap="flat" cmpd="sng" w="95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4"/>
          <p:cNvSpPr/>
          <p:nvPr/>
        </p:nvSpPr>
        <p:spPr>
          <a:xfrm>
            <a:off x="4448175" y="2771775"/>
            <a:ext cx="3295650" cy="3619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1238">
                <a:solidFill>
                  <a:srgbClr val="202833"/>
                </a:solidFill>
                <a:latin typeface="Arial"/>
                <a:ea typeface="Arial"/>
                <a:cs typeface="Arial"/>
                <a:sym typeface="Arial"/>
              </a:rPr>
              <a:t>Shubo Debnath</a:t>
            </a:r>
            <a:endParaRPr/>
          </a:p>
        </p:txBody>
      </p:sp>
      <p:sp>
        <p:nvSpPr>
          <p:cNvPr id="472" name="Google Shape;472;p14"/>
          <p:cNvSpPr/>
          <p:nvPr/>
        </p:nvSpPr>
        <p:spPr>
          <a:xfrm>
            <a:off x="7981950" y="2695575"/>
            <a:ext cx="3619500" cy="514350"/>
          </a:xfrm>
          <a:prstGeom prst="rect">
            <a:avLst/>
          </a:prstGeom>
          <a:solidFill>
            <a:srgbClr val="FFFFFF"/>
          </a:solidFill>
          <a:ln cap="flat" cmpd="sng" w="95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4"/>
          <p:cNvSpPr/>
          <p:nvPr/>
        </p:nvSpPr>
        <p:spPr>
          <a:xfrm>
            <a:off x="8096250" y="2771775"/>
            <a:ext cx="3390900" cy="3619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1238">
                <a:solidFill>
                  <a:srgbClr val="202833"/>
                </a:solidFill>
                <a:latin typeface="Arial"/>
                <a:ea typeface="Arial"/>
                <a:cs typeface="Arial"/>
                <a:sym typeface="Arial"/>
              </a:rPr>
              <a:t>Himanshu Banwal</a:t>
            </a:r>
            <a:endParaRPr/>
          </a:p>
        </p:txBody>
      </p:sp>
      <p:sp>
        <p:nvSpPr>
          <p:cNvPr id="474" name="Google Shape;474;p14"/>
          <p:cNvSpPr/>
          <p:nvPr/>
        </p:nvSpPr>
        <p:spPr>
          <a:xfrm>
            <a:off x="590550" y="3209925"/>
            <a:ext cx="3619500" cy="514350"/>
          </a:xfrm>
          <a:prstGeom prst="rect">
            <a:avLst/>
          </a:prstGeom>
          <a:solidFill>
            <a:srgbClr val="F4F6F8"/>
          </a:solidFill>
          <a:ln cap="flat" cmpd="sng" w="95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4"/>
          <p:cNvSpPr/>
          <p:nvPr/>
        </p:nvSpPr>
        <p:spPr>
          <a:xfrm>
            <a:off x="704850" y="3286125"/>
            <a:ext cx="3390900" cy="3619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1" lang="en-US" sz="1238">
                <a:solidFill>
                  <a:srgbClr val="202833"/>
                </a:solidFill>
                <a:latin typeface="Arial"/>
                <a:ea typeface="Arial"/>
                <a:cs typeface="Arial"/>
                <a:sym typeface="Arial"/>
              </a:rPr>
              <a:t>Problem 3 • use-case model</a:t>
            </a:r>
            <a:endParaRPr/>
          </a:p>
        </p:txBody>
      </p:sp>
      <p:sp>
        <p:nvSpPr>
          <p:cNvPr id="476" name="Google Shape;476;p14"/>
          <p:cNvSpPr/>
          <p:nvPr/>
        </p:nvSpPr>
        <p:spPr>
          <a:xfrm>
            <a:off x="4333875" y="3209925"/>
            <a:ext cx="3524250" cy="514350"/>
          </a:xfrm>
          <a:prstGeom prst="rect">
            <a:avLst/>
          </a:prstGeom>
          <a:solidFill>
            <a:srgbClr val="F4F6F8"/>
          </a:solidFill>
          <a:ln cap="flat" cmpd="sng" w="95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4"/>
          <p:cNvSpPr/>
          <p:nvPr/>
        </p:nvSpPr>
        <p:spPr>
          <a:xfrm>
            <a:off x="4448175" y="3286125"/>
            <a:ext cx="3295650" cy="3619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1238">
                <a:solidFill>
                  <a:srgbClr val="202833"/>
                </a:solidFill>
                <a:latin typeface="Arial"/>
                <a:ea typeface="Arial"/>
                <a:cs typeface="Arial"/>
                <a:sym typeface="Arial"/>
              </a:rPr>
              <a:t>Himanshu Banwal</a:t>
            </a:r>
            <a:endParaRPr/>
          </a:p>
        </p:txBody>
      </p:sp>
      <p:sp>
        <p:nvSpPr>
          <p:cNvPr id="478" name="Google Shape;478;p14"/>
          <p:cNvSpPr/>
          <p:nvPr/>
        </p:nvSpPr>
        <p:spPr>
          <a:xfrm>
            <a:off x="7981950" y="3209925"/>
            <a:ext cx="3619500" cy="514350"/>
          </a:xfrm>
          <a:prstGeom prst="rect">
            <a:avLst/>
          </a:prstGeom>
          <a:solidFill>
            <a:srgbClr val="F4F6F8"/>
          </a:solidFill>
          <a:ln cap="flat" cmpd="sng" w="95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4"/>
          <p:cNvSpPr/>
          <p:nvPr/>
        </p:nvSpPr>
        <p:spPr>
          <a:xfrm>
            <a:off x="8096250" y="3286125"/>
            <a:ext cx="3390900" cy="3619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1238">
                <a:solidFill>
                  <a:srgbClr val="202833"/>
                </a:solidFill>
                <a:latin typeface="Arial"/>
                <a:ea typeface="Arial"/>
                <a:cs typeface="Arial"/>
                <a:sym typeface="Arial"/>
              </a:rPr>
              <a:t>Keyoumu Aisikeer</a:t>
            </a:r>
            <a:endParaRPr/>
          </a:p>
        </p:txBody>
      </p:sp>
      <p:sp>
        <p:nvSpPr>
          <p:cNvPr id="480" name="Google Shape;480;p14"/>
          <p:cNvSpPr/>
          <p:nvPr/>
        </p:nvSpPr>
        <p:spPr>
          <a:xfrm>
            <a:off x="685800" y="3867150"/>
            <a:ext cx="10810875" cy="60960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350">
                <a:solidFill>
                  <a:srgbClr val="8B1239"/>
                </a:solidFill>
                <a:latin typeface="Arial"/>
                <a:ea typeface="Arial"/>
                <a:cs typeface="Arial"/>
                <a:sym typeface="Arial"/>
              </a:rPr>
              <a:t>All three members review the whole deck, confirm the assumptions and metric definitions, rehearse explaining every section, and keep the effort log and AI log current.</a:t>
            </a:r>
            <a:endParaRPr/>
          </a:p>
        </p:txBody>
      </p:sp>
      <p:sp>
        <p:nvSpPr>
          <p:cNvPr id="481" name="Google Shape;481;p14"/>
          <p:cNvSpPr/>
          <p:nvPr/>
        </p:nvSpPr>
        <p:spPr>
          <a:xfrm>
            <a:off x="590550" y="4667250"/>
            <a:ext cx="5314950" cy="1200150"/>
          </a:xfrm>
          <a:prstGeom prst="rect">
            <a:avLst/>
          </a:prstGeom>
          <a:solidFill>
            <a:srgbClr val="F4F6F8"/>
          </a:solidFill>
          <a:ln cap="flat" cmpd="sng" w="114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4"/>
          <p:cNvSpPr/>
          <p:nvPr/>
        </p:nvSpPr>
        <p:spPr>
          <a:xfrm>
            <a:off x="733425" y="4772025"/>
            <a:ext cx="5029200" cy="2571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275">
                <a:solidFill>
                  <a:srgbClr val="8B1239"/>
                </a:solidFill>
                <a:latin typeface="Arial"/>
                <a:ea typeface="Arial"/>
                <a:cs typeface="Arial"/>
                <a:sym typeface="Arial"/>
              </a:rPr>
              <a:t>D2 • implementation and tests</a:t>
            </a:r>
            <a:endParaRPr/>
          </a:p>
        </p:txBody>
      </p:sp>
      <p:sp>
        <p:nvSpPr>
          <p:cNvPr id="483" name="Google Shape;483;p14"/>
          <p:cNvSpPr/>
          <p:nvPr/>
        </p:nvSpPr>
        <p:spPr>
          <a:xfrm>
            <a:off x="733425" y="5076825"/>
            <a:ext cx="5029200" cy="72390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200">
                <a:solidFill>
                  <a:srgbClr val="202833"/>
                </a:solidFill>
                <a:latin typeface="Arial"/>
                <a:ea typeface="Arial"/>
                <a:cs typeface="Arial"/>
                <a:sym typeface="Arial"/>
              </a:rPr>
              <a:t>Build the modeled flows in Java with Swing or JavaFX, representative test data, explicit exception handling, and helpful error messages. Instrument the simulator so the six GQM measures are available.</a:t>
            </a:r>
            <a:endParaRPr/>
          </a:p>
        </p:txBody>
      </p:sp>
      <p:sp>
        <p:nvSpPr>
          <p:cNvPr id="484" name="Google Shape;484;p14"/>
          <p:cNvSpPr/>
          <p:nvPr/>
        </p:nvSpPr>
        <p:spPr>
          <a:xfrm>
            <a:off x="6286500" y="4667250"/>
            <a:ext cx="5314950" cy="1200150"/>
          </a:xfrm>
          <a:prstGeom prst="rect">
            <a:avLst/>
          </a:prstGeom>
          <a:solidFill>
            <a:srgbClr val="F4F6F8"/>
          </a:solidFill>
          <a:ln cap="flat" cmpd="sng" w="114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4"/>
          <p:cNvSpPr/>
          <p:nvPr/>
        </p:nvSpPr>
        <p:spPr>
          <a:xfrm>
            <a:off x="6429375" y="4772025"/>
            <a:ext cx="5029200" cy="2571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275">
                <a:solidFill>
                  <a:srgbClr val="8B1239"/>
                </a:solidFill>
                <a:latin typeface="Arial"/>
                <a:ea typeface="Arial"/>
                <a:cs typeface="Arial"/>
                <a:sym typeface="Arial"/>
              </a:rPr>
              <a:t>D3 • measurement and evidence</a:t>
            </a:r>
            <a:endParaRPr/>
          </a:p>
        </p:txBody>
      </p:sp>
      <p:sp>
        <p:nvSpPr>
          <p:cNvPr id="486" name="Google Shape;486;p14"/>
          <p:cNvSpPr/>
          <p:nvPr/>
        </p:nvSpPr>
        <p:spPr>
          <a:xfrm>
            <a:off x="6429375" y="5076825"/>
            <a:ext cx="5029200" cy="72390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158">
                <a:solidFill>
                  <a:srgbClr val="202833"/>
                </a:solidFill>
                <a:latin typeface="Arial"/>
                <a:ea typeface="Arial"/>
                <a:cs typeface="Arial"/>
                <a:sym typeface="Arial"/>
              </a:rPr>
              <a:t>Keep test code separate and exclude it from SLOC. Document counting rules for Physical/Logical SLOC, readability, cyclomatic complexity, unnormalized WMC, CF, and LCOM*. Show calculations tied to the D2 code.</a:t>
            </a:r>
            <a:endParaRPr/>
          </a:p>
        </p:txBody>
      </p:sp>
      <p:sp>
        <p:nvSpPr>
          <p:cNvPr id="487" name="Google Shape;487;p14"/>
          <p:cNvSpPr/>
          <p:nvPr/>
        </p:nvSpPr>
        <p:spPr>
          <a:xfrm>
            <a:off x="552450" y="6257925"/>
            <a:ext cx="11049000" cy="2857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975">
                <a:solidFill>
                  <a:srgbClr val="596573"/>
                </a:solidFill>
                <a:latin typeface="Arial"/>
                <a:ea typeface="Arial"/>
                <a:cs typeface="Arial"/>
                <a:sym typeface="Arial"/>
              </a:rPr>
              <a:t>Confirm the owner/reviewer rotation, weekly meeting cadence, and internal D1 deadline as a group. Set the internal deadline before the course deadline.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15"/>
          <p:cNvSpPr/>
          <p:nvPr/>
        </p:nvSpPr>
        <p:spPr>
          <a:xfrm>
            <a:off x="0" y="0"/>
            <a:ext cx="12192000"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5"/>
          <p:cNvSpPr/>
          <p:nvPr/>
        </p:nvSpPr>
        <p:spPr>
          <a:xfrm>
            <a:off x="0" y="0"/>
            <a:ext cx="12192000" cy="1066800"/>
          </a:xfrm>
          <a:prstGeom prst="rect">
            <a:avLst/>
          </a:prstGeom>
          <a:solidFill>
            <a:srgbClr val="8B12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15"/>
          <p:cNvSpPr/>
          <p:nvPr/>
        </p:nvSpPr>
        <p:spPr>
          <a:xfrm>
            <a:off x="514350" y="228600"/>
            <a:ext cx="11049000" cy="5905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1" lang="en-US" sz="2550">
                <a:solidFill>
                  <a:srgbClr val="FFFFFF"/>
                </a:solidFill>
                <a:latin typeface="Arial"/>
                <a:ea typeface="Arial"/>
                <a:cs typeface="Arial"/>
                <a:sym typeface="Arial"/>
              </a:rPr>
              <a:t>Appendix • AI use and CASTROFF documentation</a:t>
            </a:r>
            <a:endParaRPr/>
          </a:p>
        </p:txBody>
      </p:sp>
      <p:sp>
        <p:nvSpPr>
          <p:cNvPr id="496" name="Google Shape;496;p15"/>
          <p:cNvSpPr/>
          <p:nvPr/>
        </p:nvSpPr>
        <p:spPr>
          <a:xfrm>
            <a:off x="0" y="6629400"/>
            <a:ext cx="12192000" cy="228600"/>
          </a:xfrm>
          <a:prstGeom prst="rect">
            <a:avLst/>
          </a:prstGeom>
          <a:solidFill>
            <a:srgbClr val="6710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5"/>
          <p:cNvSpPr/>
          <p:nvPr/>
        </p:nvSpPr>
        <p:spPr>
          <a:xfrm>
            <a:off x="419100" y="6638925"/>
            <a:ext cx="8953500" cy="19050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900">
                <a:solidFill>
                  <a:srgbClr val="FFFFFF"/>
                </a:solidFill>
                <a:latin typeface="Arial"/>
                <a:ea typeface="Arial"/>
                <a:cs typeface="Arial"/>
                <a:sym typeface="Arial"/>
              </a:rPr>
              <a:t>SOEN 6611 • SECTION D • FALL 2026</a:t>
            </a:r>
            <a:endParaRPr/>
          </a:p>
        </p:txBody>
      </p:sp>
      <p:sp>
        <p:nvSpPr>
          <p:cNvPr id="498" name="Google Shape;498;p15"/>
          <p:cNvSpPr/>
          <p:nvPr/>
        </p:nvSpPr>
        <p:spPr>
          <a:xfrm>
            <a:off x="11334750" y="6638925"/>
            <a:ext cx="457200" cy="190500"/>
          </a:xfrm>
          <a:prstGeom prst="rect">
            <a:avLst/>
          </a:prstGeom>
          <a:noFill/>
          <a:ln>
            <a:noFill/>
          </a:ln>
        </p:spPr>
        <p:txBody>
          <a:bodyPr anchorCtr="0" anchor="ctr" bIns="19050" lIns="19050" spcFirstLastPara="1" rIns="19050" wrap="square" tIns="19050">
            <a:normAutofit/>
          </a:bodyPr>
          <a:lstStyle/>
          <a:p>
            <a:pPr indent="0" lvl="0" marL="0" marR="0" rtl="0" algn="r">
              <a:spcBef>
                <a:spcPts val="0"/>
              </a:spcBef>
              <a:spcAft>
                <a:spcPts val="0"/>
              </a:spcAft>
              <a:buNone/>
            </a:pPr>
            <a:r>
              <a:rPr b="1" lang="en-US" sz="900">
                <a:solidFill>
                  <a:srgbClr val="FFFFFF"/>
                </a:solidFill>
                <a:latin typeface="Arial"/>
                <a:ea typeface="Arial"/>
                <a:cs typeface="Arial"/>
                <a:sym typeface="Arial"/>
              </a:rPr>
              <a:t>15</a:t>
            </a:r>
            <a:endParaRPr/>
          </a:p>
        </p:txBody>
      </p:sp>
      <p:sp>
        <p:nvSpPr>
          <p:cNvPr id="499" name="Google Shape;499;p15"/>
          <p:cNvSpPr/>
          <p:nvPr/>
        </p:nvSpPr>
        <p:spPr>
          <a:xfrm>
            <a:off x="609600" y="1352550"/>
            <a:ext cx="10858500" cy="32385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725">
                <a:solidFill>
                  <a:srgbClr val="19334E"/>
                </a:solidFill>
                <a:latin typeface="Arial"/>
                <a:ea typeface="Arial"/>
                <a:cs typeface="Arial"/>
                <a:sym typeface="Arial"/>
              </a:rPr>
              <a:t>How the log is organized</a:t>
            </a:r>
            <a:endParaRPr/>
          </a:p>
        </p:txBody>
      </p:sp>
      <p:sp>
        <p:nvSpPr>
          <p:cNvPr id="500" name="Google Shape;500;p15"/>
          <p:cNvSpPr/>
          <p:nvPr/>
        </p:nvSpPr>
        <p:spPr>
          <a:xfrm>
            <a:off x="666750" y="1809750"/>
            <a:ext cx="10715625" cy="87630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575">
                <a:solidFill>
                  <a:srgbClr val="202833"/>
                </a:solidFill>
                <a:latin typeface="Arial"/>
                <a:ea typeface="Arial"/>
                <a:cs typeface="Arial"/>
                <a:sym typeface="Arial"/>
              </a:rPr>
              <a:t>The project description requires CASTROFF-based prompts and explanations of outputs for both GAI use and non-use. The next slides record the prompt purpose, output summary, and team decision for each D1 problem.</a:t>
            </a:r>
            <a:endParaRPr/>
          </a:p>
        </p:txBody>
      </p:sp>
      <p:sp>
        <p:nvSpPr>
          <p:cNvPr id="501" name="Google Shape;501;p15"/>
          <p:cNvSpPr/>
          <p:nvPr/>
        </p:nvSpPr>
        <p:spPr>
          <a:xfrm>
            <a:off x="647700" y="3000375"/>
            <a:ext cx="10715625" cy="1257300"/>
          </a:xfrm>
          <a:prstGeom prst="rect">
            <a:avLst/>
          </a:prstGeom>
          <a:solidFill>
            <a:srgbClr val="FAF2F5"/>
          </a:solidFill>
          <a:ln cap="flat" cmpd="sng" w="114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5"/>
          <p:cNvSpPr/>
          <p:nvPr/>
        </p:nvSpPr>
        <p:spPr>
          <a:xfrm>
            <a:off x="790575" y="3105150"/>
            <a:ext cx="10429875" cy="2571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275">
                <a:solidFill>
                  <a:srgbClr val="8B1239"/>
                </a:solidFill>
                <a:latin typeface="Arial"/>
                <a:ea typeface="Arial"/>
                <a:cs typeface="Arial"/>
                <a:sym typeface="Arial"/>
              </a:rPr>
              <a:t>Accuracy note</a:t>
            </a:r>
            <a:endParaRPr/>
          </a:p>
        </p:txBody>
      </p:sp>
      <p:sp>
        <p:nvSpPr>
          <p:cNvPr id="503" name="Google Shape;503;p15"/>
          <p:cNvSpPr/>
          <p:nvPr/>
        </p:nvSpPr>
        <p:spPr>
          <a:xfrm>
            <a:off x="790575" y="3409950"/>
            <a:ext cx="10429875" cy="78105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350">
                <a:solidFill>
                  <a:srgbClr val="202833"/>
                </a:solidFill>
                <a:latin typeface="Arial"/>
                <a:ea typeface="Arial"/>
                <a:cs typeface="Arial"/>
                <a:sym typeface="Arial"/>
              </a:rPr>
              <a:t>The source deck recorded prompt constraints and output summaries, but did not contain full verbatim transcripts for every earlier exchange. Prompt examples below are clearly labeled as examples based on those records, not as verbatim quotes.</a:t>
            </a:r>
            <a:endParaRPr/>
          </a:p>
        </p:txBody>
      </p:sp>
      <p:sp>
        <p:nvSpPr>
          <p:cNvPr id="504" name="Google Shape;504;p15"/>
          <p:cNvSpPr/>
          <p:nvPr/>
        </p:nvSpPr>
        <p:spPr>
          <a:xfrm>
            <a:off x="647700" y="4514850"/>
            <a:ext cx="10715625" cy="1257300"/>
          </a:xfrm>
          <a:prstGeom prst="rect">
            <a:avLst/>
          </a:prstGeom>
          <a:solidFill>
            <a:srgbClr val="F4F6F8"/>
          </a:solidFill>
          <a:ln cap="flat" cmpd="sng" w="114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5"/>
          <p:cNvSpPr/>
          <p:nvPr/>
        </p:nvSpPr>
        <p:spPr>
          <a:xfrm>
            <a:off x="790575" y="4619625"/>
            <a:ext cx="10429875" cy="2571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275">
                <a:solidFill>
                  <a:srgbClr val="8B1239"/>
                </a:solidFill>
                <a:latin typeface="Arial"/>
                <a:ea typeface="Arial"/>
                <a:cs typeface="Arial"/>
                <a:sym typeface="Arial"/>
              </a:rPr>
              <a:t>Revision interaction</a:t>
            </a:r>
            <a:endParaRPr/>
          </a:p>
        </p:txBody>
      </p:sp>
      <p:sp>
        <p:nvSpPr>
          <p:cNvPr id="506" name="Google Shape;506;p15"/>
          <p:cNvSpPr/>
          <p:nvPr/>
        </p:nvSpPr>
        <p:spPr>
          <a:xfrm>
            <a:off x="790575" y="4924425"/>
            <a:ext cx="10429875" cy="78105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350">
                <a:solidFill>
                  <a:srgbClr val="202833"/>
                </a:solidFill>
                <a:latin typeface="Arial"/>
                <a:ea typeface="Arial"/>
                <a:cs typeface="Arial"/>
                <a:sym typeface="Arial"/>
              </a:rPr>
              <a:t>This revision used the user’s request to revise D1 against the project description. The output was checked against the supplied assignment requirements and official source texts. The group must review the revised claims, thresholds, and certification before submission.</a:t>
            </a:r>
            <a:endParaRPr/>
          </a:p>
        </p:txBody>
      </p:sp>
      <p:sp>
        <p:nvSpPr>
          <p:cNvPr id="507" name="Google Shape;507;p15"/>
          <p:cNvSpPr/>
          <p:nvPr/>
        </p:nvSpPr>
        <p:spPr>
          <a:xfrm>
            <a:off x="552450" y="6257925"/>
            <a:ext cx="11049000" cy="2857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975">
                <a:solidFill>
                  <a:srgbClr val="596573"/>
                </a:solidFill>
                <a:latin typeface="Arial"/>
                <a:ea typeface="Arial"/>
                <a:cs typeface="Arial"/>
                <a:sym typeface="Arial"/>
              </a:rPr>
              <a:t>GAI tool recorded in the existing D1 appendix: Cursor (Grok 4.6). This revision was generated with ChatGPT.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16"/>
          <p:cNvSpPr/>
          <p:nvPr/>
        </p:nvSpPr>
        <p:spPr>
          <a:xfrm>
            <a:off x="0" y="0"/>
            <a:ext cx="12192000"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6"/>
          <p:cNvSpPr/>
          <p:nvPr/>
        </p:nvSpPr>
        <p:spPr>
          <a:xfrm>
            <a:off x="0" y="0"/>
            <a:ext cx="12192000" cy="1066800"/>
          </a:xfrm>
          <a:prstGeom prst="rect">
            <a:avLst/>
          </a:prstGeom>
          <a:solidFill>
            <a:srgbClr val="8B12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6"/>
          <p:cNvSpPr/>
          <p:nvPr/>
        </p:nvSpPr>
        <p:spPr>
          <a:xfrm>
            <a:off x="514350" y="228600"/>
            <a:ext cx="11049000" cy="5905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1" lang="en-US" sz="2550">
                <a:solidFill>
                  <a:srgbClr val="FFFFFF"/>
                </a:solidFill>
                <a:latin typeface="Arial"/>
                <a:ea typeface="Arial"/>
                <a:cs typeface="Arial"/>
                <a:sym typeface="Arial"/>
              </a:rPr>
              <a:t>Appendix • CASTROFF log for Problem 1</a:t>
            </a:r>
            <a:endParaRPr/>
          </a:p>
        </p:txBody>
      </p:sp>
      <p:sp>
        <p:nvSpPr>
          <p:cNvPr id="516" name="Google Shape;516;p16"/>
          <p:cNvSpPr/>
          <p:nvPr/>
        </p:nvSpPr>
        <p:spPr>
          <a:xfrm>
            <a:off x="0" y="6629400"/>
            <a:ext cx="12192000" cy="228600"/>
          </a:xfrm>
          <a:prstGeom prst="rect">
            <a:avLst/>
          </a:prstGeom>
          <a:solidFill>
            <a:srgbClr val="6710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6"/>
          <p:cNvSpPr/>
          <p:nvPr/>
        </p:nvSpPr>
        <p:spPr>
          <a:xfrm>
            <a:off x="419100" y="6638925"/>
            <a:ext cx="8953500" cy="19050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900">
                <a:solidFill>
                  <a:srgbClr val="FFFFFF"/>
                </a:solidFill>
                <a:latin typeface="Arial"/>
                <a:ea typeface="Arial"/>
                <a:cs typeface="Arial"/>
                <a:sym typeface="Arial"/>
              </a:rPr>
              <a:t>SOEN 6611 • SECTION D • FALL 2026</a:t>
            </a:r>
            <a:endParaRPr/>
          </a:p>
        </p:txBody>
      </p:sp>
      <p:sp>
        <p:nvSpPr>
          <p:cNvPr id="518" name="Google Shape;518;p16"/>
          <p:cNvSpPr/>
          <p:nvPr/>
        </p:nvSpPr>
        <p:spPr>
          <a:xfrm>
            <a:off x="11334750" y="6638925"/>
            <a:ext cx="457200" cy="190500"/>
          </a:xfrm>
          <a:prstGeom prst="rect">
            <a:avLst/>
          </a:prstGeom>
          <a:noFill/>
          <a:ln>
            <a:noFill/>
          </a:ln>
        </p:spPr>
        <p:txBody>
          <a:bodyPr anchorCtr="0" anchor="ctr" bIns="19050" lIns="19050" spcFirstLastPara="1" rIns="19050" wrap="square" tIns="19050">
            <a:normAutofit/>
          </a:bodyPr>
          <a:lstStyle/>
          <a:p>
            <a:pPr indent="0" lvl="0" marL="0" marR="0" rtl="0" algn="r">
              <a:spcBef>
                <a:spcPts val="0"/>
              </a:spcBef>
              <a:spcAft>
                <a:spcPts val="0"/>
              </a:spcAft>
              <a:buNone/>
            </a:pPr>
            <a:r>
              <a:rPr b="1" lang="en-US" sz="900">
                <a:solidFill>
                  <a:srgbClr val="FFFFFF"/>
                </a:solidFill>
                <a:latin typeface="Arial"/>
                <a:ea typeface="Arial"/>
                <a:cs typeface="Arial"/>
                <a:sym typeface="Arial"/>
              </a:rPr>
              <a:t>16</a:t>
            </a:r>
            <a:endParaRPr/>
          </a:p>
        </p:txBody>
      </p:sp>
      <p:sp>
        <p:nvSpPr>
          <p:cNvPr id="519" name="Google Shape;519;p16"/>
          <p:cNvSpPr/>
          <p:nvPr/>
        </p:nvSpPr>
        <p:spPr>
          <a:xfrm>
            <a:off x="590550" y="1428750"/>
            <a:ext cx="11029950" cy="1524000"/>
          </a:xfrm>
          <a:prstGeom prst="rect">
            <a:avLst/>
          </a:prstGeom>
          <a:solidFill>
            <a:srgbClr val="F4F6F8"/>
          </a:solidFill>
          <a:ln cap="flat" cmpd="sng" w="114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6"/>
          <p:cNvSpPr/>
          <p:nvPr/>
        </p:nvSpPr>
        <p:spPr>
          <a:xfrm>
            <a:off x="733425" y="1533525"/>
            <a:ext cx="10744200" cy="2571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275">
                <a:solidFill>
                  <a:srgbClr val="8B1239"/>
                </a:solidFill>
                <a:latin typeface="Arial"/>
                <a:ea typeface="Arial"/>
                <a:cs typeface="Arial"/>
                <a:sym typeface="Arial"/>
              </a:rPr>
              <a:t>CASTROFF prompt example (adapted from recorded brief; not verbatim)</a:t>
            </a:r>
            <a:endParaRPr/>
          </a:p>
        </p:txBody>
      </p:sp>
      <p:sp>
        <p:nvSpPr>
          <p:cNvPr id="521" name="Google Shape;521;p16"/>
          <p:cNvSpPr/>
          <p:nvPr/>
        </p:nvSpPr>
        <p:spPr>
          <a:xfrm>
            <a:off x="733425" y="1838325"/>
            <a:ext cx="10744200" cy="104775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163">
                <a:solidFill>
                  <a:srgbClr val="202833"/>
                </a:solidFill>
                <a:latin typeface="Arial"/>
                <a:ea typeface="Arial"/>
                <a:cs typeface="Arial"/>
                <a:sym typeface="Arial"/>
              </a:rPr>
              <a:t>C • Constraints: 21st-century, Canada-specific, CAD, explicit assumptions, simulated network, no unsupported compliance claims. A • Audience: SOEN 6611 Section D. S • Structure: ABM choice, description, Canadian context, assumptions, sources. T • Tone: evidence-based and concise. R • Role: Canadian banking analyst. O • Output: one ABM with assumptions and references. F • Focus: feasible course simulator. F • Function: select and describe.</a:t>
            </a:r>
            <a:endParaRPr/>
          </a:p>
        </p:txBody>
      </p:sp>
      <p:sp>
        <p:nvSpPr>
          <p:cNvPr id="522" name="Google Shape;522;p16"/>
          <p:cNvSpPr/>
          <p:nvPr/>
        </p:nvSpPr>
        <p:spPr>
          <a:xfrm>
            <a:off x="590550" y="3162300"/>
            <a:ext cx="11029950" cy="1343025"/>
          </a:xfrm>
          <a:prstGeom prst="rect">
            <a:avLst/>
          </a:prstGeom>
          <a:solidFill>
            <a:srgbClr val="F4F6F8"/>
          </a:solidFill>
          <a:ln cap="flat" cmpd="sng" w="114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16"/>
          <p:cNvSpPr/>
          <p:nvPr/>
        </p:nvSpPr>
        <p:spPr>
          <a:xfrm>
            <a:off x="733425" y="3267075"/>
            <a:ext cx="10744200" cy="2571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275">
                <a:solidFill>
                  <a:srgbClr val="8B1239"/>
                </a:solidFill>
                <a:latin typeface="Arial"/>
                <a:ea typeface="Arial"/>
                <a:cs typeface="Arial"/>
                <a:sym typeface="Arial"/>
              </a:rPr>
              <a:t>AI output summary and team decision</a:t>
            </a:r>
            <a:endParaRPr/>
          </a:p>
        </p:txBody>
      </p:sp>
      <p:sp>
        <p:nvSpPr>
          <p:cNvPr id="524" name="Google Shape;524;p16"/>
          <p:cNvSpPr/>
          <p:nvPr/>
        </p:nvSpPr>
        <p:spPr>
          <a:xfrm>
            <a:off x="733425" y="3571875"/>
            <a:ext cx="10744200" cy="8667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275">
                <a:solidFill>
                  <a:srgbClr val="202833"/>
                </a:solidFill>
                <a:latin typeface="Arial"/>
                <a:ea typeface="Arial"/>
                <a:cs typeface="Arial"/>
                <a:sym typeface="Arial"/>
              </a:rPr>
              <a:t>The source log says an initial generic worldwide ATM included CAD/USD and weak Québec language context. The team accepted a Montréal, CAD-only, bilingual simulator; removed USD and e-Transfer; rejected crypto ATM and unsupported “contactless-only” claims.</a:t>
            </a:r>
            <a:endParaRPr/>
          </a:p>
        </p:txBody>
      </p:sp>
      <p:sp>
        <p:nvSpPr>
          <p:cNvPr id="525" name="Google Shape;525;p16"/>
          <p:cNvSpPr/>
          <p:nvPr/>
        </p:nvSpPr>
        <p:spPr>
          <a:xfrm>
            <a:off x="590550" y="4714875"/>
            <a:ext cx="11029950" cy="1190625"/>
          </a:xfrm>
          <a:prstGeom prst="rect">
            <a:avLst/>
          </a:prstGeom>
          <a:solidFill>
            <a:srgbClr val="F4F6F8"/>
          </a:solidFill>
          <a:ln cap="flat" cmpd="sng" w="114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16"/>
          <p:cNvSpPr/>
          <p:nvPr/>
        </p:nvSpPr>
        <p:spPr>
          <a:xfrm>
            <a:off x="733425" y="4819650"/>
            <a:ext cx="10744200" cy="2571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275">
                <a:solidFill>
                  <a:srgbClr val="8B1239"/>
                </a:solidFill>
                <a:latin typeface="Arial"/>
                <a:ea typeface="Arial"/>
                <a:cs typeface="Arial"/>
                <a:sym typeface="Arial"/>
              </a:rPr>
              <a:t>Non-use and independent checks</a:t>
            </a:r>
            <a:endParaRPr/>
          </a:p>
        </p:txBody>
      </p:sp>
      <p:sp>
        <p:nvSpPr>
          <p:cNvPr id="527" name="Google Shape;527;p16"/>
          <p:cNvSpPr/>
          <p:nvPr/>
        </p:nvSpPr>
        <p:spPr>
          <a:xfrm>
            <a:off x="733425" y="5124450"/>
            <a:ext cx="10744200" cy="7143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238">
                <a:solidFill>
                  <a:srgbClr val="202833"/>
                </a:solidFill>
                <a:latin typeface="Arial"/>
                <a:ea typeface="Arial"/>
                <a:cs typeface="Arial"/>
                <a:sym typeface="Arial"/>
              </a:rPr>
              <a:t>The source log states that the $1,000 daily cap, $20 dispense unit, and four-digit PIN were team assumptions rather than AI-derived facts. This revised deck retains the documented $1,000 test cap and 3-failure lockout only as explicit project assumptions.</a:t>
            </a:r>
            <a:endParaRPr/>
          </a:p>
        </p:txBody>
      </p:sp>
      <p:sp>
        <p:nvSpPr>
          <p:cNvPr id="528" name="Google Shape;528;p16"/>
          <p:cNvSpPr/>
          <p:nvPr/>
        </p:nvSpPr>
        <p:spPr>
          <a:xfrm>
            <a:off x="552450" y="6257925"/>
            <a:ext cx="11049000" cy="2857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975">
                <a:solidFill>
                  <a:srgbClr val="596573"/>
                </a:solidFill>
                <a:latin typeface="Arial"/>
                <a:ea typeface="Arial"/>
                <a:cs typeface="Arial"/>
                <a:sym typeface="Arial"/>
              </a:rPr>
              <a:t>Before certification, compare this record with the team’s original prompt history and correct any missing AI interaction.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17"/>
          <p:cNvSpPr/>
          <p:nvPr/>
        </p:nvSpPr>
        <p:spPr>
          <a:xfrm>
            <a:off x="0" y="0"/>
            <a:ext cx="12192000"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7"/>
          <p:cNvSpPr/>
          <p:nvPr/>
        </p:nvSpPr>
        <p:spPr>
          <a:xfrm>
            <a:off x="0" y="0"/>
            <a:ext cx="12192000" cy="1066800"/>
          </a:xfrm>
          <a:prstGeom prst="rect">
            <a:avLst/>
          </a:prstGeom>
          <a:solidFill>
            <a:srgbClr val="8B12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17"/>
          <p:cNvSpPr/>
          <p:nvPr/>
        </p:nvSpPr>
        <p:spPr>
          <a:xfrm>
            <a:off x="514350" y="228600"/>
            <a:ext cx="11049000" cy="5905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1" lang="en-US" sz="2550">
                <a:solidFill>
                  <a:srgbClr val="FFFFFF"/>
                </a:solidFill>
                <a:latin typeface="Arial"/>
                <a:ea typeface="Arial"/>
                <a:cs typeface="Arial"/>
                <a:sym typeface="Arial"/>
              </a:rPr>
              <a:t>Appendix • CASTROFF log for Problem 2</a:t>
            </a:r>
            <a:endParaRPr/>
          </a:p>
        </p:txBody>
      </p:sp>
      <p:sp>
        <p:nvSpPr>
          <p:cNvPr id="537" name="Google Shape;537;p17"/>
          <p:cNvSpPr/>
          <p:nvPr/>
        </p:nvSpPr>
        <p:spPr>
          <a:xfrm>
            <a:off x="0" y="6629400"/>
            <a:ext cx="12192000" cy="228600"/>
          </a:xfrm>
          <a:prstGeom prst="rect">
            <a:avLst/>
          </a:prstGeom>
          <a:solidFill>
            <a:srgbClr val="6710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17"/>
          <p:cNvSpPr/>
          <p:nvPr/>
        </p:nvSpPr>
        <p:spPr>
          <a:xfrm>
            <a:off x="419100" y="6638925"/>
            <a:ext cx="8953500" cy="19050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900">
                <a:solidFill>
                  <a:srgbClr val="FFFFFF"/>
                </a:solidFill>
                <a:latin typeface="Arial"/>
                <a:ea typeface="Arial"/>
                <a:cs typeface="Arial"/>
                <a:sym typeface="Arial"/>
              </a:rPr>
              <a:t>SOEN 6611 • SECTION D • FALL 2026</a:t>
            </a:r>
            <a:endParaRPr/>
          </a:p>
        </p:txBody>
      </p:sp>
      <p:sp>
        <p:nvSpPr>
          <p:cNvPr id="539" name="Google Shape;539;p17"/>
          <p:cNvSpPr/>
          <p:nvPr/>
        </p:nvSpPr>
        <p:spPr>
          <a:xfrm>
            <a:off x="11334750" y="6638925"/>
            <a:ext cx="457200" cy="190500"/>
          </a:xfrm>
          <a:prstGeom prst="rect">
            <a:avLst/>
          </a:prstGeom>
          <a:noFill/>
          <a:ln>
            <a:noFill/>
          </a:ln>
        </p:spPr>
        <p:txBody>
          <a:bodyPr anchorCtr="0" anchor="ctr" bIns="19050" lIns="19050" spcFirstLastPara="1" rIns="19050" wrap="square" tIns="19050">
            <a:normAutofit/>
          </a:bodyPr>
          <a:lstStyle/>
          <a:p>
            <a:pPr indent="0" lvl="0" marL="0" marR="0" rtl="0" algn="r">
              <a:spcBef>
                <a:spcPts val="0"/>
              </a:spcBef>
              <a:spcAft>
                <a:spcPts val="0"/>
              </a:spcAft>
              <a:buNone/>
            </a:pPr>
            <a:r>
              <a:rPr b="1" lang="en-US" sz="900">
                <a:solidFill>
                  <a:srgbClr val="FFFFFF"/>
                </a:solidFill>
                <a:latin typeface="Arial"/>
                <a:ea typeface="Arial"/>
                <a:cs typeface="Arial"/>
                <a:sym typeface="Arial"/>
              </a:rPr>
              <a:t>17</a:t>
            </a:r>
            <a:endParaRPr/>
          </a:p>
        </p:txBody>
      </p:sp>
      <p:sp>
        <p:nvSpPr>
          <p:cNvPr id="540" name="Google Shape;540;p17"/>
          <p:cNvSpPr/>
          <p:nvPr/>
        </p:nvSpPr>
        <p:spPr>
          <a:xfrm>
            <a:off x="590550" y="1428750"/>
            <a:ext cx="11029950" cy="1524000"/>
          </a:xfrm>
          <a:prstGeom prst="rect">
            <a:avLst/>
          </a:prstGeom>
          <a:solidFill>
            <a:srgbClr val="F4F6F8"/>
          </a:solidFill>
          <a:ln cap="flat" cmpd="sng" w="114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17"/>
          <p:cNvSpPr/>
          <p:nvPr/>
        </p:nvSpPr>
        <p:spPr>
          <a:xfrm>
            <a:off x="733425" y="1533525"/>
            <a:ext cx="10744200" cy="2571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275">
                <a:solidFill>
                  <a:srgbClr val="8B1239"/>
                </a:solidFill>
                <a:latin typeface="Arial"/>
                <a:ea typeface="Arial"/>
                <a:cs typeface="Arial"/>
                <a:sym typeface="Arial"/>
              </a:rPr>
              <a:t>CASTROFF prompt example (adapted from recorded brief; not verbatim)</a:t>
            </a:r>
            <a:endParaRPr/>
          </a:p>
        </p:txBody>
      </p:sp>
      <p:sp>
        <p:nvSpPr>
          <p:cNvPr id="542" name="Google Shape;542;p17"/>
          <p:cNvSpPr/>
          <p:nvPr/>
        </p:nvSpPr>
        <p:spPr>
          <a:xfrm>
            <a:off x="733425" y="1838325"/>
            <a:ext cx="10744200" cy="104775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163">
                <a:solidFill>
                  <a:srgbClr val="202833"/>
                </a:solidFill>
                <a:latin typeface="Arial"/>
                <a:ea typeface="Arial"/>
                <a:cs typeface="Arial"/>
                <a:sym typeface="Arial"/>
              </a:rPr>
              <a:t>C • Constraints: one SMART goal, 2N questions for N = 3, measurable simulator data, no fabricated results. A • Audience: SOEN 6611 Section D. S • Structure: goal, six questions, metrics, data source, limits. T • Tone: precise and evidence-based. R • Role: GQM measurement scientist. O • Output: goal and Q/M table. F • Focus: CAD withdrawal effectiveness. F • Function: evaluate the goal.</a:t>
            </a:r>
            <a:endParaRPr/>
          </a:p>
        </p:txBody>
      </p:sp>
      <p:sp>
        <p:nvSpPr>
          <p:cNvPr id="543" name="Google Shape;543;p17"/>
          <p:cNvSpPr/>
          <p:nvPr/>
        </p:nvSpPr>
        <p:spPr>
          <a:xfrm>
            <a:off x="590550" y="3162300"/>
            <a:ext cx="11029950" cy="1343025"/>
          </a:xfrm>
          <a:prstGeom prst="rect">
            <a:avLst/>
          </a:prstGeom>
          <a:solidFill>
            <a:srgbClr val="F4F6F8"/>
          </a:solidFill>
          <a:ln cap="flat" cmpd="sng" w="114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17"/>
          <p:cNvSpPr/>
          <p:nvPr/>
        </p:nvSpPr>
        <p:spPr>
          <a:xfrm>
            <a:off x="733425" y="3267075"/>
            <a:ext cx="10744200" cy="2571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275">
                <a:solidFill>
                  <a:srgbClr val="8B1239"/>
                </a:solidFill>
                <a:latin typeface="Arial"/>
                <a:ea typeface="Arial"/>
                <a:cs typeface="Arial"/>
                <a:sym typeface="Arial"/>
              </a:rPr>
              <a:t>AI output summary and team decision</a:t>
            </a:r>
            <a:endParaRPr/>
          </a:p>
        </p:txBody>
      </p:sp>
      <p:sp>
        <p:nvSpPr>
          <p:cNvPr id="545" name="Google Shape;545;p17"/>
          <p:cNvSpPr/>
          <p:nvPr/>
        </p:nvSpPr>
        <p:spPr>
          <a:xfrm>
            <a:off x="733425" y="3571875"/>
            <a:ext cx="10744200" cy="8667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275">
                <a:solidFill>
                  <a:srgbClr val="202833"/>
                </a:solidFill>
                <a:latin typeface="Arial"/>
                <a:ea typeface="Arial"/>
                <a:cs typeface="Arial"/>
                <a:sym typeface="Arial"/>
              </a:rPr>
              <a:t>The source log records that broad “improve quality” wording and CSAT without an instrument were rejected. The revised goal focuses on simulated CAD withdrawals and defines six metrics tied to test logs. No result data are invented.</a:t>
            </a:r>
            <a:endParaRPr/>
          </a:p>
        </p:txBody>
      </p:sp>
      <p:sp>
        <p:nvSpPr>
          <p:cNvPr id="546" name="Google Shape;546;p17"/>
          <p:cNvSpPr/>
          <p:nvPr/>
        </p:nvSpPr>
        <p:spPr>
          <a:xfrm>
            <a:off x="590550" y="4714875"/>
            <a:ext cx="11029950" cy="1190625"/>
          </a:xfrm>
          <a:prstGeom prst="rect">
            <a:avLst/>
          </a:prstGeom>
          <a:solidFill>
            <a:srgbClr val="F4F6F8"/>
          </a:solidFill>
          <a:ln cap="flat" cmpd="sng" w="114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17"/>
          <p:cNvSpPr/>
          <p:nvPr/>
        </p:nvSpPr>
        <p:spPr>
          <a:xfrm>
            <a:off x="733425" y="4819650"/>
            <a:ext cx="10744200" cy="2571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275">
                <a:solidFill>
                  <a:srgbClr val="8B1239"/>
                </a:solidFill>
                <a:latin typeface="Arial"/>
                <a:ea typeface="Arial"/>
                <a:cs typeface="Arial"/>
                <a:sym typeface="Arial"/>
              </a:rPr>
              <a:t>Metric decision</a:t>
            </a:r>
            <a:endParaRPr/>
          </a:p>
        </p:txBody>
      </p:sp>
      <p:sp>
        <p:nvSpPr>
          <p:cNvPr id="548" name="Google Shape;548;p17"/>
          <p:cNvSpPr/>
          <p:nvPr/>
        </p:nvSpPr>
        <p:spPr>
          <a:xfrm>
            <a:off x="733425" y="5124450"/>
            <a:ext cx="10744200" cy="7143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238">
                <a:solidFill>
                  <a:srgbClr val="202833"/>
                </a:solidFill>
                <a:latin typeface="Arial"/>
                <a:ea typeface="Arial"/>
                <a:cs typeface="Arial"/>
                <a:sym typeface="Arial"/>
              </a:rPr>
              <a:t>Thresholds in the revised deck are proposed course-project acceptance criteria. They are not attributed to an industry standard. The group should confirm that D2 can collect each field before freezing the metric definitions.</a:t>
            </a:r>
            <a:endParaRPr/>
          </a:p>
        </p:txBody>
      </p:sp>
      <p:sp>
        <p:nvSpPr>
          <p:cNvPr id="549" name="Google Shape;549;p17"/>
          <p:cNvSpPr/>
          <p:nvPr/>
        </p:nvSpPr>
        <p:spPr>
          <a:xfrm>
            <a:off x="552450" y="6257925"/>
            <a:ext cx="11049000" cy="2857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975">
                <a:solidFill>
                  <a:srgbClr val="596573"/>
                </a:solidFill>
                <a:latin typeface="Arial"/>
                <a:ea typeface="Arial"/>
                <a:cs typeface="Arial"/>
                <a:sym typeface="Arial"/>
              </a:rPr>
              <a:t>Two prior D1 records conflict: one describes a withdrawal goal and one a structural-complexity goal. This deck adopts withdrawal effectiveness; reconcile the original AI history before certifying.</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18"/>
          <p:cNvSpPr/>
          <p:nvPr/>
        </p:nvSpPr>
        <p:spPr>
          <a:xfrm>
            <a:off x="0" y="0"/>
            <a:ext cx="12192000"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8"/>
          <p:cNvSpPr/>
          <p:nvPr/>
        </p:nvSpPr>
        <p:spPr>
          <a:xfrm>
            <a:off x="0" y="0"/>
            <a:ext cx="12192000" cy="1066800"/>
          </a:xfrm>
          <a:prstGeom prst="rect">
            <a:avLst/>
          </a:prstGeom>
          <a:solidFill>
            <a:srgbClr val="8B12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18"/>
          <p:cNvSpPr/>
          <p:nvPr/>
        </p:nvSpPr>
        <p:spPr>
          <a:xfrm>
            <a:off x="514350" y="228600"/>
            <a:ext cx="11049000" cy="5905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1" lang="en-US" sz="2550">
                <a:solidFill>
                  <a:srgbClr val="FFFFFF"/>
                </a:solidFill>
                <a:latin typeface="Arial"/>
                <a:ea typeface="Arial"/>
                <a:cs typeface="Arial"/>
                <a:sym typeface="Arial"/>
              </a:rPr>
              <a:t>Appendix • CASTROFF log for Problem 3</a:t>
            </a:r>
            <a:endParaRPr/>
          </a:p>
        </p:txBody>
      </p:sp>
      <p:sp>
        <p:nvSpPr>
          <p:cNvPr id="558" name="Google Shape;558;p18"/>
          <p:cNvSpPr/>
          <p:nvPr/>
        </p:nvSpPr>
        <p:spPr>
          <a:xfrm>
            <a:off x="0" y="6629400"/>
            <a:ext cx="12192000" cy="228600"/>
          </a:xfrm>
          <a:prstGeom prst="rect">
            <a:avLst/>
          </a:prstGeom>
          <a:solidFill>
            <a:srgbClr val="6710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18"/>
          <p:cNvSpPr/>
          <p:nvPr/>
        </p:nvSpPr>
        <p:spPr>
          <a:xfrm>
            <a:off x="419100" y="6638925"/>
            <a:ext cx="8953500" cy="19050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900">
                <a:solidFill>
                  <a:srgbClr val="FFFFFF"/>
                </a:solidFill>
                <a:latin typeface="Arial"/>
                <a:ea typeface="Arial"/>
                <a:cs typeface="Arial"/>
                <a:sym typeface="Arial"/>
              </a:rPr>
              <a:t>SOEN 6611 • SECTION D • FALL 2026</a:t>
            </a:r>
            <a:endParaRPr/>
          </a:p>
        </p:txBody>
      </p:sp>
      <p:sp>
        <p:nvSpPr>
          <p:cNvPr id="560" name="Google Shape;560;p18"/>
          <p:cNvSpPr/>
          <p:nvPr/>
        </p:nvSpPr>
        <p:spPr>
          <a:xfrm>
            <a:off x="11334750" y="6638925"/>
            <a:ext cx="457200" cy="190500"/>
          </a:xfrm>
          <a:prstGeom prst="rect">
            <a:avLst/>
          </a:prstGeom>
          <a:noFill/>
          <a:ln>
            <a:noFill/>
          </a:ln>
        </p:spPr>
        <p:txBody>
          <a:bodyPr anchorCtr="0" anchor="ctr" bIns="19050" lIns="19050" spcFirstLastPara="1" rIns="19050" wrap="square" tIns="19050">
            <a:normAutofit/>
          </a:bodyPr>
          <a:lstStyle/>
          <a:p>
            <a:pPr indent="0" lvl="0" marL="0" marR="0" rtl="0" algn="r">
              <a:spcBef>
                <a:spcPts val="0"/>
              </a:spcBef>
              <a:spcAft>
                <a:spcPts val="0"/>
              </a:spcAft>
              <a:buNone/>
            </a:pPr>
            <a:r>
              <a:rPr b="1" lang="en-US" sz="900">
                <a:solidFill>
                  <a:srgbClr val="FFFFFF"/>
                </a:solidFill>
                <a:latin typeface="Arial"/>
                <a:ea typeface="Arial"/>
                <a:cs typeface="Arial"/>
                <a:sym typeface="Arial"/>
              </a:rPr>
              <a:t>18</a:t>
            </a:r>
            <a:endParaRPr/>
          </a:p>
        </p:txBody>
      </p:sp>
      <p:sp>
        <p:nvSpPr>
          <p:cNvPr id="561" name="Google Shape;561;p18"/>
          <p:cNvSpPr/>
          <p:nvPr/>
        </p:nvSpPr>
        <p:spPr>
          <a:xfrm>
            <a:off x="590550" y="1428750"/>
            <a:ext cx="11029950" cy="1524000"/>
          </a:xfrm>
          <a:prstGeom prst="rect">
            <a:avLst/>
          </a:prstGeom>
          <a:solidFill>
            <a:srgbClr val="F4F6F8"/>
          </a:solidFill>
          <a:ln cap="flat" cmpd="sng" w="114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8"/>
          <p:cNvSpPr/>
          <p:nvPr/>
        </p:nvSpPr>
        <p:spPr>
          <a:xfrm>
            <a:off x="733425" y="1533525"/>
            <a:ext cx="10744200" cy="2571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275">
                <a:solidFill>
                  <a:srgbClr val="8B1239"/>
                </a:solidFill>
                <a:latin typeface="Arial"/>
                <a:ea typeface="Arial"/>
                <a:cs typeface="Arial"/>
                <a:sym typeface="Arial"/>
              </a:rPr>
              <a:t>CASTROFF prompt example (adapted from recorded brief; not verbatim)</a:t>
            </a:r>
            <a:endParaRPr/>
          </a:p>
        </p:txBody>
      </p:sp>
      <p:sp>
        <p:nvSpPr>
          <p:cNvPr id="563" name="Google Shape;563;p18"/>
          <p:cNvSpPr/>
          <p:nvPr/>
        </p:nvSpPr>
        <p:spPr>
          <a:xfrm>
            <a:off x="733425" y="1838325"/>
            <a:ext cx="10744200" cy="104775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163">
                <a:solidFill>
                  <a:srgbClr val="202833"/>
                </a:solidFill>
                <a:latin typeface="Arial"/>
                <a:ea typeface="Arial"/>
                <a:cs typeface="Arial"/>
                <a:sym typeface="Arial"/>
              </a:rPr>
              <a:t>C • Constraints: graphical and textual model, define every actor and use case, simulator-only external components, align with P1. A • Audience: SOEN 6611 Section D. S • Structure: boundary, diagram, actors, use-case definitions, exception flows. T • Tone: clear and evidence-based. R • Role: UML use-case modeller. O • Output: coherent use-case model. F • Focus: implementable D2 scope. F • Function: model iBank behavior.</a:t>
            </a:r>
            <a:endParaRPr/>
          </a:p>
        </p:txBody>
      </p:sp>
      <p:sp>
        <p:nvSpPr>
          <p:cNvPr id="564" name="Google Shape;564;p18"/>
          <p:cNvSpPr/>
          <p:nvPr/>
        </p:nvSpPr>
        <p:spPr>
          <a:xfrm>
            <a:off x="590550" y="3162300"/>
            <a:ext cx="11029950" cy="1343025"/>
          </a:xfrm>
          <a:prstGeom prst="rect">
            <a:avLst/>
          </a:prstGeom>
          <a:solidFill>
            <a:srgbClr val="F4F6F8"/>
          </a:solidFill>
          <a:ln cap="flat" cmpd="sng" w="114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18"/>
          <p:cNvSpPr/>
          <p:nvPr/>
        </p:nvSpPr>
        <p:spPr>
          <a:xfrm>
            <a:off x="733425" y="3267075"/>
            <a:ext cx="10744200" cy="2571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275">
                <a:solidFill>
                  <a:srgbClr val="8B1239"/>
                </a:solidFill>
                <a:latin typeface="Arial"/>
                <a:ea typeface="Arial"/>
                <a:cs typeface="Arial"/>
                <a:sym typeface="Arial"/>
              </a:rPr>
              <a:t>AI output summary and team decision</a:t>
            </a:r>
            <a:endParaRPr/>
          </a:p>
        </p:txBody>
      </p:sp>
      <p:sp>
        <p:nvSpPr>
          <p:cNvPr id="566" name="Google Shape;566;p18"/>
          <p:cNvSpPr/>
          <p:nvPr/>
        </p:nvSpPr>
        <p:spPr>
          <a:xfrm>
            <a:off x="733425" y="3571875"/>
            <a:ext cx="10744200" cy="8667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275">
                <a:solidFill>
                  <a:srgbClr val="202833"/>
                </a:solidFill>
                <a:latin typeface="Arial"/>
                <a:ea typeface="Arial"/>
                <a:cs typeface="Arial"/>
                <a:sym typeface="Arial"/>
              </a:rPr>
              <a:t>The source log says an earlier draft added an operator, police, live Interac Network, bill-pay, and 18 use cases. An earlier D1 also listed a core banking actor. This deck uses a cardholder and two simulated devices; core account functions stay inside the simulator. Confirm this boundary against D2 before submission.</a:t>
            </a:r>
            <a:endParaRPr/>
          </a:p>
        </p:txBody>
      </p:sp>
      <p:sp>
        <p:nvSpPr>
          <p:cNvPr id="567" name="Google Shape;567;p18"/>
          <p:cNvSpPr/>
          <p:nvPr/>
        </p:nvSpPr>
        <p:spPr>
          <a:xfrm>
            <a:off x="590550" y="4714875"/>
            <a:ext cx="11029950" cy="1190625"/>
          </a:xfrm>
          <a:prstGeom prst="rect">
            <a:avLst/>
          </a:prstGeom>
          <a:solidFill>
            <a:srgbClr val="F4F6F8"/>
          </a:solidFill>
          <a:ln cap="flat" cmpd="sng" w="11425">
            <a:solidFill>
              <a:srgbClr val="D5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8"/>
          <p:cNvSpPr/>
          <p:nvPr/>
        </p:nvSpPr>
        <p:spPr>
          <a:xfrm>
            <a:off x="733425" y="4819650"/>
            <a:ext cx="10744200" cy="2571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1" lang="en-US" sz="1275">
                <a:solidFill>
                  <a:srgbClr val="8B1239"/>
                </a:solidFill>
                <a:latin typeface="Arial"/>
                <a:ea typeface="Arial"/>
                <a:cs typeface="Arial"/>
                <a:sym typeface="Arial"/>
              </a:rPr>
              <a:t>Revision interaction • exact user prompt</a:t>
            </a:r>
            <a:endParaRPr/>
          </a:p>
        </p:txBody>
      </p:sp>
      <p:sp>
        <p:nvSpPr>
          <p:cNvPr id="569" name="Google Shape;569;p18"/>
          <p:cNvSpPr/>
          <p:nvPr/>
        </p:nvSpPr>
        <p:spPr>
          <a:xfrm>
            <a:off x="733425" y="5124450"/>
            <a:ext cx="10744200" cy="714375"/>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238">
                <a:solidFill>
                  <a:srgbClr val="202833"/>
                </a:solidFill>
                <a:latin typeface="Arial"/>
                <a:ea typeface="Arial"/>
                <a:cs typeface="Arial"/>
                <a:sym typeface="Arial"/>
              </a:rPr>
              <a:t>“Please revise our assignment in strict accordance with the requirements, ensuring that every point is accurately addressed.” Output: requirement review; revised SMART GQM measures; actor, use-case, and scope consistency edits; citation checks. The group must verify the final content.</a:t>
            </a:r>
            <a:endParaRPr/>
          </a:p>
        </p:txBody>
      </p:sp>
      <p:sp>
        <p:nvSpPr>
          <p:cNvPr id="570" name="Google Shape;570;p18"/>
          <p:cNvSpPr/>
          <p:nvPr/>
        </p:nvSpPr>
        <p:spPr>
          <a:xfrm>
            <a:off x="552450" y="6257925"/>
            <a:ext cx="11049000" cy="28575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975">
                <a:solidFill>
                  <a:srgbClr val="596573"/>
                </a:solidFill>
                <a:latin typeface="Arial"/>
                <a:ea typeface="Arial"/>
                <a:cs typeface="Arial"/>
                <a:sym typeface="Arial"/>
              </a:rPr>
              <a:t>No use-case text is copied from a textbook. The model is written for the iBank simulator described in this deck.</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19"/>
          <p:cNvSpPr/>
          <p:nvPr/>
        </p:nvSpPr>
        <p:spPr>
          <a:xfrm>
            <a:off x="0" y="0"/>
            <a:ext cx="12192000"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19"/>
          <p:cNvSpPr/>
          <p:nvPr/>
        </p:nvSpPr>
        <p:spPr>
          <a:xfrm>
            <a:off x="0" y="0"/>
            <a:ext cx="12192000" cy="1066800"/>
          </a:xfrm>
          <a:prstGeom prst="rect">
            <a:avLst/>
          </a:prstGeom>
          <a:solidFill>
            <a:srgbClr val="8B12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9"/>
          <p:cNvSpPr/>
          <p:nvPr/>
        </p:nvSpPr>
        <p:spPr>
          <a:xfrm>
            <a:off x="514350" y="228600"/>
            <a:ext cx="11049000" cy="59070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1" lang="en-US" sz="2550">
                <a:solidFill>
                  <a:srgbClr val="FFFFFF"/>
                </a:solidFill>
                <a:latin typeface="Arial"/>
                <a:ea typeface="Arial"/>
                <a:cs typeface="Arial"/>
                <a:sym typeface="Arial"/>
              </a:rPr>
              <a:t>Appendix • references</a:t>
            </a:r>
            <a:endParaRPr/>
          </a:p>
        </p:txBody>
      </p:sp>
      <p:sp>
        <p:nvSpPr>
          <p:cNvPr id="579" name="Google Shape;579;p19"/>
          <p:cNvSpPr/>
          <p:nvPr/>
        </p:nvSpPr>
        <p:spPr>
          <a:xfrm>
            <a:off x="0" y="6629400"/>
            <a:ext cx="12192000" cy="228600"/>
          </a:xfrm>
          <a:prstGeom prst="rect">
            <a:avLst/>
          </a:prstGeom>
          <a:solidFill>
            <a:srgbClr val="6710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9"/>
          <p:cNvSpPr/>
          <p:nvPr/>
        </p:nvSpPr>
        <p:spPr>
          <a:xfrm>
            <a:off x="419100" y="6638925"/>
            <a:ext cx="8953500" cy="19050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900">
                <a:solidFill>
                  <a:srgbClr val="FFFFFF"/>
                </a:solidFill>
                <a:latin typeface="Arial"/>
                <a:ea typeface="Arial"/>
                <a:cs typeface="Arial"/>
                <a:sym typeface="Arial"/>
              </a:rPr>
              <a:t>SOEN 6611 • SECTION D • FALL 2026</a:t>
            </a:r>
            <a:endParaRPr/>
          </a:p>
        </p:txBody>
      </p:sp>
      <p:sp>
        <p:nvSpPr>
          <p:cNvPr id="581" name="Google Shape;581;p19"/>
          <p:cNvSpPr/>
          <p:nvPr/>
        </p:nvSpPr>
        <p:spPr>
          <a:xfrm>
            <a:off x="11334750" y="6638925"/>
            <a:ext cx="457200" cy="190500"/>
          </a:xfrm>
          <a:prstGeom prst="rect">
            <a:avLst/>
          </a:prstGeom>
          <a:noFill/>
          <a:ln>
            <a:noFill/>
          </a:ln>
        </p:spPr>
        <p:txBody>
          <a:bodyPr anchorCtr="0" anchor="ctr" bIns="19050" lIns="19050" spcFirstLastPara="1" rIns="19050" wrap="square" tIns="19050">
            <a:normAutofit/>
          </a:bodyPr>
          <a:lstStyle/>
          <a:p>
            <a:pPr indent="0" lvl="0" marL="0" marR="0" rtl="0" algn="r">
              <a:spcBef>
                <a:spcPts val="0"/>
              </a:spcBef>
              <a:spcAft>
                <a:spcPts val="0"/>
              </a:spcAft>
              <a:buNone/>
            </a:pPr>
            <a:r>
              <a:rPr b="1" lang="en-US" sz="900">
                <a:solidFill>
                  <a:srgbClr val="FFFFFF"/>
                </a:solidFill>
                <a:latin typeface="Arial"/>
                <a:ea typeface="Arial"/>
                <a:cs typeface="Arial"/>
                <a:sym typeface="Arial"/>
              </a:rPr>
              <a:t>19</a:t>
            </a:r>
            <a:endParaRPr/>
          </a:p>
        </p:txBody>
      </p:sp>
      <p:sp>
        <p:nvSpPr>
          <p:cNvPr id="582" name="Google Shape;582;p19"/>
          <p:cNvSpPr/>
          <p:nvPr/>
        </p:nvSpPr>
        <p:spPr>
          <a:xfrm>
            <a:off x="647700" y="1352550"/>
            <a:ext cx="10839600" cy="58110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088">
                <a:solidFill>
                  <a:srgbClr val="202833"/>
                </a:solidFill>
                <a:latin typeface="Arial"/>
                <a:ea typeface="Arial"/>
                <a:cs typeface="Arial"/>
                <a:sym typeface="Arial"/>
              </a:rPr>
              <a:t>[1] Concordia University, Department of Computer Science and Software Engineering, “SOEN 6611: Software Measurement, Section D — Project Description,” Fall 2026, D1 requirements.</a:t>
            </a:r>
            <a:endParaRPr/>
          </a:p>
        </p:txBody>
      </p:sp>
      <p:sp>
        <p:nvSpPr>
          <p:cNvPr id="583" name="Google Shape;583;p19"/>
          <p:cNvSpPr/>
          <p:nvPr/>
        </p:nvSpPr>
        <p:spPr>
          <a:xfrm>
            <a:off x="647700" y="2019300"/>
            <a:ext cx="10839600" cy="58110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088">
                <a:solidFill>
                  <a:srgbClr val="202833"/>
                </a:solidFill>
                <a:latin typeface="Arial"/>
                <a:ea typeface="Arial"/>
                <a:cs typeface="Arial"/>
                <a:sym typeface="Arial"/>
              </a:rPr>
              <a:t>[2] Government of Canada, “Personal Information Protection and Electronic Documents Act,” Schedule 1, Principle 7 (Safeguards). https://laws-lois.justice.gc.ca/eng/acts/p-8.6/FullText.html</a:t>
            </a:r>
            <a:endParaRPr/>
          </a:p>
        </p:txBody>
      </p:sp>
      <p:sp>
        <p:nvSpPr>
          <p:cNvPr id="584" name="Google Shape;584;p19"/>
          <p:cNvSpPr/>
          <p:nvPr/>
        </p:nvSpPr>
        <p:spPr>
          <a:xfrm>
            <a:off x="647700" y="2686050"/>
            <a:ext cx="10839600" cy="58110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088">
                <a:solidFill>
                  <a:srgbClr val="202833"/>
                </a:solidFill>
                <a:latin typeface="Arial"/>
                <a:ea typeface="Arial"/>
                <a:cs typeface="Arial"/>
                <a:sym typeface="Arial"/>
              </a:rPr>
              <a:t>[3] Gouvernement du Québec, “Charter of the French language,” CQLR c. C-11. https://www.legisquebec.gouv.qc.ca/en/document/cs/c-11</a:t>
            </a:r>
            <a:endParaRPr/>
          </a:p>
        </p:txBody>
      </p:sp>
      <p:sp>
        <p:nvSpPr>
          <p:cNvPr id="585" name="Google Shape;585;p19"/>
          <p:cNvSpPr/>
          <p:nvPr/>
        </p:nvSpPr>
        <p:spPr>
          <a:xfrm>
            <a:off x="647700" y="3352800"/>
            <a:ext cx="10839600" cy="58110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088">
                <a:solidFill>
                  <a:srgbClr val="202833"/>
                </a:solidFill>
                <a:latin typeface="Arial"/>
                <a:ea typeface="Arial"/>
                <a:cs typeface="Arial"/>
                <a:sym typeface="Arial"/>
              </a:rPr>
              <a:t>[4] CSA Group, CSA/ASC B651.2:25, “Accessible design for self-service interactive devices including automated banking machines,” 2025. https://www.csagroup.org/wp-content/uploads/2431490.pdf</a:t>
            </a:r>
            <a:endParaRPr/>
          </a:p>
        </p:txBody>
      </p:sp>
      <p:sp>
        <p:nvSpPr>
          <p:cNvPr id="586" name="Google Shape;586;p19"/>
          <p:cNvSpPr/>
          <p:nvPr/>
        </p:nvSpPr>
        <p:spPr>
          <a:xfrm>
            <a:off x="647700" y="4019550"/>
            <a:ext cx="10839600" cy="58110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088">
                <a:solidFill>
                  <a:srgbClr val="202833"/>
                </a:solidFill>
                <a:latin typeface="Arial"/>
                <a:ea typeface="Arial"/>
                <a:cs typeface="Arial"/>
                <a:sym typeface="Arial"/>
              </a:rPr>
              <a:t>[5] Interac Corp., “How to Use Chip &amp; PIN with Interac Debit.” https://www.interac.ca/en/how-to-use/interac-debit/how-to-use-chip-pin-with-interac-debit/</a:t>
            </a:r>
            <a:endParaRPr/>
          </a:p>
        </p:txBody>
      </p:sp>
      <p:sp>
        <p:nvSpPr>
          <p:cNvPr id="587" name="Google Shape;587;p19"/>
          <p:cNvSpPr/>
          <p:nvPr/>
        </p:nvSpPr>
        <p:spPr>
          <a:xfrm>
            <a:off x="647700" y="4686300"/>
            <a:ext cx="10839600" cy="58110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088">
                <a:solidFill>
                  <a:srgbClr val="202833"/>
                </a:solidFill>
                <a:latin typeface="Arial"/>
                <a:ea typeface="Arial"/>
                <a:cs typeface="Arial"/>
                <a:sym typeface="Arial"/>
              </a:rPr>
              <a:t>[6] V. R. Basili, G. Caldiera, and H. D. Rombach, “The Goal Question Metric Approach,” Encyclopedia of Software Engineering, Wiley, 1994.</a:t>
            </a:r>
            <a:endParaRPr/>
          </a:p>
        </p:txBody>
      </p:sp>
      <p:sp>
        <p:nvSpPr>
          <p:cNvPr id="588" name="Google Shape;588;p19"/>
          <p:cNvSpPr/>
          <p:nvPr/>
        </p:nvSpPr>
        <p:spPr>
          <a:xfrm>
            <a:off x="647700" y="5353050"/>
            <a:ext cx="10839600" cy="581100"/>
          </a:xfrm>
          <a:prstGeom prst="rect">
            <a:avLst/>
          </a:prstGeom>
          <a:noFill/>
          <a:ln>
            <a:noFill/>
          </a:ln>
        </p:spPr>
        <p:txBody>
          <a:bodyPr anchorCtr="0" anchor="t" bIns="19050" lIns="19050" spcFirstLastPara="1" rIns="19050" wrap="square" tIns="19050">
            <a:normAutofit/>
          </a:bodyPr>
          <a:lstStyle/>
          <a:p>
            <a:pPr indent="0" lvl="0" marL="0" marR="0" rtl="0" algn="l">
              <a:spcBef>
                <a:spcPts val="0"/>
              </a:spcBef>
              <a:spcAft>
                <a:spcPts val="0"/>
              </a:spcAft>
              <a:buNone/>
            </a:pPr>
            <a:r>
              <a:rPr b="0" lang="en-US" sz="1088">
                <a:solidFill>
                  <a:srgbClr val="202833"/>
                </a:solidFill>
                <a:latin typeface="Arial"/>
                <a:ea typeface="Arial"/>
                <a:cs typeface="Arial"/>
                <a:sym typeface="Arial"/>
              </a:rPr>
              <a:t>[7] H. Tavakoli, Prompt Engineering for Everyone, Apress, 2026, ch. 6 (CASTROFF), as cited in the source AI log.</a:t>
            </a:r>
            <a:endParaRPr/>
          </a:p>
        </p:txBody>
      </p:sp>
      <p:sp>
        <p:nvSpPr>
          <p:cNvPr id="589" name="Google Shape;589;p19"/>
          <p:cNvSpPr/>
          <p:nvPr/>
        </p:nvSpPr>
        <p:spPr>
          <a:xfrm>
            <a:off x="552450" y="6257925"/>
            <a:ext cx="11049000" cy="285900"/>
          </a:xfrm>
          <a:prstGeom prst="rect">
            <a:avLst/>
          </a:prstGeom>
          <a:noFill/>
          <a:ln>
            <a:noFill/>
          </a:ln>
        </p:spPr>
        <p:txBody>
          <a:bodyPr anchorCtr="0" anchor="ctr" bIns="19050" lIns="19050" spcFirstLastPara="1" rIns="19050" wrap="square" tIns="19050">
            <a:normAutofit/>
          </a:bodyPr>
          <a:lstStyle/>
          <a:p>
            <a:pPr indent="0" lvl="0" marL="0" marR="0" rtl="0" algn="l">
              <a:spcBef>
                <a:spcPts val="0"/>
              </a:spcBef>
              <a:spcAft>
                <a:spcPts val="0"/>
              </a:spcAft>
              <a:buNone/>
            </a:pPr>
            <a:r>
              <a:rPr b="0" lang="en-US" sz="975">
                <a:solidFill>
                  <a:srgbClr val="596573"/>
                </a:solidFill>
                <a:latin typeface="Arial"/>
                <a:ea typeface="Arial"/>
                <a:cs typeface="Arial"/>
                <a:sym typeface="Arial"/>
              </a:rPr>
              <a:t>Sources support the stated context only. The ABM remains a fictional course simulator, not a legal-compliance opinion.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pic>
        <p:nvPicPr>
          <p:cNvPr descr="Beautify this slide" id="595" name="Google Shape;595;h22e45196e2026eb1_0_14"/>
          <p:cNvPicPr preferRelativeResize="0"/>
          <p:nvPr/>
        </p:nvPicPr>
        <p:blipFill>
          <a:blip r:embed="rId3">
            <a:alphaModFix/>
          </a:blip>
          <a:stretch>
            <a:fillRect/>
          </a:stretch>
        </p:blipFill>
        <p:spPr>
          <a:xfrm>
            <a:off x="-47625" y="0"/>
            <a:ext cx="12287250" cy="6858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